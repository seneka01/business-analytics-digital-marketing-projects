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300" r:id="rId5"/>
    <p:sldId id="335" r:id="rId6"/>
    <p:sldId id="309" r:id="rId7"/>
    <p:sldId id="310" r:id="rId8"/>
    <p:sldId id="320" r:id="rId9"/>
    <p:sldId id="328" r:id="rId10"/>
    <p:sldId id="327" r:id="rId11"/>
    <p:sldId id="336" r:id="rId12"/>
    <p:sldId id="326" r:id="rId13"/>
    <p:sldId id="321" r:id="rId14"/>
    <p:sldId id="325" r:id="rId15"/>
    <p:sldId id="322" r:id="rId16"/>
    <p:sldId id="331" r:id="rId17"/>
    <p:sldId id="330" r:id="rId18"/>
    <p:sldId id="332" r:id="rId19"/>
    <p:sldId id="333" r:id="rId20"/>
    <p:sldId id="329" r:id="rId21"/>
    <p:sldId id="33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72"/>
  </p:normalViewPr>
  <p:slideViewPr>
    <p:cSldViewPr snapToGrid="0">
      <p:cViewPr varScale="1">
        <p:scale>
          <a:sx n="72" d="100"/>
          <a:sy n="72" d="100"/>
        </p:scale>
        <p:origin x="660" y="54"/>
      </p:cViewPr>
      <p:guideLst/>
    </p:cSldViewPr>
  </p:slideViewPr>
  <p:notesTextViewPr>
    <p:cViewPr>
      <p:scale>
        <a:sx n="1" d="1"/>
        <a:sy n="1" d="1"/>
      </p:scale>
      <p:origin x="0" y="0"/>
    </p:cViewPr>
  </p:notesText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C669D0-F8F9-909F-F36A-221EAC7424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361AC27-49A0-3B4C-5F49-D6641499EF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B2F45D-55D9-47BA-9640-E7EB1024F606}" type="datetimeFigureOut">
              <a:rPr lang="en-US" smtClean="0"/>
              <a:t>5/23/2025</a:t>
            </a:fld>
            <a:endParaRPr lang="en-US" dirty="0"/>
          </a:p>
        </p:txBody>
      </p:sp>
      <p:sp>
        <p:nvSpPr>
          <p:cNvPr id="4" name="Footer Placeholder 3">
            <a:extLst>
              <a:ext uri="{FF2B5EF4-FFF2-40B4-BE49-F238E27FC236}">
                <a16:creationId xmlns:a16="http://schemas.microsoft.com/office/drawing/2014/main" id="{A77AD1BD-C6AD-D1DF-596E-659165024C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1BA659A-33FC-973A-2DD5-89A959CA8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A2DCA-E9F6-4345-9316-BF42F09A2C30}" type="slidenum">
              <a:rPr lang="en-US" smtClean="0"/>
              <a:t>‹#›</a:t>
            </a:fld>
            <a:endParaRPr lang="en-US" dirty="0"/>
          </a:p>
        </p:txBody>
      </p:sp>
    </p:spTree>
    <p:extLst>
      <p:ext uri="{BB962C8B-B14F-4D97-AF65-F5344CB8AC3E}">
        <p14:creationId xmlns:p14="http://schemas.microsoft.com/office/powerpoint/2010/main" val="3545669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9C6F8-5F98-E04A-B725-72D1A5FE8444}" type="datetimeFigureOut">
              <a:rPr lang="en-US" smtClean="0"/>
              <a:t>5/23/2025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A9608-B288-5444-9C81-49B56A597B1B}" type="slidenum">
              <a:rPr lang="en-US" smtClean="0"/>
              <a:t>‹#›</a:t>
            </a:fld>
            <a:endParaRPr lang="en-US" dirty="0"/>
          </a:p>
        </p:txBody>
      </p:sp>
    </p:spTree>
    <p:extLst>
      <p:ext uri="{BB962C8B-B14F-4D97-AF65-F5344CB8AC3E}">
        <p14:creationId xmlns:p14="http://schemas.microsoft.com/office/powerpoint/2010/main" val="266177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2161BAA5-48F7-7727-F9D9-CE83907FFBA7}"/>
              </a:ext>
              <a:ext uri="{C183D7F6-B498-43B3-948B-1728B52AA6E4}">
                <adec:decorative xmlns:adec="http://schemas.microsoft.com/office/drawing/2017/decorative" val="1"/>
              </a:ext>
            </a:extLst>
          </p:cNvPr>
          <p:cNvSpPr/>
          <p:nvPr userDrawn="1"/>
        </p:nvSpPr>
        <p:spPr>
          <a:xfrm>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1064ED4F-0011-0734-A8CE-F357C9B3CB59}"/>
              </a:ext>
              <a:ext uri="{C183D7F6-B498-43B3-948B-1728B52AA6E4}">
                <adec:decorative xmlns:adec="http://schemas.microsoft.com/office/drawing/2017/decorative" val="1"/>
              </a:ext>
            </a:extLst>
          </p:cNvPr>
          <p:cNvSpPr/>
          <p:nvPr userDrawn="1"/>
        </p:nvSpPr>
        <p:spPr>
          <a:xfrm>
            <a:off x="9823776" y="0"/>
            <a:ext cx="16715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AC40BC2-4799-E79D-1CFD-4A82C90A1DA8}"/>
              </a:ext>
              <a:ext uri="{C183D7F6-B498-43B3-948B-1728B52AA6E4}">
                <adec:decorative xmlns:adec="http://schemas.microsoft.com/office/drawing/2017/decorative" val="1"/>
              </a:ext>
            </a:extLst>
          </p:cNvPr>
          <p:cNvSpPr/>
          <p:nvPr userDrawn="1"/>
        </p:nvSpPr>
        <p:spPr>
          <a:xfrm>
            <a:off x="1119693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D7662E9-6C4B-1DCF-4FA0-9D0E52069DAB}"/>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5232" y="463974"/>
            <a:ext cx="4217424" cy="3709195"/>
          </a:xfrm>
        </p:spPr>
        <p:txBody>
          <a:bodyPr anchor="b">
            <a:normAutofit/>
          </a:bodyPr>
          <a:lstStyle>
            <a:lvl1pPr algn="l">
              <a:defRPr sz="4800" b="1" spc="-150" baseline="0"/>
            </a:lvl1pPr>
          </a:lstStyle>
          <a:p>
            <a:r>
              <a:rPr lang="en-US" dirty="0"/>
              <a:t>Click to add title</a:t>
            </a:r>
          </a:p>
        </p:txBody>
      </p:sp>
      <p:sp>
        <p:nvSpPr>
          <p:cNvPr id="11" name="Picture Placeholder 10">
            <a:extLst>
              <a:ext uri="{FF2B5EF4-FFF2-40B4-BE49-F238E27FC236}">
                <a16:creationId xmlns:a16="http://schemas.microsoft.com/office/drawing/2014/main" id="{7E2C7390-A781-021E-CEDA-D9040304381E}"/>
              </a:ext>
            </a:extLst>
          </p:cNvPr>
          <p:cNvSpPr>
            <a:spLocks noGrp="1"/>
          </p:cNvSpPr>
          <p:nvPr>
            <p:ph type="pic" sz="quarter" idx="10" hasCustomPrompt="1"/>
          </p:nvPr>
        </p:nvSpPr>
        <p:spPr>
          <a:xfrm>
            <a:off x="920158" y="1741488"/>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F31C49C2-4E92-6564-1A68-190EFACC56DC}"/>
              </a:ext>
              <a:ext uri="{C183D7F6-B498-43B3-948B-1728B52AA6E4}">
                <adec:decorative xmlns:adec="http://schemas.microsoft.com/office/drawing/2017/decorative" val="1"/>
              </a:ext>
            </a:extLst>
          </p:cNvPr>
          <p:cNvSpPr/>
          <p:nvPr userDrawn="1"/>
        </p:nvSpPr>
        <p:spPr>
          <a:xfrm flipH="1">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5003C2B3-3873-7FFA-2567-57F2F6ABBFCB}"/>
              </a:ext>
              <a:ext uri="{C183D7F6-B498-43B3-948B-1728B52AA6E4}">
                <adec:decorative xmlns:adec="http://schemas.microsoft.com/office/drawing/2017/decorative" val="1"/>
              </a:ext>
            </a:extLst>
          </p:cNvPr>
          <p:cNvSpPr/>
          <p:nvPr userDrawn="1"/>
        </p:nvSpPr>
        <p:spPr>
          <a:xfrm>
            <a:off x="763334"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3619A50-ADC7-AA30-E96F-D0853D0DD7C6}"/>
              </a:ext>
              <a:ext uri="{C183D7F6-B498-43B3-948B-1728B52AA6E4}">
                <adec:decorative xmlns:adec="http://schemas.microsoft.com/office/drawing/2017/decorative" val="1"/>
              </a:ext>
            </a:extLst>
          </p:cNvPr>
          <p:cNvSpPr/>
          <p:nvPr userDrawn="1"/>
        </p:nvSpPr>
        <p:spPr>
          <a:xfrm>
            <a:off x="126501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6447AC2-F09C-2AC2-0522-F871987D66DB}"/>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467140" y="576470"/>
            <a:ext cx="4831209" cy="2266121"/>
          </a:xfrm>
        </p:spPr>
        <p:txBody>
          <a:bodyPr anchor="ctr">
            <a:normAutofit/>
          </a:bodyPr>
          <a:lstStyle>
            <a:lvl1pPr algn="r">
              <a:defRPr sz="4400" b="0" spc="0" baseline="0"/>
            </a:lvl1pPr>
          </a:lstStyle>
          <a:p>
            <a:r>
              <a:rPr lang="en-US"/>
              <a:t>Click to edit Master title style</a:t>
            </a:r>
            <a:endParaRPr lang="en-US" dirty="0"/>
          </a:p>
        </p:txBody>
      </p:sp>
      <p:sp>
        <p:nvSpPr>
          <p:cNvPr id="17" name="Content Placeholder 16">
            <a:extLst>
              <a:ext uri="{FF2B5EF4-FFF2-40B4-BE49-F238E27FC236}">
                <a16:creationId xmlns:a16="http://schemas.microsoft.com/office/drawing/2014/main" id="{7C3A4AA6-1D0C-DE79-F399-33299CB812C6}"/>
              </a:ext>
            </a:extLst>
          </p:cNvPr>
          <p:cNvSpPr>
            <a:spLocks noGrp="1"/>
          </p:cNvSpPr>
          <p:nvPr>
            <p:ph sz="quarter" idx="11" hasCustomPrompt="1"/>
          </p:nvPr>
        </p:nvSpPr>
        <p:spPr>
          <a:xfrm>
            <a:off x="467139" y="3031435"/>
            <a:ext cx="4831209" cy="3478944"/>
          </a:xfrm>
        </p:spPr>
        <p:txBody>
          <a:bodyPr>
            <a:normAutofit/>
          </a:bodyPr>
          <a:lstStyle>
            <a:lvl1pPr marL="0" indent="0" algn="r">
              <a:lnSpc>
                <a:spcPct val="100000"/>
              </a:lnSpc>
              <a:spcBef>
                <a:spcPts val="1000"/>
              </a:spcBef>
              <a:buNone/>
              <a:defRPr sz="2400"/>
            </a:lvl1pPr>
            <a:lvl2pPr marL="457200" indent="0" algn="r">
              <a:lnSpc>
                <a:spcPct val="100000"/>
              </a:lnSpc>
              <a:spcBef>
                <a:spcPts val="1000"/>
              </a:spcBef>
              <a:buNone/>
              <a:defRPr sz="2000"/>
            </a:lvl2pPr>
            <a:lvl3pPr marL="914400" indent="0" algn="r">
              <a:lnSpc>
                <a:spcPct val="100000"/>
              </a:lnSpc>
              <a:spcBef>
                <a:spcPts val="1000"/>
              </a:spcBef>
              <a:buNone/>
              <a:defRPr sz="1800"/>
            </a:lvl3pPr>
            <a:lvl4pPr marL="1371600" indent="0" algn="r">
              <a:lnSpc>
                <a:spcPct val="100000"/>
              </a:lnSpc>
              <a:spcBef>
                <a:spcPts val="1000"/>
              </a:spcBef>
              <a:buNone/>
              <a:defRPr sz="1600"/>
            </a:lvl4pPr>
            <a:lvl5pPr marL="1828800" indent="0" algn="r">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5890039" y="1751216"/>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11" name="Slide Number Placeholder 10">
            <a:extLst>
              <a:ext uri="{FF2B5EF4-FFF2-40B4-BE49-F238E27FC236}">
                <a16:creationId xmlns:a16="http://schemas.microsoft.com/office/drawing/2014/main" id="{F1E58A54-F746-59CF-007A-329493EC502C}"/>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453075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Right 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6A991E4A-E418-E9C0-B35B-0A81DCE3AB5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1138655 w 12192000"/>
              <a:gd name="connsiteY0" fmla="*/ 1746908 h 6858000"/>
              <a:gd name="connsiteX1" fmla="*/ 913599 w 12192000"/>
              <a:gd name="connsiteY1" fmla="*/ 1971964 h 6858000"/>
              <a:gd name="connsiteX2" fmla="*/ 913599 w 12192000"/>
              <a:gd name="connsiteY2" fmla="*/ 5520711 h 6858000"/>
              <a:gd name="connsiteX3" fmla="*/ 1138655 w 12192000"/>
              <a:gd name="connsiteY3" fmla="*/ 5745767 h 6858000"/>
              <a:gd name="connsiteX4" fmla="*/ 6091846 w 12192000"/>
              <a:gd name="connsiteY4" fmla="*/ 5745767 h 6858000"/>
              <a:gd name="connsiteX5" fmla="*/ 6316902 w 12192000"/>
              <a:gd name="connsiteY5" fmla="*/ 5520711 h 6858000"/>
              <a:gd name="connsiteX6" fmla="*/ 6316902 w 12192000"/>
              <a:gd name="connsiteY6" fmla="*/ 1971964 h 6858000"/>
              <a:gd name="connsiteX7" fmla="*/ 6091846 w 12192000"/>
              <a:gd name="connsiteY7" fmla="*/ 1746908 h 6858000"/>
              <a:gd name="connsiteX8" fmla="*/ 12184610 w 12192000"/>
              <a:gd name="connsiteY8" fmla="*/ 0 h 6858000"/>
              <a:gd name="connsiteX9" fmla="*/ 12192000 w 12192000"/>
              <a:gd name="connsiteY9" fmla="*/ 0 h 6858000"/>
              <a:gd name="connsiteX10" fmla="*/ 12192000 w 12192000"/>
              <a:gd name="connsiteY10" fmla="*/ 6858000 h 6858000"/>
              <a:gd name="connsiteX11" fmla="*/ 12184610 w 12192000"/>
              <a:gd name="connsiteY11" fmla="*/ 6858000 h 6858000"/>
              <a:gd name="connsiteX12" fmla="*/ 0 w 12192000"/>
              <a:gd name="connsiteY12" fmla="*/ 0 h 6858000"/>
              <a:gd name="connsiteX13" fmla="*/ 918140 w 12192000"/>
              <a:gd name="connsiteY13" fmla="*/ 0 h 6858000"/>
              <a:gd name="connsiteX14" fmla="*/ 918140 w 12192000"/>
              <a:gd name="connsiteY14" fmla="*/ 1010539 h 6858000"/>
              <a:gd name="connsiteX15" fmla="*/ 1195741 w 12192000"/>
              <a:gd name="connsiteY15" fmla="*/ 1288140 h 6858000"/>
              <a:gd name="connsiteX16" fmla="*/ 6043842 w 12192000"/>
              <a:gd name="connsiteY16" fmla="*/ 1288140 h 6858000"/>
              <a:gd name="connsiteX17" fmla="*/ 6321443 w 12192000"/>
              <a:gd name="connsiteY17" fmla="*/ 1010539 h 6858000"/>
              <a:gd name="connsiteX18" fmla="*/ 6321443 w 12192000"/>
              <a:gd name="connsiteY18" fmla="*/ 0 h 6858000"/>
              <a:gd name="connsiteX19" fmla="*/ 11019692 w 12192000"/>
              <a:gd name="connsiteY19" fmla="*/ 0 h 6858000"/>
              <a:gd name="connsiteX20" fmla="*/ 11019692 w 12192000"/>
              <a:gd name="connsiteY20" fmla="*/ 6858000 h 6858000"/>
              <a:gd name="connsiteX21" fmla="*/ 6283982 w 12192000"/>
              <a:gd name="connsiteY21" fmla="*/ 6858000 h 6858000"/>
              <a:gd name="connsiteX22" fmla="*/ 6283982 w 12192000"/>
              <a:gd name="connsiteY22" fmla="*/ 6429590 h 6858000"/>
              <a:gd name="connsiteX23" fmla="*/ 6058926 w 12192000"/>
              <a:gd name="connsiteY23" fmla="*/ 6204534 h 6858000"/>
              <a:gd name="connsiteX24" fmla="*/ 1105735 w 12192000"/>
              <a:gd name="connsiteY24" fmla="*/ 6204534 h 6858000"/>
              <a:gd name="connsiteX25" fmla="*/ 880679 w 12192000"/>
              <a:gd name="connsiteY25" fmla="*/ 6429590 h 6858000"/>
              <a:gd name="connsiteX26" fmla="*/ 880679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close/>
                <a:moveTo>
                  <a:pt x="12184610" y="0"/>
                </a:moveTo>
                <a:lnTo>
                  <a:pt x="12192000" y="0"/>
                </a:lnTo>
                <a:lnTo>
                  <a:pt x="12192000" y="6858000"/>
                </a:lnTo>
                <a:lnTo>
                  <a:pt x="12184610" y="6858000"/>
                </a:lnTo>
                <a:close/>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1019692" y="0"/>
                </a:lnTo>
                <a:lnTo>
                  <a:pt x="11019692"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63315A23-2C00-4A7E-B9E9-65CF734EE176}"/>
              </a:ext>
              <a:ext uri="{C183D7F6-B498-43B3-948B-1728B52AA6E4}">
                <adec:decorative xmlns:adec="http://schemas.microsoft.com/office/drawing/2017/decorative" val="1"/>
              </a:ext>
            </a:extLst>
          </p:cNvPr>
          <p:cNvGrpSpPr/>
          <p:nvPr userDrawn="1"/>
        </p:nvGrpSpPr>
        <p:grpSpPr>
          <a:xfrm>
            <a:off x="8068700" y="1116391"/>
            <a:ext cx="4120055" cy="4308449"/>
            <a:chOff x="5656746" y="820557"/>
            <a:chExt cx="4120055" cy="4308449"/>
          </a:xfrm>
        </p:grpSpPr>
        <p:pic>
          <p:nvPicPr>
            <p:cNvPr id="9" name="Graphic 8">
              <a:extLst>
                <a:ext uri="{FF2B5EF4-FFF2-40B4-BE49-F238E27FC236}">
                  <a16:creationId xmlns:a16="http://schemas.microsoft.com/office/drawing/2014/main" id="{CFF8075D-03CC-DDD4-332C-F26F61AF7F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DE03B7A5-6E3E-5DC1-6705-A3B82F408C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480627"/>
            <a:ext cx="4505155" cy="2894495"/>
          </a:xfrm>
        </p:spPr>
        <p:txBody>
          <a:bodyPr anchor="b">
            <a:normAutofit/>
          </a:bodyPr>
          <a:lstStyle>
            <a:lvl1pPr algn="l">
              <a:defRPr sz="4400" b="0"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541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1313" y="3505200"/>
            <a:ext cx="4029859" cy="3001963"/>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1D52A9BE-2A46-4899-C38E-B513CC1AF11E}"/>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2659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2"/>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9EF1CCA-35D0-41F4-BC3D-AA1679C3E60D}"/>
              </a:ext>
              <a:ext uri="{C183D7F6-B498-43B3-948B-1728B52AA6E4}">
                <adec:decorative xmlns:adec="http://schemas.microsoft.com/office/drawing/2017/decorative" val="1"/>
              </a:ext>
            </a:extLst>
          </p:cNvPr>
          <p:cNvGrpSpPr/>
          <p:nvPr userDrawn="1"/>
        </p:nvGrpSpPr>
        <p:grpSpPr>
          <a:xfrm>
            <a:off x="1276514" y="397442"/>
            <a:ext cx="9619886" cy="6623279"/>
            <a:chOff x="1276514" y="397442"/>
            <a:chExt cx="9619886" cy="6623279"/>
          </a:xfrm>
        </p:grpSpPr>
        <p:grpSp>
          <p:nvGrpSpPr>
            <p:cNvPr id="8" name="Group 7">
              <a:extLst>
                <a:ext uri="{FF2B5EF4-FFF2-40B4-BE49-F238E27FC236}">
                  <a16:creationId xmlns:a16="http://schemas.microsoft.com/office/drawing/2014/main" id="{039112C6-05E1-7A58-F9B3-4ED607F0FEB5}"/>
                </a:ext>
              </a:extLst>
            </p:cNvPr>
            <p:cNvGrpSpPr/>
            <p:nvPr userDrawn="1"/>
          </p:nvGrpSpPr>
          <p:grpSpPr>
            <a:xfrm>
              <a:off x="1276514" y="397442"/>
              <a:ext cx="3028206" cy="3166674"/>
              <a:chOff x="5656746" y="820557"/>
              <a:chExt cx="4120055" cy="4308449"/>
            </a:xfrm>
          </p:grpSpPr>
          <p:pic>
            <p:nvPicPr>
              <p:cNvPr id="9" name="Graphic 8">
                <a:extLst>
                  <a:ext uri="{FF2B5EF4-FFF2-40B4-BE49-F238E27FC236}">
                    <a16:creationId xmlns:a16="http://schemas.microsoft.com/office/drawing/2014/main" id="{580B3039-6990-1E35-87E4-6C581CF7BA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0" name="Graphic 9">
                <a:extLst>
                  <a:ext uri="{FF2B5EF4-FFF2-40B4-BE49-F238E27FC236}">
                    <a16:creationId xmlns:a16="http://schemas.microsoft.com/office/drawing/2014/main" id="{37F0331D-9A8D-485F-9469-6B31E3D61C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grpSp>
          <p:nvGrpSpPr>
            <p:cNvPr id="12" name="Group 11">
              <a:extLst>
                <a:ext uri="{FF2B5EF4-FFF2-40B4-BE49-F238E27FC236}">
                  <a16:creationId xmlns:a16="http://schemas.microsoft.com/office/drawing/2014/main" id="{D1BCBEDD-D6D8-B22D-46D2-C061FBDFE326}"/>
                </a:ext>
              </a:extLst>
            </p:cNvPr>
            <p:cNvGrpSpPr/>
            <p:nvPr userDrawn="1"/>
          </p:nvGrpSpPr>
          <p:grpSpPr>
            <a:xfrm>
              <a:off x="6776345" y="2712272"/>
              <a:ext cx="4120055" cy="4308449"/>
              <a:chOff x="5656746" y="820557"/>
              <a:chExt cx="4120055" cy="4308449"/>
            </a:xfrm>
          </p:grpSpPr>
          <p:pic>
            <p:nvPicPr>
              <p:cNvPr id="13" name="Graphic 12">
                <a:extLst>
                  <a:ext uri="{FF2B5EF4-FFF2-40B4-BE49-F238E27FC236}">
                    <a16:creationId xmlns:a16="http://schemas.microsoft.com/office/drawing/2014/main" id="{43D2104B-238A-6958-53E9-4C3CFC4C99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FE1FCD13-2E12-4019-9FCB-3A53D17321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grpSp>
      <p:sp>
        <p:nvSpPr>
          <p:cNvPr id="7" name="Rectangle 6">
            <a:extLst>
              <a:ext uri="{FF2B5EF4-FFF2-40B4-BE49-F238E27FC236}">
                <a16:creationId xmlns:a16="http://schemas.microsoft.com/office/drawing/2014/main" id="{7CEA9FD7-5B24-27A7-2BB5-A937B6A4DA0F}"/>
              </a:ext>
              <a:ext uri="{C183D7F6-B498-43B3-948B-1728B52AA6E4}">
                <adec:decorative xmlns:adec="http://schemas.microsoft.com/office/drawing/2017/decorative" val="1"/>
              </a:ext>
            </a:extLst>
          </p:cNvPr>
          <p:cNvSpPr/>
          <p:nvPr userDrawn="1"/>
        </p:nvSpPr>
        <p:spPr>
          <a:xfrm>
            <a:off x="1038938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6C3731B0-8EE6-11A7-D5EB-431792C487D8}"/>
              </a:ext>
              <a:ext uri="{C183D7F6-B498-43B3-948B-1728B52AA6E4}">
                <adec:decorative xmlns:adec="http://schemas.microsoft.com/office/drawing/2017/decorative" val="1"/>
              </a:ext>
            </a:extLst>
          </p:cNvPr>
          <p:cNvSpPr/>
          <p:nvPr userDrawn="1"/>
        </p:nvSpPr>
        <p:spPr>
          <a:xfrm>
            <a:off x="442568" y="0"/>
            <a:ext cx="210812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18745" y="507244"/>
            <a:ext cx="9143999" cy="2162065"/>
          </a:xfrm>
        </p:spPr>
        <p:txBody>
          <a:bodyPr anchor="b">
            <a:normAutofit/>
          </a:bodyPr>
          <a:lstStyle>
            <a:lvl1pPr algn="l">
              <a:defRPr sz="4800" b="1"/>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552700" y="3586281"/>
            <a:ext cx="7086600" cy="2286000"/>
          </a:xfrm>
        </p:spPr>
        <p:txBody>
          <a:bodyPr>
            <a:normAutofit/>
          </a:bodyPr>
          <a:lstStyle>
            <a:lvl1pPr marL="0" indent="0" algn="ctr">
              <a:lnSpc>
                <a:spcPct val="100000"/>
              </a:lnSpc>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Slide Number Placeholder 5">
            <a:extLst>
              <a:ext uri="{FF2B5EF4-FFF2-40B4-BE49-F238E27FC236}">
                <a16:creationId xmlns:a16="http://schemas.microsoft.com/office/drawing/2014/main" id="{0E8AEB78-507E-76A4-533C-B685FBB93E63}"/>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30715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2">
    <p:bg>
      <p:bgPr>
        <a:solidFill>
          <a:schemeClr val="tx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08A07D-9CD9-61E7-5307-509E256E3280}"/>
              </a:ext>
              <a:ext uri="{C183D7F6-B498-43B3-948B-1728B52AA6E4}">
                <adec:decorative xmlns:adec="http://schemas.microsoft.com/office/drawing/2017/decorative" val="1"/>
              </a:ext>
            </a:extLst>
          </p:cNvPr>
          <p:cNvSpPr/>
          <p:nvPr userDrawn="1"/>
        </p:nvSpPr>
        <p:spPr>
          <a:xfrm>
            <a:off x="96819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6D3D556-F10A-EC7C-0757-E00C6BD1151D}"/>
              </a:ext>
              <a:ext uri="{C183D7F6-B498-43B3-948B-1728B52AA6E4}">
                <adec:decorative xmlns:adec="http://schemas.microsoft.com/office/drawing/2017/decorative" val="1"/>
              </a:ext>
            </a:extLst>
          </p:cNvPr>
          <p:cNvSpPr/>
          <p:nvPr userDrawn="1"/>
        </p:nvSpPr>
        <p:spPr>
          <a:xfrm>
            <a:off x="5755612" y="0"/>
            <a:ext cx="39699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0F434F37-A346-4DC3-ACA1-FE0B5DD0A9D0}"/>
              </a:ext>
              <a:ext uri="{C183D7F6-B498-43B3-948B-1728B52AA6E4}">
                <adec:decorative xmlns:adec="http://schemas.microsoft.com/office/drawing/2017/decorative" val="1"/>
              </a:ext>
            </a:extLst>
          </p:cNvPr>
          <p:cNvGrpSpPr/>
          <p:nvPr userDrawn="1"/>
        </p:nvGrpSpPr>
        <p:grpSpPr>
          <a:xfrm>
            <a:off x="1405264" y="1517829"/>
            <a:ext cx="4120055" cy="4308449"/>
            <a:chOff x="5656746" y="820557"/>
            <a:chExt cx="4120055" cy="4308449"/>
          </a:xfrm>
        </p:grpSpPr>
        <p:pic>
          <p:nvPicPr>
            <p:cNvPr id="6" name="Graphic 5">
              <a:extLst>
                <a:ext uri="{FF2B5EF4-FFF2-40B4-BE49-F238E27FC236}">
                  <a16:creationId xmlns:a16="http://schemas.microsoft.com/office/drawing/2014/main" id="{1CD6BFE6-65DF-2EFD-2AB8-EF54AE6ED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5" name="Graphic 14">
              <a:extLst>
                <a:ext uri="{FF2B5EF4-FFF2-40B4-BE49-F238E27FC236}">
                  <a16:creationId xmlns:a16="http://schemas.microsoft.com/office/drawing/2014/main" id="{772A018D-5452-637A-6EFC-8A1C55CE031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21" name="Rectangle 20">
            <a:extLst>
              <a:ext uri="{FF2B5EF4-FFF2-40B4-BE49-F238E27FC236}">
                <a16:creationId xmlns:a16="http://schemas.microsoft.com/office/drawing/2014/main" id="{43AED969-CB3F-45E5-4B56-8D4841A04265}"/>
              </a:ext>
              <a:ext uri="{C183D7F6-B498-43B3-948B-1728B52AA6E4}">
                <adec:decorative xmlns:adec="http://schemas.microsoft.com/office/drawing/2017/decorative" val="1"/>
              </a:ext>
            </a:extLst>
          </p:cNvPr>
          <p:cNvSpPr/>
          <p:nvPr userDrawn="1"/>
        </p:nvSpPr>
        <p:spPr>
          <a:xfrm>
            <a:off x="2653444"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7523" y="750316"/>
            <a:ext cx="5469591" cy="2066052"/>
          </a:xfrm>
        </p:spPr>
        <p:txBody>
          <a:bodyPr anchor="ctr">
            <a:normAutofit/>
          </a:bodyPr>
          <a:lstStyle>
            <a:lvl1pPr algn="l">
              <a:defRPr sz="4400" b="0"/>
            </a:lvl1pPr>
          </a:lstStyle>
          <a:p>
            <a:r>
              <a:rPr lang="en-US" dirty="0"/>
              <a:t>Click to add title</a:t>
            </a:r>
          </a:p>
        </p:txBody>
      </p:sp>
      <p:sp>
        <p:nvSpPr>
          <p:cNvPr id="23" name="Content Placeholder 22">
            <a:extLst>
              <a:ext uri="{FF2B5EF4-FFF2-40B4-BE49-F238E27FC236}">
                <a16:creationId xmlns:a16="http://schemas.microsoft.com/office/drawing/2014/main" id="{5F3BAA8E-44E6-12B3-F690-09AB8C245E99}"/>
              </a:ext>
            </a:extLst>
          </p:cNvPr>
          <p:cNvSpPr>
            <a:spLocks noGrp="1"/>
          </p:cNvSpPr>
          <p:nvPr>
            <p:ph sz="quarter" idx="10" hasCustomPrompt="1"/>
          </p:nvPr>
        </p:nvSpPr>
        <p:spPr>
          <a:xfrm>
            <a:off x="6297703" y="2884989"/>
            <a:ext cx="4768850" cy="3625392"/>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94A042FB-AE91-12A6-1B9A-55AE16FB5340}"/>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44997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Freeform 4">
            <a:extLst>
              <a:ext uri="{FF2B5EF4-FFF2-40B4-BE49-F238E27FC236}">
                <a16:creationId xmlns:a16="http://schemas.microsoft.com/office/drawing/2014/main" id="{FA63973E-7BCA-0A84-9988-670F7B314B7F}"/>
              </a:ext>
              <a:ext uri="{C183D7F6-B498-43B3-948B-1728B52AA6E4}">
                <adec:decorative xmlns:adec="http://schemas.microsoft.com/office/drawing/2017/decorative" val="1"/>
              </a:ext>
            </a:extLst>
          </p:cNvPr>
          <p:cNvSpPr/>
          <p:nvPr userDrawn="1"/>
        </p:nvSpPr>
        <p:spPr>
          <a:xfrm flipH="1">
            <a:off x="1928" y="1925"/>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EF9F5EDC-2D5E-96A7-AAB9-D60B6E1AFB98}"/>
              </a:ext>
              <a:ext uri="{C183D7F6-B498-43B3-948B-1728B52AA6E4}">
                <adec:decorative xmlns:adec="http://schemas.microsoft.com/office/drawing/2017/decorative" val="1"/>
              </a:ext>
            </a:extLst>
          </p:cNvPr>
          <p:cNvSpPr/>
          <p:nvPr userDrawn="1"/>
        </p:nvSpPr>
        <p:spPr>
          <a:xfrm>
            <a:off x="1526699" y="3527"/>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8424DE0-155D-2A3C-788A-5A0C0D9CDADD}"/>
              </a:ext>
              <a:ext uri="{C183D7F6-B498-43B3-948B-1728B52AA6E4}">
                <adec:decorative xmlns:adec="http://schemas.microsoft.com/office/drawing/2017/decorative" val="1"/>
              </a:ext>
            </a:extLst>
          </p:cNvPr>
          <p:cNvSpPr/>
          <p:nvPr userDrawn="1"/>
        </p:nvSpPr>
        <p:spPr>
          <a:xfrm>
            <a:off x="306728" y="275768"/>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3B87C557-55D3-F920-773C-DDD1348C42B8}"/>
              </a:ext>
              <a:ext uri="{C183D7F6-B498-43B3-948B-1728B52AA6E4}">
                <adec:decorative xmlns:adec="http://schemas.microsoft.com/office/drawing/2017/decorative" val="1"/>
              </a:ext>
            </a:extLst>
          </p:cNvPr>
          <p:cNvGrpSpPr/>
          <p:nvPr userDrawn="1"/>
        </p:nvGrpSpPr>
        <p:grpSpPr>
          <a:xfrm>
            <a:off x="72673" y="2714197"/>
            <a:ext cx="4120055" cy="4308449"/>
            <a:chOff x="5656746" y="820557"/>
            <a:chExt cx="4120055" cy="4308449"/>
          </a:xfrm>
        </p:grpSpPr>
        <p:pic>
          <p:nvPicPr>
            <p:cNvPr id="14" name="Graphic 13">
              <a:extLst>
                <a:ext uri="{FF2B5EF4-FFF2-40B4-BE49-F238E27FC236}">
                  <a16:creationId xmlns:a16="http://schemas.microsoft.com/office/drawing/2014/main" id="{1BC0724F-AE42-0E0F-E392-0C3EBB9DD8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6" name="Graphic 15">
              <a:extLst>
                <a:ext uri="{FF2B5EF4-FFF2-40B4-BE49-F238E27FC236}">
                  <a16:creationId xmlns:a16="http://schemas.microsoft.com/office/drawing/2014/main" id="{1B6F6A44-F108-5B62-1638-5680B0204E9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0667" y="405113"/>
            <a:ext cx="4505155" cy="6007261"/>
          </a:xfrm>
        </p:spPr>
        <p:txBody>
          <a:bodyPr anchor="ctr">
            <a:normAutofit/>
          </a:bodyPr>
          <a:lstStyle>
            <a:lvl1pPr algn="r">
              <a:defRPr sz="4800" b="1" spc="0" baseline="0"/>
            </a:lvl1pPr>
          </a:lstStyle>
          <a:p>
            <a:r>
              <a:rPr lang="en-US" dirty="0"/>
              <a:t>Click to add title</a:t>
            </a:r>
          </a:p>
        </p:txBody>
      </p:sp>
      <p:sp>
        <p:nvSpPr>
          <p:cNvPr id="21" name="Picture Placeholder 10">
            <a:extLst>
              <a:ext uri="{FF2B5EF4-FFF2-40B4-BE49-F238E27FC236}">
                <a16:creationId xmlns:a16="http://schemas.microsoft.com/office/drawing/2014/main" id="{83A8F0F5-EBCC-860A-B0EE-A7F56BA39A4E}"/>
              </a:ext>
            </a:extLst>
          </p:cNvPr>
          <p:cNvSpPr>
            <a:spLocks noGrp="1"/>
          </p:cNvSpPr>
          <p:nvPr>
            <p:ph type="pic" sz="quarter" idx="11" hasCustomPrompt="1"/>
          </p:nvPr>
        </p:nvSpPr>
        <p:spPr>
          <a:xfrm>
            <a:off x="5876079" y="1748992"/>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6" name="Slide Number Placeholder 5">
            <a:extLst>
              <a:ext uri="{FF2B5EF4-FFF2-40B4-BE49-F238E27FC236}">
                <a16:creationId xmlns:a16="http://schemas.microsoft.com/office/drawing/2014/main" id="{7660224B-09BE-F95F-F2DE-0EA9731AEB88}"/>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01764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Right 3">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Rectangle 2">
            <a:extLst>
              <a:ext uri="{FF2B5EF4-FFF2-40B4-BE49-F238E27FC236}">
                <a16:creationId xmlns:a16="http://schemas.microsoft.com/office/drawing/2014/main" id="{EBD13AA8-D23C-5C6A-33DF-C454CDF896BD}"/>
              </a:ext>
              <a:ext uri="{C183D7F6-B498-43B3-948B-1728B52AA6E4}">
                <adec:decorative xmlns:adec="http://schemas.microsoft.com/office/drawing/2017/decorative" val="1"/>
              </a:ext>
            </a:extLst>
          </p:cNvPr>
          <p:cNvSpPr/>
          <p:nvPr userDrawn="1"/>
        </p:nvSpPr>
        <p:spPr>
          <a:xfrm>
            <a:off x="11301493" y="0"/>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6599930" y="347620"/>
            <a:ext cx="5163939" cy="2474204"/>
          </a:xfrm>
        </p:spPr>
        <p:txBody>
          <a:bodyPr anchor="b">
            <a:normAutofit/>
          </a:bodyPr>
          <a:lstStyle>
            <a:lvl1pPr algn="l">
              <a:defRPr sz="4400" b="0" spc="0" baseline="0"/>
            </a:lvl1pPr>
          </a:lstStyle>
          <a:p>
            <a:r>
              <a:rPr lang="en-US"/>
              <a:t>Click to edit Master title style</a:t>
            </a:r>
            <a:endParaRPr lang="en-US" dirty="0"/>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0017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6599930" y="2961187"/>
            <a:ext cx="5163939" cy="3346735"/>
          </a:xfrm>
        </p:spPr>
        <p:txBody>
          <a:bodyPr>
            <a:normAutofit/>
          </a:bodyPr>
          <a:lstStyle>
            <a:lvl1pPr marL="228600" indent="-228600">
              <a:lnSpc>
                <a:spcPct val="100000"/>
              </a:lnSpc>
              <a:spcBef>
                <a:spcPts val="1000"/>
              </a:spcBef>
              <a:buFont typeface="Arial" panose="020B0604020202020204" pitchFamily="34" charset="0"/>
              <a:buChar char="•"/>
              <a:defRPr sz="2000"/>
            </a:lvl1pPr>
            <a:lvl2pPr marL="800100" indent="-228600">
              <a:lnSpc>
                <a:spcPct val="100000"/>
              </a:lnSpc>
              <a:spcBef>
                <a:spcPts val="1000"/>
              </a:spcBef>
              <a:buFont typeface="Arial" panose="020B0604020202020204" pitchFamily="34" charset="0"/>
              <a:buChar char="•"/>
              <a:defRPr sz="1800"/>
            </a:lvl2pPr>
            <a:lvl3pPr marL="1200150" indent="-228600">
              <a:lnSpc>
                <a:spcPct val="100000"/>
              </a:lnSpc>
              <a:spcBef>
                <a:spcPts val="1000"/>
              </a:spcBef>
              <a:buFont typeface="Arial" panose="020B0604020202020204" pitchFamily="34" charset="0"/>
              <a:buChar char="•"/>
              <a:defRPr sz="1600"/>
            </a:lvl3pPr>
            <a:lvl4pPr marL="1657350" indent="-228600">
              <a:lnSpc>
                <a:spcPct val="100000"/>
              </a:lnSpc>
              <a:spcBef>
                <a:spcPts val="1000"/>
              </a:spcBef>
              <a:buFont typeface="Arial" panose="020B0604020202020204" pitchFamily="34" charset="0"/>
              <a:buChar char="•"/>
              <a:defRPr sz="1400"/>
            </a:lvl4pPr>
            <a:lvl5pPr marL="2114550" indent="-228600">
              <a:lnSpc>
                <a:spcPct val="100000"/>
              </a:lnSpc>
              <a:spcBef>
                <a:spcPts val="1000"/>
              </a:spcBef>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63AD0209-DE4E-6825-8F20-EC9CF7FA6A27}"/>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28083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1">
    <p:bg>
      <p:bgPr>
        <a:solidFill>
          <a:schemeClr val="tx2"/>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1F6D51D-5B15-9B30-DC19-5F58B30523DC}"/>
              </a:ext>
              <a:ext uri="{C183D7F6-B498-43B3-948B-1728B52AA6E4}">
                <adec:decorative xmlns:adec="http://schemas.microsoft.com/office/drawing/2017/decorative" val="1"/>
              </a:ext>
            </a:extLst>
          </p:cNvPr>
          <p:cNvGrpSpPr/>
          <p:nvPr userDrawn="1"/>
        </p:nvGrpSpPr>
        <p:grpSpPr>
          <a:xfrm>
            <a:off x="837577" y="3429000"/>
            <a:ext cx="3288931" cy="3439321"/>
            <a:chOff x="5656746" y="820557"/>
            <a:chExt cx="4120055" cy="4308449"/>
          </a:xfrm>
        </p:grpSpPr>
        <p:pic>
          <p:nvPicPr>
            <p:cNvPr id="12" name="Graphic 11">
              <a:extLst>
                <a:ext uri="{FF2B5EF4-FFF2-40B4-BE49-F238E27FC236}">
                  <a16:creationId xmlns:a16="http://schemas.microsoft.com/office/drawing/2014/main" id="{A480DA77-F71B-5298-1353-A41A3B4DA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3" name="Graphic 12">
              <a:extLst>
                <a:ext uri="{FF2B5EF4-FFF2-40B4-BE49-F238E27FC236}">
                  <a16:creationId xmlns:a16="http://schemas.microsoft.com/office/drawing/2014/main" id="{90839BC8-89BD-1554-5D44-CDDBE6CA9F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4" name="Rectangle 13">
            <a:extLst>
              <a:ext uri="{FF2B5EF4-FFF2-40B4-BE49-F238E27FC236}">
                <a16:creationId xmlns:a16="http://schemas.microsoft.com/office/drawing/2014/main" id="{21216545-2BDC-F9A0-F675-174EDC926153}"/>
              </a:ext>
              <a:ext uri="{C183D7F6-B498-43B3-948B-1728B52AA6E4}">
                <adec:decorative xmlns:adec="http://schemas.microsoft.com/office/drawing/2017/decorative" val="1"/>
              </a:ext>
            </a:extLst>
          </p:cNvPr>
          <p:cNvSpPr/>
          <p:nvPr userDrawn="1"/>
        </p:nvSpPr>
        <p:spPr>
          <a:xfrm>
            <a:off x="745336"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68970B-8B94-3775-274C-FB844115E429}"/>
              </a:ext>
              <a:ext uri="{C183D7F6-B498-43B3-948B-1728B52AA6E4}">
                <adec:decorative xmlns:adec="http://schemas.microsoft.com/office/drawing/2017/decorative" val="1"/>
              </a:ext>
            </a:extLst>
          </p:cNvPr>
          <p:cNvSpPr/>
          <p:nvPr userDrawn="1"/>
        </p:nvSpPr>
        <p:spPr>
          <a:xfrm>
            <a:off x="492942"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972257-517A-A49E-FA85-ED69B1A60FFB}"/>
              </a:ext>
              <a:ext uri="{C183D7F6-B498-43B3-948B-1728B52AA6E4}">
                <adec:decorative xmlns:adec="http://schemas.microsoft.com/office/drawing/2017/decorative" val="1"/>
              </a:ext>
            </a:extLst>
          </p:cNvPr>
          <p:cNvSpPr/>
          <p:nvPr userDrawn="1"/>
        </p:nvSpPr>
        <p:spPr>
          <a:xfrm>
            <a:off x="11068288"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247067"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434851" y="1825625"/>
            <a:ext cx="4247067" cy="435133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5394AC65-CD3D-69D7-24FB-C82AA429A96F}"/>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2">
    <p:bg>
      <p:bgPr>
        <a:solidFill>
          <a:schemeClr val="tx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D04544E-40BA-0EF3-1D11-F15C7E80D37E}"/>
              </a:ext>
              <a:ext uri="{C183D7F6-B498-43B3-948B-1728B52AA6E4}">
                <adec:decorative xmlns:adec="http://schemas.microsoft.com/office/drawing/2017/decorative" val="1"/>
              </a:ext>
            </a:extLst>
          </p:cNvPr>
          <p:cNvSpPr/>
          <p:nvPr userDrawn="1"/>
        </p:nvSpPr>
        <p:spPr>
          <a:xfrm>
            <a:off x="3883561"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C06BFA7-94AE-3A18-523D-C688ECFB498E}"/>
              </a:ext>
              <a:ext uri="{C183D7F6-B498-43B3-948B-1728B52AA6E4}">
                <adec:decorative xmlns:adec="http://schemas.microsoft.com/office/drawing/2017/decorative" val="1"/>
              </a:ext>
            </a:extLst>
          </p:cNvPr>
          <p:cNvSpPr/>
          <p:nvPr userDrawn="1"/>
        </p:nvSpPr>
        <p:spPr>
          <a:xfrm>
            <a:off x="3078414"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E5786F04-54BF-9AA6-0B44-DE78BB380D05}"/>
              </a:ext>
              <a:ext uri="{C183D7F6-B498-43B3-948B-1728B52AA6E4}">
                <adec:decorative xmlns:adec="http://schemas.microsoft.com/office/drawing/2017/decorative" val="1"/>
              </a:ext>
            </a:extLst>
          </p:cNvPr>
          <p:cNvGrpSpPr/>
          <p:nvPr userDrawn="1"/>
        </p:nvGrpSpPr>
        <p:grpSpPr>
          <a:xfrm>
            <a:off x="685177" y="2407472"/>
            <a:ext cx="4120055" cy="4308449"/>
            <a:chOff x="5656746" y="820557"/>
            <a:chExt cx="4120055" cy="4308449"/>
          </a:xfrm>
        </p:grpSpPr>
        <p:pic>
          <p:nvPicPr>
            <p:cNvPr id="6" name="Graphic 5">
              <a:extLst>
                <a:ext uri="{FF2B5EF4-FFF2-40B4-BE49-F238E27FC236}">
                  <a16:creationId xmlns:a16="http://schemas.microsoft.com/office/drawing/2014/main" id="{DA2FB764-6719-6FC4-D31C-F96BBA0A6F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7" name="Graphic 6">
              <a:extLst>
                <a:ext uri="{FF2B5EF4-FFF2-40B4-BE49-F238E27FC236}">
                  <a16:creationId xmlns:a16="http://schemas.microsoft.com/office/drawing/2014/main" id="{D87175FD-8DE3-7754-36A9-07FEE388EBB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3" y="1825625"/>
            <a:ext cx="3525772" cy="4351338"/>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5149516" y="1733025"/>
            <a:ext cx="6204283" cy="398938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13">
            <a:extLst>
              <a:ext uri="{FF2B5EF4-FFF2-40B4-BE49-F238E27FC236}">
                <a16:creationId xmlns:a16="http://schemas.microsoft.com/office/drawing/2014/main" id="{EDBFC337-301C-C3ED-321C-AB4EF4A10822}"/>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3859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3">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9B0186-5603-6346-34F2-6BFA71BC62FA}"/>
              </a:ext>
              <a:ext uri="{C183D7F6-B498-43B3-948B-1728B52AA6E4}">
                <adec:decorative xmlns:adec="http://schemas.microsoft.com/office/drawing/2017/decorative" val="1"/>
              </a:ext>
            </a:extLst>
          </p:cNvPr>
          <p:cNvGrpSpPr/>
          <p:nvPr userDrawn="1"/>
        </p:nvGrpSpPr>
        <p:grpSpPr>
          <a:xfrm>
            <a:off x="5614738" y="2425699"/>
            <a:ext cx="3288931" cy="3439321"/>
            <a:chOff x="5656746" y="820557"/>
            <a:chExt cx="4120055" cy="4308449"/>
          </a:xfrm>
        </p:grpSpPr>
        <p:pic>
          <p:nvPicPr>
            <p:cNvPr id="13" name="Graphic 12">
              <a:extLst>
                <a:ext uri="{FF2B5EF4-FFF2-40B4-BE49-F238E27FC236}">
                  <a16:creationId xmlns:a16="http://schemas.microsoft.com/office/drawing/2014/main" id="{F76A59AE-96E4-A701-461B-61618472B5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48649D3D-45B7-44C7-93B4-BDC88C3284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5" name="Rectangle 14">
            <a:extLst>
              <a:ext uri="{FF2B5EF4-FFF2-40B4-BE49-F238E27FC236}">
                <a16:creationId xmlns:a16="http://schemas.microsoft.com/office/drawing/2014/main" id="{D987349E-C488-C02B-B3B1-CCDBD3A78E9C}"/>
              </a:ext>
              <a:ext uri="{C183D7F6-B498-43B3-948B-1728B52AA6E4}">
                <adec:decorative xmlns:adec="http://schemas.microsoft.com/office/drawing/2017/decorative" val="1"/>
              </a:ext>
            </a:extLst>
          </p:cNvPr>
          <p:cNvSpPr/>
          <p:nvPr userDrawn="1"/>
        </p:nvSpPr>
        <p:spPr>
          <a:xfrm>
            <a:off x="1524771"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12520" y="1825625"/>
            <a:ext cx="4825294" cy="4651375"/>
          </a:xfrm>
        </p:spPr>
        <p:txBody>
          <a:bodyPr>
            <a:normAutofit/>
          </a:bodyPr>
          <a:lstStyle>
            <a:lvl1pPr>
              <a:spcAft>
                <a:spcPts val="800"/>
              </a:spcAft>
              <a:defRPr sz="2000"/>
            </a:lvl1pPr>
            <a:lvl2pPr marL="457200" indent="0">
              <a:spcAft>
                <a:spcPts val="800"/>
              </a:spcAft>
              <a:buNone/>
              <a:defRPr sz="2000"/>
            </a:lvl2pPr>
            <a:lvl3pPr marL="914400" indent="0">
              <a:spcAft>
                <a:spcPts val="800"/>
              </a:spcAft>
              <a:buNone/>
              <a:defRPr sz="2000"/>
            </a:lvl3pPr>
            <a:lvl4pPr marL="1371600" indent="0">
              <a:spcAft>
                <a:spcPts val="800"/>
              </a:spcAft>
              <a:buNone/>
              <a:defRPr sz="2000"/>
            </a:lvl4pPr>
            <a:lvl5pPr marL="1828800" indent="0">
              <a:spcAft>
                <a:spcPts val="800"/>
              </a:spcAf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696778" y="1813720"/>
            <a:ext cx="4657021" cy="4051300"/>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5F004FE-7725-F349-1245-F443F9E81B95}"/>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907276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F97B6B-1E04-799C-CDFE-9DAFCA938BE8}"/>
              </a:ext>
              <a:ext uri="{C183D7F6-B498-43B3-948B-1728B52AA6E4}">
                <adec:decorative xmlns:adec="http://schemas.microsoft.com/office/drawing/2017/decorative" val="1"/>
              </a:ext>
            </a:extLst>
          </p:cNvPr>
          <p:cNvSpPr/>
          <p:nvPr userDrawn="1"/>
        </p:nvSpPr>
        <p:spPr>
          <a:xfrm>
            <a:off x="10028970" y="13063"/>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111DE0A-4C1D-01B1-AA49-D966343F6551}"/>
              </a:ext>
              <a:ext uri="{C183D7F6-B498-43B3-948B-1728B52AA6E4}">
                <adec:decorative xmlns:adec="http://schemas.microsoft.com/office/drawing/2017/decorative" val="1"/>
              </a:ext>
            </a:extLst>
          </p:cNvPr>
          <p:cNvSpPr/>
          <p:nvPr userDrawn="1"/>
        </p:nvSpPr>
        <p:spPr>
          <a:xfrm>
            <a:off x="3777288" y="0"/>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BEA20E-0FF2-2897-8BD6-8EFAA8C8D9CB}"/>
              </a:ext>
              <a:ext uri="{C183D7F6-B498-43B3-948B-1728B52AA6E4}">
                <adec:decorative xmlns:adec="http://schemas.microsoft.com/office/drawing/2017/decorative" val="1"/>
              </a:ext>
            </a:extLst>
          </p:cNvPr>
          <p:cNvSpPr/>
          <p:nvPr userDrawn="1"/>
        </p:nvSpPr>
        <p:spPr>
          <a:xfrm>
            <a:off x="10278460"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6" name="Table Placeholder 5">
            <a:extLst>
              <a:ext uri="{FF2B5EF4-FFF2-40B4-BE49-F238E27FC236}">
                <a16:creationId xmlns:a16="http://schemas.microsoft.com/office/drawing/2014/main" id="{E259F776-4BD1-2F21-61F0-3B60DF6F0366}"/>
              </a:ext>
            </a:extLst>
          </p:cNvPr>
          <p:cNvSpPr>
            <a:spLocks noGrp="1"/>
          </p:cNvSpPr>
          <p:nvPr>
            <p:ph type="tbl" sz="quarter" idx="10"/>
          </p:nvPr>
        </p:nvSpPr>
        <p:spPr>
          <a:xfrm>
            <a:off x="838200" y="1825625"/>
            <a:ext cx="10515600" cy="4054475"/>
          </a:xfr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icon to add table</a:t>
            </a:r>
            <a:endParaRPr lang="en-US" dirty="0"/>
          </a:p>
        </p:txBody>
      </p:sp>
      <p:sp>
        <p:nvSpPr>
          <p:cNvPr id="5" name="Slide Number Placeholder 4">
            <a:extLst>
              <a:ext uri="{FF2B5EF4-FFF2-40B4-BE49-F238E27FC236}">
                <a16:creationId xmlns:a16="http://schemas.microsoft.com/office/drawing/2014/main" id="{B22987B8-BA6E-EE2B-BFB9-D52D6D956AF7}"/>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31086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4">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4A07D69-1AF2-A193-316E-DD3803E94269}"/>
              </a:ext>
              <a:ext uri="{C183D7F6-B498-43B3-948B-1728B52AA6E4}">
                <adec:decorative xmlns:adec="http://schemas.microsoft.com/office/drawing/2017/decorative" val="1"/>
              </a:ext>
            </a:extLst>
          </p:cNvPr>
          <p:cNvSpPr/>
          <p:nvPr userDrawn="1"/>
        </p:nvSpPr>
        <p:spPr>
          <a:xfrm>
            <a:off x="56520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4E4D2FA-0049-1792-F6B4-D5FE1EE5A78A}"/>
              </a:ext>
              <a:ext uri="{C183D7F6-B498-43B3-948B-1728B52AA6E4}">
                <adec:decorative xmlns:adec="http://schemas.microsoft.com/office/drawing/2017/decorative" val="1"/>
              </a:ext>
            </a:extLst>
          </p:cNvPr>
          <p:cNvSpPr/>
          <p:nvPr userDrawn="1"/>
        </p:nvSpPr>
        <p:spPr>
          <a:xfrm>
            <a:off x="10392348"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86E6ACF-3879-BE02-100B-2096C22357AB}"/>
              </a:ext>
              <a:ext uri="{C183D7F6-B498-43B3-948B-1728B52AA6E4}">
                <adec:decorative xmlns:adec="http://schemas.microsoft.com/office/drawing/2017/decorative" val="1"/>
              </a:ext>
            </a:extLst>
          </p:cNvPr>
          <p:cNvSpPr/>
          <p:nvPr userDrawn="1"/>
        </p:nvSpPr>
        <p:spPr>
          <a:xfrm>
            <a:off x="764323"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E74699B-D6F0-303E-200A-7017E1842F99}"/>
              </a:ext>
              <a:ext uri="{C183D7F6-B498-43B3-948B-1728B52AA6E4}">
                <adec:decorative xmlns:adec="http://schemas.microsoft.com/office/drawing/2017/decorative" val="1"/>
              </a:ext>
            </a:extLst>
          </p:cNvPr>
          <p:cNvGrpSpPr/>
          <p:nvPr userDrawn="1"/>
        </p:nvGrpSpPr>
        <p:grpSpPr>
          <a:xfrm>
            <a:off x="7506739" y="2603777"/>
            <a:ext cx="4120055" cy="4308449"/>
            <a:chOff x="5656746" y="820557"/>
            <a:chExt cx="4120055" cy="4308449"/>
          </a:xfrm>
        </p:grpSpPr>
        <p:pic>
          <p:nvPicPr>
            <p:cNvPr id="7" name="Graphic 6">
              <a:extLst>
                <a:ext uri="{FF2B5EF4-FFF2-40B4-BE49-F238E27FC236}">
                  <a16:creationId xmlns:a16="http://schemas.microsoft.com/office/drawing/2014/main" id="{9C9E38E0-92AE-5063-B259-A22230AA6A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7260EEF0-1C13-AD9A-0967-0460B979EA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38FE848A-1123-37B6-C43C-5DC49EE0A1D8}"/>
              </a:ext>
            </a:extLst>
          </p:cNvPr>
          <p:cNvSpPr>
            <a:spLocks noGrp="1"/>
          </p:cNvSpPr>
          <p:nvPr>
            <p:ph idx="11" hasCustomPrompt="1"/>
          </p:nvPr>
        </p:nvSpPr>
        <p:spPr>
          <a:xfrm>
            <a:off x="6412173"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a:extLst>
              <a:ext uri="{FF2B5EF4-FFF2-40B4-BE49-F238E27FC236}">
                <a16:creationId xmlns:a16="http://schemas.microsoft.com/office/drawing/2014/main" id="{0FB0C591-7E28-3722-4795-07BFB9ED09CF}"/>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02851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05312039-7E28-974D-ED1C-90F1E53E9C97}"/>
              </a:ext>
              <a:ext uri="{C183D7F6-B498-43B3-948B-1728B52AA6E4}">
                <adec:decorative xmlns:adec="http://schemas.microsoft.com/office/drawing/2017/decorative" val="1"/>
              </a:ext>
            </a:extLst>
          </p:cNvPr>
          <p:cNvSpPr/>
          <p:nvPr userDrawn="1"/>
        </p:nvSpPr>
        <p:spPr>
          <a:xfrm>
            <a:off x="11301493" y="0"/>
            <a:ext cx="109162"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382344"/>
            <a:ext cx="4377767" cy="2719337"/>
          </a:xfrm>
        </p:spPr>
        <p:txBody>
          <a:bodyPr anchor="b">
            <a:normAutofit/>
          </a:bodyPr>
          <a:lstStyle>
            <a:lvl1pPr algn="l">
              <a:defRPr sz="4400" b="1"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1745" y="1751759"/>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9992" y="3340800"/>
            <a:ext cx="4368450" cy="3166331"/>
          </a:xfrm>
        </p:spPr>
        <p:txBody>
          <a:bodyPr>
            <a:normAutofit/>
          </a:bodyPr>
          <a:lstStyle>
            <a:lvl1pPr marL="0" indent="0">
              <a:lnSpc>
                <a:spcPct val="90000"/>
              </a:lnSpc>
              <a:spcBef>
                <a:spcPts val="1000"/>
              </a:spcBef>
              <a:buFont typeface="Arial" panose="020B0604020202020204" pitchFamily="34" charset="0"/>
              <a:buNone/>
              <a:defRPr sz="2000"/>
            </a:lvl1pPr>
            <a:lvl2pPr marL="571500" indent="0">
              <a:lnSpc>
                <a:spcPct val="90000"/>
              </a:lnSpc>
              <a:spcBef>
                <a:spcPts val="1000"/>
              </a:spcBef>
              <a:buFont typeface="Arial" panose="020B0604020202020204" pitchFamily="34" charset="0"/>
              <a:buNone/>
              <a:defRPr sz="1800"/>
            </a:lvl2pPr>
            <a:lvl3pPr marL="971550" indent="0">
              <a:lnSpc>
                <a:spcPct val="90000"/>
              </a:lnSpc>
              <a:spcBef>
                <a:spcPts val="1000"/>
              </a:spcBef>
              <a:buFont typeface="Arial" panose="020B0604020202020204" pitchFamily="34" charset="0"/>
              <a:buNone/>
              <a:defRPr sz="1600"/>
            </a:lvl3pPr>
            <a:lvl4pPr marL="1428750" indent="0">
              <a:lnSpc>
                <a:spcPct val="90000"/>
              </a:lnSpc>
              <a:spcBef>
                <a:spcPts val="1000"/>
              </a:spcBef>
              <a:buFont typeface="Arial" panose="020B0604020202020204" pitchFamily="34" charset="0"/>
              <a:buNone/>
              <a:defRPr sz="1400"/>
            </a:lvl4pPr>
            <a:lvl5pPr marL="1885950" indent="0">
              <a:lnSpc>
                <a:spcPct val="90000"/>
              </a:lnSpc>
              <a:spcBef>
                <a:spcPts val="1000"/>
              </a:spcBef>
              <a:buFont typeface="Arial" panose="020B0604020202020204" pitchFamily="34" charset="0"/>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2793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F284CE42-5F4D-E722-7ABC-852575A3EBA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52FCB7E-A25D-2786-57F4-CAC8C0B7EE0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B908020-3841-3809-A971-C013AF1CA4DB}"/>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6D726-924C-E5EB-B28C-E3B9B44623EE}"/>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8279A287-35CA-B289-525D-D67FB24B3B9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5EB2365-305E-AE99-1CD4-605540C718EB}"/>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1875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145255"/>
            <a:ext cx="2743200" cy="365125"/>
          </a:xfrm>
          <a:prstGeom prst="rect">
            <a:avLst/>
          </a:prstGeom>
        </p:spPr>
        <p:txBody>
          <a:bodyPr vert="horz" lIns="91440" tIns="45720" rIns="91440" bIns="45720" rtlCol="0" anchor="ctr"/>
          <a:lstStyle>
            <a:lvl1pPr algn="l">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0922000" y="6145255"/>
            <a:ext cx="845114" cy="365125"/>
          </a:xfrm>
          <a:prstGeom prst="rect">
            <a:avLst/>
          </a:prstGeom>
        </p:spPr>
        <p:txBody>
          <a:bodyPr vert="horz" lIns="91440" tIns="45720" rIns="91440" bIns="45720" rtlCol="0" anchor="ctr"/>
          <a:lstStyle>
            <a:lvl1pPr algn="r">
              <a:defRPr sz="1200">
                <a:solidFill>
                  <a:schemeClr val="bg1"/>
                </a:solidFill>
              </a:defRPr>
            </a:lvl1p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51AFD02D-325A-F2A8-9A62-D6D0AF0693E9}"/>
              </a:ext>
            </a:extLst>
          </p:cNvPr>
          <p:cNvSpPr>
            <a:spLocks noGrp="1"/>
          </p:cNvSpPr>
          <p:nvPr>
            <p:ph type="ftr" sz="quarter" idx="3"/>
          </p:nvPr>
        </p:nvSpPr>
        <p:spPr>
          <a:xfrm>
            <a:off x="4038600" y="6145255"/>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6" r:id="rId3"/>
    <p:sldLayoutId id="2147483663" r:id="rId4"/>
    <p:sldLayoutId id="2147483667" r:id="rId5"/>
    <p:sldLayoutId id="2147483668" r:id="rId6"/>
    <p:sldLayoutId id="2147483669" r:id="rId7"/>
    <p:sldLayoutId id="2147483650" r:id="rId8"/>
    <p:sldLayoutId id="2147483670" r:id="rId9"/>
    <p:sldLayoutId id="2147483671" r:id="rId10"/>
    <p:sldLayoutId id="2147483672" r:id="rId11"/>
    <p:sldLayoutId id="2147483673" r:id="rId12"/>
    <p:sldLayoutId id="2147483674" r:id="rId13"/>
    <p:sldLayoutId id="2147483654" r:id="rId14"/>
    <p:sldLayoutId id="2147483655" r:id="rId15"/>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00000"/>
        </a:lnSpc>
        <a:spcBef>
          <a:spcPts val="10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00000"/>
        </a:lnSpc>
        <a:spcBef>
          <a:spcPts val="10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00000"/>
        </a:lnSpc>
        <a:spcBef>
          <a:spcPts val="10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00000"/>
        </a:lnSpc>
        <a:spcBef>
          <a:spcPts val="10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463826" y="1033670"/>
            <a:ext cx="10778830" cy="3604591"/>
          </a:xfrm>
        </p:spPr>
        <p:txBody>
          <a:bodyPr anchor="b">
            <a:normAutofit/>
          </a:bodyPr>
          <a:lstStyle/>
          <a:p>
            <a:pPr marL="0" marR="0">
              <a:lnSpc>
                <a:spcPct val="150000"/>
              </a:lnSpc>
              <a:spcBef>
                <a:spcPts val="1200"/>
              </a:spcBef>
              <a:spcAft>
                <a:spcPts val="1200"/>
              </a:spcAft>
            </a:pPr>
            <a:r>
              <a:rPr lang="en-US" sz="6600" b="1" dirty="0">
                <a:solidFill>
                  <a:srgbClr val="CC0000"/>
                </a:solidFill>
                <a:effectLst/>
                <a:latin typeface="Constantia" panose="02030602050306030303" pitchFamily="18" charset="0"/>
                <a:ea typeface="Arial" panose="020B0604020202020204" pitchFamily="34" charset="0"/>
              </a:rPr>
              <a:t>N</a:t>
            </a:r>
            <a:r>
              <a:rPr lang="en-US" sz="4400" b="1" dirty="0">
                <a:effectLst/>
                <a:latin typeface="Constantia" panose="02030602050306030303" pitchFamily="18" charset="0"/>
                <a:ea typeface="Arial" panose="020B0604020202020204" pitchFamily="34" charset="0"/>
              </a:rPr>
              <a:t>ETFLIX DATA ANALYSIS USING POWERBI </a:t>
            </a:r>
            <a:endParaRPr lang="en-US" sz="4400" dirty="0">
              <a:effectLst/>
              <a:latin typeface="Constantia" panose="02030602050306030303" pitchFamily="18" charset="0"/>
              <a:ea typeface="Arial" panose="020B0604020202020204" pitchFamily="34" charset="0"/>
            </a:endParaRPr>
          </a:p>
        </p:txBody>
      </p:sp>
      <p:pic>
        <p:nvPicPr>
          <p:cNvPr id="6" name="Picture 5">
            <a:extLst>
              <a:ext uri="{FF2B5EF4-FFF2-40B4-BE49-F238E27FC236}">
                <a16:creationId xmlns:a16="http://schemas.microsoft.com/office/drawing/2014/main" id="{667DD32E-3F9A-6519-D713-218D0606E925}"/>
              </a:ext>
            </a:extLst>
          </p:cNvPr>
          <p:cNvPicPr>
            <a:picLocks noChangeAspect="1"/>
          </p:cNvPicPr>
          <p:nvPr/>
        </p:nvPicPr>
        <p:blipFill rotWithShape="1">
          <a:blip r:embed="rId2"/>
          <a:srcRect r="8397"/>
          <a:stretch/>
        </p:blipFill>
        <p:spPr>
          <a:xfrm>
            <a:off x="9639142" y="670500"/>
            <a:ext cx="1113183" cy="1204682"/>
          </a:xfrm>
          <a:prstGeom prst="rect">
            <a:avLst/>
          </a:prstGeom>
        </p:spPr>
      </p:pic>
    </p:spTree>
    <p:extLst>
      <p:ext uri="{BB962C8B-B14F-4D97-AF65-F5344CB8AC3E}">
        <p14:creationId xmlns:p14="http://schemas.microsoft.com/office/powerpoint/2010/main" val="418666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AFD53-5075-57C7-807D-DB7A3B2EAE4B}"/>
              </a:ext>
            </a:extLst>
          </p:cNvPr>
          <p:cNvSpPr>
            <a:spLocks noGrp="1"/>
          </p:cNvSpPr>
          <p:nvPr>
            <p:ph type="ctrTitle"/>
          </p:nvPr>
        </p:nvSpPr>
        <p:spPr>
          <a:xfrm>
            <a:off x="467140" y="576471"/>
            <a:ext cx="9731937" cy="1252330"/>
          </a:xfrm>
        </p:spPr>
        <p:txBody>
          <a:bodyPr/>
          <a:lstStyle/>
          <a:p>
            <a:pPr algn="l"/>
            <a:r>
              <a:rPr lang="en-US" u="sng" dirty="0">
                <a:latin typeface="Constantia" panose="02030602050306030303" pitchFamily="18" charset="0"/>
              </a:rPr>
              <a:t>Problem Statement:</a:t>
            </a:r>
          </a:p>
        </p:txBody>
      </p:sp>
      <p:sp>
        <p:nvSpPr>
          <p:cNvPr id="3" name="Content Placeholder 2">
            <a:extLst>
              <a:ext uri="{FF2B5EF4-FFF2-40B4-BE49-F238E27FC236}">
                <a16:creationId xmlns:a16="http://schemas.microsoft.com/office/drawing/2014/main" id="{86254065-E00A-F04C-E5D0-BD76E86E62BA}"/>
              </a:ext>
            </a:extLst>
          </p:cNvPr>
          <p:cNvSpPr>
            <a:spLocks noGrp="1"/>
          </p:cNvSpPr>
          <p:nvPr>
            <p:ph sz="quarter" idx="11"/>
          </p:nvPr>
        </p:nvSpPr>
        <p:spPr>
          <a:xfrm>
            <a:off x="576775" y="2489983"/>
            <a:ext cx="9988062" cy="2124220"/>
          </a:xfrm>
        </p:spPr>
        <p:txBody>
          <a:bodyPr/>
          <a:lstStyle/>
          <a:p>
            <a:pPr algn="l"/>
            <a:r>
              <a:rPr lang="en-US" sz="2800" dirty="0">
                <a:effectLst/>
                <a:latin typeface="Constantia" panose="02030602050306030303" pitchFamily="18" charset="0"/>
                <a:ea typeface="Arial" panose="020B0604020202020204" pitchFamily="34" charset="0"/>
              </a:rPr>
              <a:t>Analyze Netflix's content and customer viewing behavior to derive meaningful business insights. The goal is to clean and visualize the data to understand customer engagement, content popularity, and subscription trends.</a:t>
            </a:r>
          </a:p>
          <a:p>
            <a:endParaRPr lang="en-US" dirty="0"/>
          </a:p>
        </p:txBody>
      </p:sp>
      <p:sp>
        <p:nvSpPr>
          <p:cNvPr id="5" name="Slide Number Placeholder 4">
            <a:extLst>
              <a:ext uri="{FF2B5EF4-FFF2-40B4-BE49-F238E27FC236}">
                <a16:creationId xmlns:a16="http://schemas.microsoft.com/office/drawing/2014/main" id="{782C2387-9B94-D46D-91EA-2903C45454EB}"/>
              </a:ext>
            </a:extLst>
          </p:cNvPr>
          <p:cNvSpPr>
            <a:spLocks noGrp="1"/>
          </p:cNvSpPr>
          <p:nvPr>
            <p:ph type="sldNum" sz="quarter" idx="14"/>
          </p:nvPr>
        </p:nvSpPr>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1948259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AF5A1F-B233-C75A-B7DC-066E53119DA2}"/>
              </a:ext>
            </a:extLst>
          </p:cNvPr>
          <p:cNvSpPr>
            <a:spLocks noGrp="1"/>
          </p:cNvSpPr>
          <p:nvPr>
            <p:ph type="ctrTitle"/>
          </p:nvPr>
        </p:nvSpPr>
        <p:spPr>
          <a:xfrm>
            <a:off x="523869" y="750316"/>
            <a:ext cx="11144262" cy="1330275"/>
          </a:xfrm>
        </p:spPr>
        <p:txBody>
          <a:bodyPr>
            <a:normAutofit/>
          </a:bodyPr>
          <a:lstStyle/>
          <a:p>
            <a:r>
              <a:rPr lang="en-US" sz="3600" b="1" u="sng" dirty="0">
                <a:latin typeface="Constantia" panose="02030602050306030303" pitchFamily="18" charset="0"/>
              </a:rPr>
              <a:t>Data Cleaning &amp; Transformation</a:t>
            </a:r>
          </a:p>
        </p:txBody>
      </p:sp>
      <p:sp>
        <p:nvSpPr>
          <p:cNvPr id="8" name="Content Placeholder 7">
            <a:extLst>
              <a:ext uri="{FF2B5EF4-FFF2-40B4-BE49-F238E27FC236}">
                <a16:creationId xmlns:a16="http://schemas.microsoft.com/office/drawing/2014/main" id="{309B322C-92BF-3972-EB9C-80C69BC2D96C}"/>
              </a:ext>
            </a:extLst>
          </p:cNvPr>
          <p:cNvSpPr>
            <a:spLocks noGrp="1"/>
          </p:cNvSpPr>
          <p:nvPr>
            <p:ph sz="quarter" idx="10"/>
          </p:nvPr>
        </p:nvSpPr>
        <p:spPr>
          <a:xfrm>
            <a:off x="728870" y="2332383"/>
            <a:ext cx="10337683" cy="4177997"/>
          </a:xfrm>
        </p:spPr>
        <p:txBody>
          <a:bodyPr/>
          <a:lstStyle/>
          <a:p>
            <a:pPr marL="342900" indent="-342900">
              <a:buFont typeface="Arial" panose="020B0604020202020204" pitchFamily="34" charset="0"/>
              <a:buChar char="•"/>
            </a:pPr>
            <a:r>
              <a:rPr lang="en-US" dirty="0">
                <a:latin typeface="Constantia" panose="02030602050306030303" pitchFamily="18" charset="0"/>
              </a:rPr>
              <a:t>In excel, missing values in director column were filled with "Unknown".</a:t>
            </a:r>
          </a:p>
          <a:p>
            <a:pPr marL="342900" indent="-342900">
              <a:buFont typeface="Arial" panose="020B0604020202020204" pitchFamily="34" charset="0"/>
              <a:buChar char="•"/>
            </a:pPr>
            <a:r>
              <a:rPr lang="en-US" dirty="0">
                <a:latin typeface="Constantia" panose="02030602050306030303" pitchFamily="18" charset="0"/>
              </a:rPr>
              <a:t>The column </a:t>
            </a:r>
            <a:r>
              <a:rPr lang="en-US" i="1" dirty="0" err="1">
                <a:latin typeface="Constantia" panose="02030602050306030303" pitchFamily="18" charset="0"/>
              </a:rPr>
              <a:t>date_added</a:t>
            </a:r>
            <a:r>
              <a:rPr lang="en-US" i="1" dirty="0">
                <a:latin typeface="Constantia" panose="02030602050306030303" pitchFamily="18" charset="0"/>
              </a:rPr>
              <a:t> </a:t>
            </a:r>
            <a:r>
              <a:rPr lang="en-US" dirty="0">
                <a:latin typeface="Constantia" panose="02030602050306030303" pitchFamily="18" charset="0"/>
              </a:rPr>
              <a:t>was standardized to Short Date format.</a:t>
            </a:r>
          </a:p>
          <a:p>
            <a:pPr marL="342900" indent="-342900">
              <a:buFont typeface="Arial" panose="020B0604020202020204" pitchFamily="34" charset="0"/>
              <a:buChar char="•"/>
            </a:pPr>
            <a:r>
              <a:rPr lang="en-US" dirty="0">
                <a:latin typeface="Constantia" panose="02030602050306030303" pitchFamily="18" charset="0"/>
              </a:rPr>
              <a:t>The outliers were checked to remove unrealistic values.</a:t>
            </a:r>
          </a:p>
          <a:p>
            <a:pPr marL="342900" indent="-342900">
              <a:buFont typeface="Arial" panose="020B0604020202020204" pitchFamily="34" charset="0"/>
              <a:buChar char="•"/>
            </a:pPr>
            <a:r>
              <a:rPr lang="en-US" dirty="0">
                <a:latin typeface="Constantia" panose="02030602050306030303" pitchFamily="18" charset="0"/>
              </a:rPr>
              <a:t>Prepared a clean, consistent, and analysis-ready dataset for visualization in Power BI.</a:t>
            </a:r>
          </a:p>
          <a:p>
            <a:pPr marL="342900" indent="-342900">
              <a:buFont typeface="Arial" panose="020B0604020202020204" pitchFamily="34" charset="0"/>
              <a:buChar char="•"/>
            </a:pPr>
            <a:endParaRPr lang="en-US" dirty="0">
              <a:latin typeface="Constantia" panose="02030602050306030303" pitchFamily="18" charset="0"/>
            </a:endParaRPr>
          </a:p>
        </p:txBody>
      </p:sp>
      <p:sp>
        <p:nvSpPr>
          <p:cNvPr id="7" name="Slide Number Placeholder 6">
            <a:extLst>
              <a:ext uri="{FF2B5EF4-FFF2-40B4-BE49-F238E27FC236}">
                <a16:creationId xmlns:a16="http://schemas.microsoft.com/office/drawing/2014/main" id="{62D0F67C-5190-34BB-E17A-17334527211D}"/>
              </a:ext>
            </a:extLst>
          </p:cNvPr>
          <p:cNvSpPr>
            <a:spLocks noGrp="1"/>
          </p:cNvSpPr>
          <p:nvPr>
            <p:ph type="sldNum" sz="quarter" idx="13"/>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3306624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742121"/>
            <a:ext cx="10039196" cy="928095"/>
          </a:xfrm>
        </p:spPr>
        <p:txBody>
          <a:bodyPr>
            <a:normAutofit/>
          </a:bodyPr>
          <a:lstStyle/>
          <a:p>
            <a:pPr marL="342900" marR="0" lvl="0" indent="-342900">
              <a:lnSpc>
                <a:spcPct val="150000"/>
              </a:lnSpc>
              <a:spcBef>
                <a:spcPts val="0"/>
              </a:spcBef>
              <a:spcAft>
                <a:spcPts val="0"/>
              </a:spcAft>
            </a:pPr>
            <a:r>
              <a:rPr lang="en-US" sz="3600" u="sng" strike="noStrike" dirty="0">
                <a:effectLst/>
                <a:latin typeface="Constantia" panose="02030602050306030303" pitchFamily="18" charset="0"/>
                <a:ea typeface="Arial" panose="020B0604020202020204" pitchFamily="34" charset="0"/>
              </a:rPr>
              <a:t>Customer Demographics Analysis</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2067339"/>
            <a:ext cx="10641495" cy="3273287"/>
          </a:xfrm>
        </p:spPr>
        <p:txBody>
          <a:bodyPr>
            <a:normAutofit/>
          </a:bodyPr>
          <a:lstStyle/>
          <a:p>
            <a:pPr algn="l"/>
            <a:r>
              <a:rPr lang="en-US" sz="2000" b="1" dirty="0">
                <a:latin typeface="Constantia" panose="02030602050306030303" pitchFamily="18" charset="0"/>
              </a:rPr>
              <a:t>Insights: </a:t>
            </a:r>
            <a:r>
              <a:rPr lang="en-US" sz="2000" dirty="0">
                <a:latin typeface="Constantia" panose="02030602050306030303" pitchFamily="18" charset="0"/>
              </a:rPr>
              <a:t>We have identified that age group 60+ are watching Netflix the most which indicates that older customers may prefer content such as Action, documentaries, and family-friendly TV shows.</a:t>
            </a:r>
          </a:p>
          <a:p>
            <a:pPr algn="l"/>
            <a:r>
              <a:rPr lang="en-US" sz="2000" b="1" dirty="0">
                <a:latin typeface="Constantia" panose="02030602050306030303" pitchFamily="18" charset="0"/>
              </a:rPr>
              <a:t>Recommendation:</a:t>
            </a:r>
          </a:p>
          <a:p>
            <a:pPr algn="l"/>
            <a:r>
              <a:rPr lang="en-US" sz="2000" dirty="0">
                <a:latin typeface="Constantia" panose="02030602050306030303" pitchFamily="18" charset="0"/>
              </a:rPr>
              <a:t>We need to concentrate on younger adults particularly, these 19-45</a:t>
            </a:r>
            <a:r>
              <a:rPr lang="en-US" sz="2000" b="1" dirty="0">
                <a:latin typeface="Constantia" panose="02030602050306030303" pitchFamily="18" charset="0"/>
              </a:rPr>
              <a:t> </a:t>
            </a:r>
            <a:r>
              <a:rPr lang="en-US" sz="2000" dirty="0">
                <a:latin typeface="Constantia" panose="02030602050306030303" pitchFamily="18" charset="0"/>
              </a:rPr>
              <a:t>Age group are typically the working professionals who may use Netflix to relax after work. Content geared toward them could include workplace dramas, true crime series.</a:t>
            </a: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4</a:t>
            </a:fld>
            <a:endParaRPr lang="en-US" dirty="0"/>
          </a:p>
        </p:txBody>
      </p:sp>
      <p:pic>
        <p:nvPicPr>
          <p:cNvPr id="7" name="Picture 6">
            <a:extLst>
              <a:ext uri="{FF2B5EF4-FFF2-40B4-BE49-F238E27FC236}">
                <a16:creationId xmlns:a16="http://schemas.microsoft.com/office/drawing/2014/main" id="{380E1F77-0A8B-D623-5B10-D0C52D41C7C4}"/>
              </a:ext>
            </a:extLst>
          </p:cNvPr>
          <p:cNvPicPr>
            <a:picLocks noChangeAspect="1"/>
          </p:cNvPicPr>
          <p:nvPr/>
        </p:nvPicPr>
        <p:blipFill>
          <a:blip r:embed="rId2"/>
          <a:stretch>
            <a:fillRect/>
          </a:stretch>
        </p:blipFill>
        <p:spPr>
          <a:xfrm>
            <a:off x="3643532" y="4545140"/>
            <a:ext cx="3781391" cy="1965239"/>
          </a:xfrm>
          <a:prstGeom prst="rect">
            <a:avLst/>
          </a:prstGeom>
        </p:spPr>
      </p:pic>
    </p:spTree>
    <p:extLst>
      <p:ext uri="{BB962C8B-B14F-4D97-AF65-F5344CB8AC3E}">
        <p14:creationId xmlns:p14="http://schemas.microsoft.com/office/powerpoint/2010/main" val="397944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477077"/>
            <a:ext cx="10039196" cy="2603356"/>
          </a:xfrm>
        </p:spPr>
        <p:txBody>
          <a:bodyPr>
            <a:normAutofit/>
          </a:bodyPr>
          <a:lstStyle/>
          <a:p>
            <a:pPr marL="342900" marR="0" lvl="0" indent="-342900">
              <a:lnSpc>
                <a:spcPct val="150000"/>
              </a:lnSpc>
              <a:spcBef>
                <a:spcPts val="0"/>
              </a:spcBef>
              <a:spcAft>
                <a:spcPts val="0"/>
              </a:spcAft>
            </a:pPr>
            <a:r>
              <a:rPr lang="en-US" sz="3600" u="sng" strike="noStrike" dirty="0">
                <a:effectLst/>
                <a:latin typeface="Constantia" panose="02030602050306030303" pitchFamily="18" charset="0"/>
                <a:ea typeface="Arial" panose="020B0604020202020204" pitchFamily="34" charset="0"/>
              </a:rPr>
              <a:t>Subscription Type vs. Watch Time</a:t>
            </a:r>
            <a:br>
              <a:rPr lang="en-US" sz="1800" u="none" strike="noStrike" dirty="0">
                <a:effectLst/>
                <a:latin typeface="Arial" panose="020B0604020202020204" pitchFamily="34" charset="0"/>
                <a:ea typeface="Arial" panose="020B0604020202020204" pitchFamily="34" charset="0"/>
              </a:rPr>
            </a:br>
            <a:endParaRPr lang="en-US" sz="1800" u="none" strike="noStrike" dirty="0">
              <a:effectLst/>
              <a:latin typeface="Arial" panose="020B0604020202020204" pitchFamily="34" charset="0"/>
              <a:ea typeface="Arial" panose="020B0604020202020204" pitchFamily="34" charset="0"/>
            </a:endParaRP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2067339"/>
            <a:ext cx="10641495" cy="2981739"/>
          </a:xfrm>
        </p:spPr>
        <p:txBody>
          <a:bodyPr>
            <a:normAutofit/>
          </a:bodyPr>
          <a:lstStyle/>
          <a:p>
            <a:pPr algn="l"/>
            <a:r>
              <a:rPr lang="en-US" sz="2000" b="1" dirty="0">
                <a:latin typeface="Constantia" panose="02030602050306030303" pitchFamily="18" charset="0"/>
              </a:rPr>
              <a:t>Insights: </a:t>
            </a:r>
            <a:r>
              <a:rPr lang="en-US" sz="2000" dirty="0">
                <a:latin typeface="Constantia" panose="02030602050306030303" pitchFamily="18" charset="0"/>
              </a:rPr>
              <a:t>Upon analyzing the relationship between watch time and subscription tier of customer that standard </a:t>
            </a:r>
            <a:r>
              <a:rPr lang="en-US" sz="2000" dirty="0">
                <a:effectLst/>
                <a:latin typeface="Constantia" panose="02030602050306030303" pitchFamily="18" charset="0"/>
                <a:ea typeface="Arial" panose="020B0604020202020204" pitchFamily="34" charset="0"/>
              </a:rPr>
              <a:t>subscription tier has the highest engagement. </a:t>
            </a:r>
            <a:r>
              <a:rPr lang="en-US" sz="2000" dirty="0">
                <a:latin typeface="Constantia" panose="02030602050306030303" pitchFamily="18" charset="0"/>
              </a:rPr>
              <a:t>High total watch time for standard users may point to high customer satisfaction with the features of this tier</a:t>
            </a:r>
          </a:p>
          <a:p>
            <a:pPr algn="l"/>
            <a:r>
              <a:rPr lang="en-US" sz="2000" b="1" dirty="0">
                <a:latin typeface="Constantia" panose="02030602050306030303" pitchFamily="18" charset="0"/>
              </a:rPr>
              <a:t>Recommendation:</a:t>
            </a:r>
          </a:p>
          <a:p>
            <a:pPr algn="l"/>
            <a:r>
              <a:rPr lang="en-US" sz="2000" dirty="0">
                <a:latin typeface="Constantia" panose="02030602050306030303" pitchFamily="18" charset="0"/>
              </a:rPr>
              <a:t>We have to improve engagement of premium tier  which means Standard users are already highly engaged, this group is a prime target for upselling to the Premium plan. We can Consider offering exclusive content, special promotions, or temporary upgrades to encourage them to move to the Premium tier.</a:t>
            </a:r>
          </a:p>
          <a:p>
            <a:pPr algn="l"/>
            <a:endParaRPr lang="en-US" sz="2000" dirty="0">
              <a:latin typeface="Constantia" panose="02030602050306030303" pitchFamily="18" charset="0"/>
            </a:endParaRPr>
          </a:p>
          <a:p>
            <a:pPr algn="l"/>
            <a:endParaRPr lang="en-US" sz="2000" dirty="0">
              <a:latin typeface="Constantia" panose="02030602050306030303" pitchFamily="18" charset="0"/>
            </a:endParaRP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5</a:t>
            </a:fld>
            <a:endParaRPr lang="en-US" dirty="0"/>
          </a:p>
        </p:txBody>
      </p:sp>
      <p:pic>
        <p:nvPicPr>
          <p:cNvPr id="7" name="Picture 6">
            <a:extLst>
              <a:ext uri="{FF2B5EF4-FFF2-40B4-BE49-F238E27FC236}">
                <a16:creationId xmlns:a16="http://schemas.microsoft.com/office/drawing/2014/main" id="{1FC62953-EB86-3828-73B1-1DD5CBE4F2D2}"/>
              </a:ext>
            </a:extLst>
          </p:cNvPr>
          <p:cNvPicPr>
            <a:picLocks noChangeAspect="1"/>
          </p:cNvPicPr>
          <p:nvPr/>
        </p:nvPicPr>
        <p:blipFill>
          <a:blip r:embed="rId2"/>
          <a:stretch>
            <a:fillRect/>
          </a:stretch>
        </p:blipFill>
        <p:spPr>
          <a:xfrm>
            <a:off x="4476256" y="4731722"/>
            <a:ext cx="2936077" cy="1786634"/>
          </a:xfrm>
          <a:prstGeom prst="rect">
            <a:avLst/>
          </a:prstGeom>
        </p:spPr>
      </p:pic>
    </p:spTree>
    <p:extLst>
      <p:ext uri="{BB962C8B-B14F-4D97-AF65-F5344CB8AC3E}">
        <p14:creationId xmlns:p14="http://schemas.microsoft.com/office/powerpoint/2010/main" val="76400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742122"/>
            <a:ext cx="10039196" cy="596348"/>
          </a:xfrm>
        </p:spPr>
        <p:txBody>
          <a:bodyPr>
            <a:normAutofit fontScale="90000"/>
          </a:bodyPr>
          <a:lstStyle/>
          <a:p>
            <a:pPr marL="342900" indent="-342900">
              <a:lnSpc>
                <a:spcPct val="150000"/>
              </a:lnSpc>
              <a:spcBef>
                <a:spcPts val="0"/>
              </a:spcBef>
            </a:pPr>
            <a:r>
              <a:rPr lang="en-US" sz="3600" u="sng" dirty="0">
                <a:latin typeface="Constantia" panose="02030602050306030303" pitchFamily="18" charset="0"/>
              </a:rPr>
              <a:t>Descriptive &amp; Comparative Analysis</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1491176"/>
            <a:ext cx="10641495" cy="3279608"/>
          </a:xfrm>
        </p:spPr>
        <p:txBody>
          <a:bodyPr>
            <a:normAutofit/>
          </a:bodyPr>
          <a:lstStyle/>
          <a:p>
            <a:pPr algn="l"/>
            <a:r>
              <a:rPr lang="en-US" sz="1800" b="1" dirty="0">
                <a:latin typeface="Constantia" panose="02030602050306030303" pitchFamily="18" charset="0"/>
              </a:rPr>
              <a:t>Insights: </a:t>
            </a:r>
            <a:r>
              <a:rPr lang="en-US" sz="1800" dirty="0">
                <a:latin typeface="Constantia" panose="02030602050306030303" pitchFamily="18" charset="0"/>
              </a:rPr>
              <a:t>Identified the top list are the highest-rated content that customers are consuming the most. The Top 10 list can reveal trends in user preferences, for instance, whether users tend to prefer certain genres</a:t>
            </a:r>
          </a:p>
          <a:p>
            <a:pPr algn="l"/>
            <a:r>
              <a:rPr lang="en-US" sz="1800" dirty="0">
                <a:latin typeface="Constantia" panose="02030602050306030303" pitchFamily="18" charset="0"/>
              </a:rPr>
              <a:t>The watch time between Movies and TV Shows is equal, implies that different types of users have different viewing habits.</a:t>
            </a:r>
          </a:p>
          <a:p>
            <a:pPr algn="l"/>
            <a:r>
              <a:rPr lang="en-US" sz="1800" b="1" dirty="0">
                <a:latin typeface="Constantia" panose="02030602050306030303" pitchFamily="18" charset="0"/>
              </a:rPr>
              <a:t>Recommendation:</a:t>
            </a:r>
          </a:p>
          <a:p>
            <a:pPr algn="l"/>
            <a:r>
              <a:rPr lang="en-US" sz="1800" dirty="0">
                <a:latin typeface="Constantia" panose="02030602050306030303" pitchFamily="18" charset="0"/>
              </a:rPr>
              <a:t>By analyzing the both we got know the customer preference If certain shows/movies have a higher watch time among Premium subscribers, Netflix could promote exclusive content or feature similar shows for Standard users to encourage upgrades.</a:t>
            </a:r>
          </a:p>
          <a:p>
            <a:pPr algn="l"/>
            <a:endParaRPr lang="en-US" sz="2000" dirty="0">
              <a:latin typeface="Constantia" panose="02030602050306030303" pitchFamily="18" charset="0"/>
            </a:endParaRP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6</a:t>
            </a:fld>
            <a:endParaRPr lang="en-US" dirty="0"/>
          </a:p>
        </p:txBody>
      </p:sp>
      <p:pic>
        <p:nvPicPr>
          <p:cNvPr id="7" name="Picture 6">
            <a:extLst>
              <a:ext uri="{FF2B5EF4-FFF2-40B4-BE49-F238E27FC236}">
                <a16:creationId xmlns:a16="http://schemas.microsoft.com/office/drawing/2014/main" id="{2205CF6F-37A6-3809-2A70-0537107E457A}"/>
              </a:ext>
            </a:extLst>
          </p:cNvPr>
          <p:cNvPicPr>
            <a:picLocks noChangeAspect="1"/>
          </p:cNvPicPr>
          <p:nvPr/>
        </p:nvPicPr>
        <p:blipFill>
          <a:blip r:embed="rId2"/>
          <a:stretch>
            <a:fillRect/>
          </a:stretch>
        </p:blipFill>
        <p:spPr>
          <a:xfrm>
            <a:off x="2883539" y="4405659"/>
            <a:ext cx="4038207" cy="2119309"/>
          </a:xfrm>
          <a:prstGeom prst="rect">
            <a:avLst/>
          </a:prstGeom>
        </p:spPr>
      </p:pic>
      <p:pic>
        <p:nvPicPr>
          <p:cNvPr id="9" name="Picture 8">
            <a:extLst>
              <a:ext uri="{FF2B5EF4-FFF2-40B4-BE49-F238E27FC236}">
                <a16:creationId xmlns:a16="http://schemas.microsoft.com/office/drawing/2014/main" id="{2004047E-2F6F-EF33-C5A8-3584B8978420}"/>
              </a:ext>
            </a:extLst>
          </p:cNvPr>
          <p:cNvPicPr>
            <a:picLocks noChangeAspect="1"/>
          </p:cNvPicPr>
          <p:nvPr/>
        </p:nvPicPr>
        <p:blipFill>
          <a:blip r:embed="rId3"/>
          <a:stretch>
            <a:fillRect/>
          </a:stretch>
        </p:blipFill>
        <p:spPr>
          <a:xfrm>
            <a:off x="6936694" y="4405659"/>
            <a:ext cx="2156700" cy="2104721"/>
          </a:xfrm>
          <a:prstGeom prst="rect">
            <a:avLst/>
          </a:prstGeom>
        </p:spPr>
      </p:pic>
    </p:spTree>
    <p:extLst>
      <p:ext uri="{BB962C8B-B14F-4D97-AF65-F5344CB8AC3E}">
        <p14:creationId xmlns:p14="http://schemas.microsoft.com/office/powerpoint/2010/main" val="2873147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927652" y="954157"/>
            <a:ext cx="10337391" cy="677695"/>
          </a:xfrm>
        </p:spPr>
        <p:txBody>
          <a:bodyPr>
            <a:noAutofit/>
          </a:bodyPr>
          <a:lstStyle/>
          <a:p>
            <a:pPr marL="342900" marR="0" lvl="0" indent="-342900">
              <a:lnSpc>
                <a:spcPct val="150000"/>
              </a:lnSpc>
              <a:spcBef>
                <a:spcPts val="0"/>
              </a:spcBef>
              <a:spcAft>
                <a:spcPts val="0"/>
              </a:spcAft>
            </a:pPr>
            <a:r>
              <a:rPr lang="en-US" sz="2800" u="sng" strike="noStrike" dirty="0">
                <a:effectLst/>
                <a:latin typeface="Constantia" panose="02030602050306030303" pitchFamily="18" charset="0"/>
                <a:ea typeface="Arial" panose="020B0604020202020204" pitchFamily="34" charset="0"/>
              </a:rPr>
              <a:t>Genre Popularity by Country &amp; Customer Ratings    Distribution:</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1730326"/>
            <a:ext cx="10641495" cy="3610301"/>
          </a:xfrm>
        </p:spPr>
        <p:txBody>
          <a:bodyPr>
            <a:normAutofit/>
          </a:bodyPr>
          <a:lstStyle/>
          <a:p>
            <a:pPr marL="342900" indent="-342900" algn="l">
              <a:buFont typeface="Arial" panose="020B0604020202020204" pitchFamily="34" charset="0"/>
              <a:buChar char="•"/>
            </a:pPr>
            <a:r>
              <a:rPr lang="en-US" sz="2000" dirty="0">
                <a:latin typeface="Constantia" panose="02030602050306030303" pitchFamily="18" charset="0"/>
              </a:rPr>
              <a:t>Action is the most popular genre per country based on the total number of viewers and received the highest average ratings, suggesting strong viewer engagement.</a:t>
            </a:r>
          </a:p>
          <a:p>
            <a:pPr marL="342900" indent="-342900" algn="l">
              <a:buFont typeface="Arial" panose="020B0604020202020204" pitchFamily="34" charset="0"/>
              <a:buChar char="•"/>
            </a:pPr>
            <a:r>
              <a:rPr lang="en-US" sz="2000" dirty="0">
                <a:latin typeface="Constantia" panose="02030602050306030303" pitchFamily="18" charset="0"/>
              </a:rPr>
              <a:t>Australia and Japan showed higher average ratings, indicating strong content relevance or satisfaction in those regions.</a:t>
            </a:r>
          </a:p>
          <a:p>
            <a:pPr algn="l"/>
            <a:r>
              <a:rPr lang="en-US" sz="2000" b="1" dirty="0">
                <a:latin typeface="Constantia" panose="02030602050306030303" pitchFamily="18" charset="0"/>
              </a:rPr>
              <a:t>Recommendation:</a:t>
            </a:r>
          </a:p>
          <a:p>
            <a:pPr algn="l"/>
            <a:r>
              <a:rPr lang="en-US" sz="2000" dirty="0">
                <a:latin typeface="Constantia" panose="02030602050306030303" pitchFamily="18" charset="0"/>
              </a:rPr>
              <a:t>We can Implement optional surveys after 1–2 star ratings to understand dissatisfaction and guide improvements.</a:t>
            </a: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7</a:t>
            </a:fld>
            <a:endParaRPr lang="en-US" dirty="0"/>
          </a:p>
        </p:txBody>
      </p:sp>
      <p:pic>
        <p:nvPicPr>
          <p:cNvPr id="9" name="Picture 8">
            <a:extLst>
              <a:ext uri="{FF2B5EF4-FFF2-40B4-BE49-F238E27FC236}">
                <a16:creationId xmlns:a16="http://schemas.microsoft.com/office/drawing/2014/main" id="{1EEDB79C-6DCF-A36C-A053-946422CE0BBE}"/>
              </a:ext>
            </a:extLst>
          </p:cNvPr>
          <p:cNvPicPr>
            <a:picLocks noChangeAspect="1"/>
          </p:cNvPicPr>
          <p:nvPr/>
        </p:nvPicPr>
        <p:blipFill>
          <a:blip r:embed="rId2"/>
          <a:stretch>
            <a:fillRect/>
          </a:stretch>
        </p:blipFill>
        <p:spPr>
          <a:xfrm>
            <a:off x="6413954" y="4506699"/>
            <a:ext cx="3841116" cy="2038109"/>
          </a:xfrm>
          <a:prstGeom prst="rect">
            <a:avLst/>
          </a:prstGeom>
        </p:spPr>
      </p:pic>
      <p:pic>
        <p:nvPicPr>
          <p:cNvPr id="12" name="Picture 11">
            <a:extLst>
              <a:ext uri="{FF2B5EF4-FFF2-40B4-BE49-F238E27FC236}">
                <a16:creationId xmlns:a16="http://schemas.microsoft.com/office/drawing/2014/main" id="{0C6EAB8B-25C2-2AFB-C8B4-AD817D292A44}"/>
              </a:ext>
            </a:extLst>
          </p:cNvPr>
          <p:cNvPicPr>
            <a:picLocks noChangeAspect="1"/>
          </p:cNvPicPr>
          <p:nvPr/>
        </p:nvPicPr>
        <p:blipFill>
          <a:blip r:embed="rId3"/>
          <a:stretch>
            <a:fillRect/>
          </a:stretch>
        </p:blipFill>
        <p:spPr>
          <a:xfrm>
            <a:off x="1291929" y="4518991"/>
            <a:ext cx="5122025" cy="2025817"/>
          </a:xfrm>
          <a:prstGeom prst="rect">
            <a:avLst/>
          </a:prstGeom>
        </p:spPr>
      </p:pic>
    </p:spTree>
    <p:extLst>
      <p:ext uri="{BB962C8B-B14F-4D97-AF65-F5344CB8AC3E}">
        <p14:creationId xmlns:p14="http://schemas.microsoft.com/office/powerpoint/2010/main" val="2094096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63550-B5DE-A972-BA1C-A5CC4A49371B}"/>
              </a:ext>
            </a:extLst>
          </p:cNvPr>
          <p:cNvSpPr>
            <a:spLocks noGrp="1"/>
          </p:cNvSpPr>
          <p:nvPr>
            <p:ph type="ctrTitle"/>
          </p:nvPr>
        </p:nvSpPr>
        <p:spPr>
          <a:xfrm>
            <a:off x="-119270" y="507244"/>
            <a:ext cx="10782015" cy="1083017"/>
          </a:xfrm>
        </p:spPr>
        <p:txBody>
          <a:bodyPr/>
          <a:lstStyle/>
          <a:p>
            <a:r>
              <a:rPr lang="en-US" dirty="0"/>
              <a:t>	</a:t>
            </a:r>
            <a:r>
              <a:rPr lang="en-US" sz="3200" u="sng" dirty="0">
                <a:latin typeface="Constantia" panose="02030602050306030303" pitchFamily="18" charset="0"/>
              </a:rPr>
              <a:t>Trending Content Analysis:</a:t>
            </a:r>
          </a:p>
        </p:txBody>
      </p:sp>
      <p:sp>
        <p:nvSpPr>
          <p:cNvPr id="3" name="Subtitle 2">
            <a:extLst>
              <a:ext uri="{FF2B5EF4-FFF2-40B4-BE49-F238E27FC236}">
                <a16:creationId xmlns:a16="http://schemas.microsoft.com/office/drawing/2014/main" id="{BE6CEDB1-152B-8709-4EF0-F0FF68EA71B7}"/>
              </a:ext>
            </a:extLst>
          </p:cNvPr>
          <p:cNvSpPr>
            <a:spLocks noGrp="1"/>
          </p:cNvSpPr>
          <p:nvPr>
            <p:ph type="subTitle" idx="1"/>
          </p:nvPr>
        </p:nvSpPr>
        <p:spPr>
          <a:xfrm>
            <a:off x="689113" y="1789044"/>
            <a:ext cx="10442713" cy="4083238"/>
          </a:xfrm>
        </p:spPr>
        <p:txBody>
          <a:bodyPr>
            <a:normAutofit/>
          </a:bodyPr>
          <a:lstStyle/>
          <a:p>
            <a:pPr marL="342900" indent="-342900" algn="l">
              <a:buFont typeface="Arial" panose="020B0604020202020204" pitchFamily="34" charset="0"/>
              <a:buChar char="•"/>
            </a:pPr>
            <a:r>
              <a:rPr lang="en-US" sz="2000" dirty="0">
                <a:latin typeface="Constantia" panose="02030602050306030303" pitchFamily="18" charset="0"/>
              </a:rPr>
              <a:t>This chart shows that older content (added before the last 2 years) has a slightly higher average rating (3.02) than recent content (3.01).</a:t>
            </a:r>
          </a:p>
          <a:p>
            <a:pPr marL="342900" indent="-342900" algn="l">
              <a:buFont typeface="Arial" panose="020B0604020202020204" pitchFamily="34" charset="0"/>
              <a:buChar char="•"/>
            </a:pPr>
            <a:r>
              <a:rPr lang="en-US" sz="2000" dirty="0">
                <a:latin typeface="Constantia" panose="02030602050306030303" pitchFamily="18" charset="0"/>
              </a:rPr>
              <a:t>The difference is minimal but suggests that older titles may be more consistently well-received.</a:t>
            </a:r>
          </a:p>
          <a:p>
            <a:pPr algn="l"/>
            <a:r>
              <a:rPr lang="en-US" sz="2000" b="1" dirty="0">
                <a:latin typeface="Constantia" panose="02030602050306030303" pitchFamily="18" charset="0"/>
              </a:rPr>
              <a:t>Recommendation:</a:t>
            </a:r>
          </a:p>
          <a:p>
            <a:pPr algn="l"/>
            <a:r>
              <a:rPr lang="en-US" sz="2000" dirty="0">
                <a:latin typeface="Constantia" panose="02030602050306030303" pitchFamily="18" charset="0"/>
              </a:rPr>
              <a:t>Since older content performs slightly better and likely has better reviews. Netflix can re-promote some of the movies/shows. </a:t>
            </a:r>
          </a:p>
        </p:txBody>
      </p:sp>
      <p:sp>
        <p:nvSpPr>
          <p:cNvPr id="4" name="Slide Number Placeholder 3">
            <a:extLst>
              <a:ext uri="{FF2B5EF4-FFF2-40B4-BE49-F238E27FC236}">
                <a16:creationId xmlns:a16="http://schemas.microsoft.com/office/drawing/2014/main" id="{57D7696D-4680-BEFD-53F1-BF3D2A9DAEA1}"/>
              </a:ext>
            </a:extLst>
          </p:cNvPr>
          <p:cNvSpPr>
            <a:spLocks noGrp="1"/>
          </p:cNvSpPr>
          <p:nvPr>
            <p:ph type="sldNum" sz="quarter" idx="12"/>
          </p:nvPr>
        </p:nvSpPr>
        <p:spPr/>
        <p:txBody>
          <a:bodyPr/>
          <a:lstStyle/>
          <a:p>
            <a:fld id="{294A09A9-5501-47C1-A89A-A340965A2BE2}" type="slidenum">
              <a:rPr lang="en-US" smtClean="0"/>
              <a:pPr/>
              <a:t>8</a:t>
            </a:fld>
            <a:endParaRPr lang="en-US" dirty="0"/>
          </a:p>
        </p:txBody>
      </p:sp>
      <p:pic>
        <p:nvPicPr>
          <p:cNvPr id="7" name="Picture 6">
            <a:extLst>
              <a:ext uri="{FF2B5EF4-FFF2-40B4-BE49-F238E27FC236}">
                <a16:creationId xmlns:a16="http://schemas.microsoft.com/office/drawing/2014/main" id="{004E057B-6043-3DA5-F21F-63CC76D05AE6}"/>
              </a:ext>
            </a:extLst>
          </p:cNvPr>
          <p:cNvPicPr>
            <a:picLocks noChangeAspect="1"/>
          </p:cNvPicPr>
          <p:nvPr/>
        </p:nvPicPr>
        <p:blipFill>
          <a:blip r:embed="rId2"/>
          <a:stretch>
            <a:fillRect/>
          </a:stretch>
        </p:blipFill>
        <p:spPr>
          <a:xfrm>
            <a:off x="3962400" y="4604828"/>
            <a:ext cx="3687851" cy="1905552"/>
          </a:xfrm>
          <a:prstGeom prst="rect">
            <a:avLst/>
          </a:prstGeom>
        </p:spPr>
      </p:pic>
    </p:spTree>
    <p:extLst>
      <p:ext uri="{BB962C8B-B14F-4D97-AF65-F5344CB8AC3E}">
        <p14:creationId xmlns:p14="http://schemas.microsoft.com/office/powerpoint/2010/main" val="402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742121"/>
            <a:ext cx="10039196" cy="928095"/>
          </a:xfrm>
        </p:spPr>
        <p:txBody>
          <a:bodyPr>
            <a:normAutofit/>
          </a:bodyPr>
          <a:lstStyle/>
          <a:p>
            <a:pPr marL="342900" marR="0" lvl="0" indent="-342900">
              <a:lnSpc>
                <a:spcPct val="150000"/>
              </a:lnSpc>
              <a:spcBef>
                <a:spcPts val="0"/>
              </a:spcBef>
              <a:spcAft>
                <a:spcPts val="0"/>
              </a:spcAft>
            </a:pPr>
            <a:r>
              <a:rPr lang="en-US" sz="3600" u="sng" strike="noStrike" dirty="0">
                <a:effectLst/>
                <a:latin typeface="Constantia" panose="02030602050306030303" pitchFamily="18" charset="0"/>
                <a:ea typeface="Arial" panose="020B0604020202020204" pitchFamily="34" charset="0"/>
              </a:rPr>
              <a:t>Market Insights &amp; Revenue Analysis</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1792356"/>
            <a:ext cx="10641495" cy="3273287"/>
          </a:xfrm>
        </p:spPr>
        <p:txBody>
          <a:bodyPr>
            <a:normAutofit/>
          </a:bodyPr>
          <a:lstStyle/>
          <a:p>
            <a:pPr algn="l"/>
            <a:r>
              <a:rPr lang="en-US" sz="2000" dirty="0">
                <a:latin typeface="Constantia" panose="02030602050306030303" pitchFamily="18" charset="0"/>
              </a:rPr>
              <a:t>Standard plan accounts for the largest share of Netflix subscriptions globally. This study suggests most users prefer cost-effective plans, possibly due to lower content consumption needs or price sensitivity.</a:t>
            </a:r>
          </a:p>
          <a:p>
            <a:pPr algn="l"/>
            <a:r>
              <a:rPr lang="en-US" sz="2000" b="1" dirty="0">
                <a:latin typeface="Constantia" panose="02030602050306030303" pitchFamily="18" charset="0"/>
              </a:rPr>
              <a:t>Recommendation:</a:t>
            </a:r>
            <a:endParaRPr lang="en-US" sz="2000" dirty="0">
              <a:latin typeface="Constantia" panose="02030602050306030303" pitchFamily="18" charset="0"/>
            </a:endParaRPr>
          </a:p>
          <a:p>
            <a:pPr algn="l"/>
            <a:r>
              <a:rPr lang="en-US" sz="2000" dirty="0">
                <a:latin typeface="Constantia" panose="02030602050306030303" pitchFamily="18" charset="0"/>
              </a:rPr>
              <a:t>Run free trial offers or highlight exclusive benefits to attract more Premium users.</a:t>
            </a: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9</a:t>
            </a:fld>
            <a:endParaRPr lang="en-US" dirty="0"/>
          </a:p>
        </p:txBody>
      </p:sp>
      <p:pic>
        <p:nvPicPr>
          <p:cNvPr id="10" name="Picture 9">
            <a:extLst>
              <a:ext uri="{FF2B5EF4-FFF2-40B4-BE49-F238E27FC236}">
                <a16:creationId xmlns:a16="http://schemas.microsoft.com/office/drawing/2014/main" id="{D1859F1D-5523-DC36-1142-011A41C83D1B}"/>
              </a:ext>
            </a:extLst>
          </p:cNvPr>
          <p:cNvPicPr>
            <a:picLocks noChangeAspect="1"/>
          </p:cNvPicPr>
          <p:nvPr/>
        </p:nvPicPr>
        <p:blipFill>
          <a:blip r:embed="rId2"/>
          <a:stretch>
            <a:fillRect/>
          </a:stretch>
        </p:blipFill>
        <p:spPr>
          <a:xfrm>
            <a:off x="1806642" y="3922643"/>
            <a:ext cx="7328452" cy="2587737"/>
          </a:xfrm>
          <a:prstGeom prst="rect">
            <a:avLst/>
          </a:prstGeom>
        </p:spPr>
      </p:pic>
    </p:spTree>
    <p:extLst>
      <p:ext uri="{BB962C8B-B14F-4D97-AF65-F5344CB8AC3E}">
        <p14:creationId xmlns:p14="http://schemas.microsoft.com/office/powerpoint/2010/main" val="42679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742121"/>
            <a:ext cx="10039196" cy="928095"/>
          </a:xfrm>
        </p:spPr>
        <p:txBody>
          <a:bodyPr>
            <a:normAutofit/>
          </a:bodyPr>
          <a:lstStyle/>
          <a:p>
            <a:pPr marL="342900" marR="0" lvl="0" indent="-342900">
              <a:lnSpc>
                <a:spcPct val="150000"/>
              </a:lnSpc>
              <a:spcBef>
                <a:spcPts val="0"/>
              </a:spcBef>
              <a:spcAft>
                <a:spcPts val="0"/>
              </a:spcAft>
            </a:pPr>
            <a:r>
              <a:rPr lang="en-US" sz="3600" u="sng" strike="noStrike" dirty="0">
                <a:effectLst/>
                <a:latin typeface="Constantia" panose="02030602050306030303" pitchFamily="18" charset="0"/>
                <a:ea typeface="Arial" panose="020B0604020202020204" pitchFamily="34" charset="0"/>
              </a:rPr>
              <a:t>Customer Retention Insights</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2067339"/>
            <a:ext cx="10641495" cy="3273287"/>
          </a:xfrm>
        </p:spPr>
        <p:txBody>
          <a:bodyPr>
            <a:normAutofit/>
          </a:bodyPr>
          <a:lstStyle/>
          <a:p>
            <a:pPr algn="l"/>
            <a:r>
              <a:rPr lang="en-US" sz="2000" dirty="0">
                <a:latin typeface="Constantia" panose="02030602050306030303" pitchFamily="18" charset="0"/>
              </a:rPr>
              <a:t>After analyzing the dataset, most customers appear to have watched only one show (one entry per customer).This suggests that customer engagement is low users may try the service but not continue watching more content.</a:t>
            </a:r>
          </a:p>
          <a:p>
            <a:pPr algn="l"/>
            <a:r>
              <a:rPr lang="en-US" sz="2000" b="1" dirty="0">
                <a:latin typeface="Constantia" panose="02030602050306030303" pitchFamily="18" charset="0"/>
              </a:rPr>
              <a:t>Recommendation:</a:t>
            </a:r>
          </a:p>
          <a:p>
            <a:pPr algn="l"/>
            <a:r>
              <a:rPr lang="en-US" sz="2000" dirty="0">
                <a:latin typeface="Constantia" panose="02030602050306030303" pitchFamily="18" charset="0"/>
              </a:rPr>
              <a:t>Focus on retaining high watch-time users by offering Premium content, early access, or loyalty programs.</a:t>
            </a: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10</a:t>
            </a:fld>
            <a:endParaRPr lang="en-US" dirty="0"/>
          </a:p>
        </p:txBody>
      </p:sp>
      <p:pic>
        <p:nvPicPr>
          <p:cNvPr id="6" name="Picture 5">
            <a:extLst>
              <a:ext uri="{FF2B5EF4-FFF2-40B4-BE49-F238E27FC236}">
                <a16:creationId xmlns:a16="http://schemas.microsoft.com/office/drawing/2014/main" id="{B070B3BD-A442-5582-249D-25ED8CEFA60A}"/>
              </a:ext>
            </a:extLst>
          </p:cNvPr>
          <p:cNvPicPr>
            <a:picLocks noChangeAspect="1"/>
          </p:cNvPicPr>
          <p:nvPr/>
        </p:nvPicPr>
        <p:blipFill>
          <a:blip r:embed="rId2"/>
          <a:stretch>
            <a:fillRect/>
          </a:stretch>
        </p:blipFill>
        <p:spPr>
          <a:xfrm>
            <a:off x="4168916" y="4366128"/>
            <a:ext cx="3550757" cy="1948996"/>
          </a:xfrm>
          <a:prstGeom prst="rect">
            <a:avLst/>
          </a:prstGeom>
        </p:spPr>
      </p:pic>
    </p:spTree>
    <p:extLst>
      <p:ext uri="{BB962C8B-B14F-4D97-AF65-F5344CB8AC3E}">
        <p14:creationId xmlns:p14="http://schemas.microsoft.com/office/powerpoint/2010/main" val="1635012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742121"/>
            <a:ext cx="10039196" cy="775253"/>
          </a:xfrm>
        </p:spPr>
        <p:txBody>
          <a:bodyPr>
            <a:normAutofit fontScale="90000"/>
          </a:bodyPr>
          <a:lstStyle/>
          <a:p>
            <a:pPr marL="342900" marR="0" lvl="0" indent="-342900">
              <a:lnSpc>
                <a:spcPct val="150000"/>
              </a:lnSpc>
              <a:spcBef>
                <a:spcPts val="0"/>
              </a:spcBef>
              <a:spcAft>
                <a:spcPts val="0"/>
              </a:spcAft>
            </a:pPr>
            <a:r>
              <a:rPr lang="en-US" sz="3600" u="sng" strike="noStrike" dirty="0">
                <a:effectLst/>
                <a:latin typeface="Constantia" panose="02030602050306030303" pitchFamily="18" charset="0"/>
                <a:ea typeface="Arial" panose="020B0604020202020204" pitchFamily="34" charset="0"/>
              </a:rPr>
              <a:t>High-Rated vs. Low-Rated Content:</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9" y="1670216"/>
            <a:ext cx="10899712" cy="3670410"/>
          </a:xfrm>
        </p:spPr>
        <p:txBody>
          <a:bodyPr>
            <a:normAutofit/>
          </a:bodyPr>
          <a:lstStyle/>
          <a:p>
            <a:pPr marL="342900" indent="-342900" algn="l">
              <a:buFont typeface="Arial" panose="020B0604020202020204" pitchFamily="34" charset="0"/>
              <a:buChar char="•"/>
            </a:pPr>
            <a:r>
              <a:rPr lang="en-US" sz="2000" dirty="0">
                <a:latin typeface="Constantia" panose="02030602050306030303" pitchFamily="18" charset="0"/>
              </a:rPr>
              <a:t> Highest Rated Genres : Action, Romance, and Drama consistently receive the highest average customer ratings.</a:t>
            </a:r>
          </a:p>
          <a:p>
            <a:pPr marL="342900" indent="-342900" algn="l">
              <a:buFont typeface="Arial" panose="020B0604020202020204" pitchFamily="34" charset="0"/>
              <a:buChar char="•"/>
            </a:pPr>
            <a:r>
              <a:rPr lang="en-US" sz="2000" dirty="0">
                <a:latin typeface="Constantia" panose="02030602050306030303" pitchFamily="18" charset="0"/>
              </a:rPr>
              <a:t> Lowest Rated Genres : Sci-Fi, Horror, and Thriller genres have the lowest average ratings.</a:t>
            </a:r>
          </a:p>
          <a:p>
            <a:pPr marL="342900" indent="-342900" algn="l">
              <a:buFont typeface="Arial" panose="020B0604020202020204" pitchFamily="34" charset="0"/>
              <a:buChar char="•"/>
            </a:pPr>
            <a:r>
              <a:rPr lang="en-US" sz="2000" dirty="0">
                <a:latin typeface="Constantia" panose="02030602050306030303" pitchFamily="18" charset="0"/>
              </a:rPr>
              <a:t>TV Shows have a higher average rating compared to Movies, suggesting stronger viewer engagement or satisfaction with series content.</a:t>
            </a:r>
          </a:p>
          <a:p>
            <a:pPr algn="l"/>
            <a:r>
              <a:rPr lang="en-US" sz="2000" b="1" dirty="0">
                <a:latin typeface="Constantia" panose="02030602050306030303" pitchFamily="18" charset="0"/>
              </a:rPr>
              <a:t>Recommendation:</a:t>
            </a:r>
          </a:p>
          <a:p>
            <a:pPr algn="l"/>
            <a:r>
              <a:rPr lang="en-US" sz="1800" dirty="0">
                <a:latin typeface="Constantia" panose="02030602050306030303" pitchFamily="18" charset="0"/>
              </a:rPr>
              <a:t>Review and improve content in underperforming genres (Sci-Fi, Horror, Thriller)  explore better storytelling or casting</a:t>
            </a:r>
            <a:r>
              <a:rPr lang="en-US" sz="1400" dirty="0"/>
              <a:t>.</a:t>
            </a:r>
            <a:endParaRPr lang="en-US" sz="2000" dirty="0">
              <a:latin typeface="Constantia" panose="02030602050306030303" pitchFamily="18" charset="0"/>
            </a:endParaRPr>
          </a:p>
          <a:p>
            <a:pPr algn="l"/>
            <a:endParaRPr lang="en-US" sz="2000" dirty="0">
              <a:latin typeface="Constantia" panose="02030602050306030303" pitchFamily="18" charset="0"/>
            </a:endParaRP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11</a:t>
            </a:fld>
            <a:endParaRPr lang="en-US" dirty="0"/>
          </a:p>
        </p:txBody>
      </p:sp>
      <p:pic>
        <p:nvPicPr>
          <p:cNvPr id="5" name="Picture 4">
            <a:extLst>
              <a:ext uri="{FF2B5EF4-FFF2-40B4-BE49-F238E27FC236}">
                <a16:creationId xmlns:a16="http://schemas.microsoft.com/office/drawing/2014/main" id="{546B2B48-A127-06DB-E7D3-05E41D6475EF}"/>
              </a:ext>
            </a:extLst>
          </p:cNvPr>
          <p:cNvPicPr>
            <a:picLocks noChangeAspect="1"/>
          </p:cNvPicPr>
          <p:nvPr/>
        </p:nvPicPr>
        <p:blipFill>
          <a:blip r:embed="rId2"/>
          <a:stretch>
            <a:fillRect/>
          </a:stretch>
        </p:blipFill>
        <p:spPr>
          <a:xfrm>
            <a:off x="3247494" y="4792278"/>
            <a:ext cx="6177859" cy="1718102"/>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B4243751-E0C9-3685-6F08-6BC0E6C68DD5}"/>
              </a:ext>
            </a:extLst>
          </p:cNvPr>
          <p:cNvPicPr>
            <a:picLocks noChangeAspect="1"/>
          </p:cNvPicPr>
          <p:nvPr/>
        </p:nvPicPr>
        <p:blipFill>
          <a:blip r:embed="rId3"/>
          <a:stretch>
            <a:fillRect/>
          </a:stretch>
        </p:blipFill>
        <p:spPr>
          <a:xfrm>
            <a:off x="6336423" y="4799347"/>
            <a:ext cx="3193366" cy="1718101"/>
          </a:xfrm>
          <a:prstGeom prst="rect">
            <a:avLst/>
          </a:prstGeom>
        </p:spPr>
      </p:pic>
    </p:spTree>
    <p:extLst>
      <p:ext uri="{BB962C8B-B14F-4D97-AF65-F5344CB8AC3E}">
        <p14:creationId xmlns:p14="http://schemas.microsoft.com/office/powerpoint/2010/main" val="178636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623548" y="742121"/>
            <a:ext cx="10039196" cy="928095"/>
          </a:xfrm>
        </p:spPr>
        <p:txBody>
          <a:bodyPr>
            <a:normAutofit/>
          </a:bodyPr>
          <a:lstStyle/>
          <a:p>
            <a:pPr marL="342900" marR="0" lvl="0" indent="-342900">
              <a:lnSpc>
                <a:spcPct val="150000"/>
              </a:lnSpc>
              <a:spcBef>
                <a:spcPts val="0"/>
              </a:spcBef>
              <a:spcAft>
                <a:spcPts val="0"/>
              </a:spcAft>
            </a:pPr>
            <a:r>
              <a:rPr lang="en-US" sz="3600" u="sng" strike="noStrike" dirty="0">
                <a:effectLst/>
                <a:latin typeface="Constantia" panose="02030602050306030303" pitchFamily="18" charset="0"/>
                <a:ea typeface="Arial" panose="020B0604020202020204" pitchFamily="34" charset="0"/>
              </a:rPr>
              <a:t>Business Decision-Making Scenarios</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623548" y="2067339"/>
            <a:ext cx="10641495" cy="3273287"/>
          </a:xfrm>
        </p:spPr>
        <p:txBody>
          <a:bodyPr>
            <a:normAutofit/>
          </a:bodyPr>
          <a:lstStyle/>
          <a:p>
            <a:pPr algn="l"/>
            <a:r>
              <a:rPr lang="en-US" sz="2000" dirty="0">
                <a:latin typeface="Constantia" panose="02030602050306030303" pitchFamily="18" charset="0"/>
              </a:rPr>
              <a:t>A total of more directors and cast members received an average rating of 5, indicating that multiple creators consistently delivered highly-rated content.</a:t>
            </a:r>
          </a:p>
          <a:p>
            <a:pPr algn="l"/>
            <a:r>
              <a:rPr lang="en-US" sz="2000" dirty="0">
                <a:latin typeface="Constantia" panose="02030602050306030303" pitchFamily="18" charset="0"/>
              </a:rPr>
              <a:t>We can leverage popular cast members so, viewers may be more likely to watch content with familiar, well-liked actors</a:t>
            </a:r>
            <a:r>
              <a:rPr lang="en-US" sz="1400" dirty="0"/>
              <a:t>.</a:t>
            </a:r>
            <a:endParaRPr lang="en-US" sz="2000" dirty="0">
              <a:latin typeface="Constantia" panose="02030602050306030303" pitchFamily="18" charset="0"/>
            </a:endParaRP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a:xfrm>
            <a:off x="10922000" y="6145255"/>
            <a:ext cx="845114" cy="365125"/>
          </a:xfrm>
        </p:spPr>
        <p:txBody>
          <a:bodyPr/>
          <a:lstStyle/>
          <a:p>
            <a:fld id="{294A09A9-5501-47C1-A89A-A340965A2BE2}" type="slidenum">
              <a:rPr lang="en-US" smtClean="0"/>
              <a:pPr/>
              <a:t>12</a:t>
            </a:fld>
            <a:endParaRPr lang="en-US" dirty="0"/>
          </a:p>
        </p:txBody>
      </p:sp>
      <p:pic>
        <p:nvPicPr>
          <p:cNvPr id="6" name="Picture 5">
            <a:extLst>
              <a:ext uri="{FF2B5EF4-FFF2-40B4-BE49-F238E27FC236}">
                <a16:creationId xmlns:a16="http://schemas.microsoft.com/office/drawing/2014/main" id="{D1683CF4-9A2E-A408-A7D0-D0CC2040B3C5}"/>
              </a:ext>
            </a:extLst>
          </p:cNvPr>
          <p:cNvPicPr>
            <a:picLocks noChangeAspect="1"/>
          </p:cNvPicPr>
          <p:nvPr/>
        </p:nvPicPr>
        <p:blipFill>
          <a:blip r:embed="rId2"/>
          <a:stretch>
            <a:fillRect/>
          </a:stretch>
        </p:blipFill>
        <p:spPr>
          <a:xfrm>
            <a:off x="3299791" y="4048112"/>
            <a:ext cx="3675743" cy="2269421"/>
          </a:xfrm>
          <a:prstGeom prst="rect">
            <a:avLst/>
          </a:prstGeom>
        </p:spPr>
      </p:pic>
    </p:spTree>
    <p:extLst>
      <p:ext uri="{BB962C8B-B14F-4D97-AF65-F5344CB8AC3E}">
        <p14:creationId xmlns:p14="http://schemas.microsoft.com/office/powerpoint/2010/main" val="4281150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8558-777C-5474-D818-16A49338B52A}"/>
              </a:ext>
            </a:extLst>
          </p:cNvPr>
          <p:cNvSpPr>
            <a:spLocks noGrp="1"/>
          </p:cNvSpPr>
          <p:nvPr>
            <p:ph type="ctrTitle"/>
          </p:nvPr>
        </p:nvSpPr>
        <p:spPr>
          <a:xfrm>
            <a:off x="662609" y="507244"/>
            <a:ext cx="10000136" cy="884234"/>
          </a:xfrm>
        </p:spPr>
        <p:txBody>
          <a:bodyPr>
            <a:normAutofit/>
          </a:bodyPr>
          <a:lstStyle/>
          <a:p>
            <a:pPr marL="342900" indent="-342900">
              <a:lnSpc>
                <a:spcPct val="150000"/>
              </a:lnSpc>
              <a:spcBef>
                <a:spcPts val="0"/>
              </a:spcBef>
            </a:pPr>
            <a:r>
              <a:rPr lang="en-US" sz="3600" u="sng" dirty="0">
                <a:latin typeface="Constantia" panose="02030602050306030303" pitchFamily="18" charset="0"/>
              </a:rPr>
              <a:t>Content Localization Strategy</a:t>
            </a:r>
          </a:p>
        </p:txBody>
      </p:sp>
      <p:sp>
        <p:nvSpPr>
          <p:cNvPr id="3" name="Subtitle 2">
            <a:extLst>
              <a:ext uri="{FF2B5EF4-FFF2-40B4-BE49-F238E27FC236}">
                <a16:creationId xmlns:a16="http://schemas.microsoft.com/office/drawing/2014/main" id="{65A43B7E-2AD1-FDFF-1496-EBC9BA9EEA6D}"/>
              </a:ext>
            </a:extLst>
          </p:cNvPr>
          <p:cNvSpPr>
            <a:spLocks noGrp="1"/>
          </p:cNvSpPr>
          <p:nvPr>
            <p:ph type="subTitle" idx="1"/>
          </p:nvPr>
        </p:nvSpPr>
        <p:spPr>
          <a:xfrm>
            <a:off x="569843" y="1656522"/>
            <a:ext cx="10000136" cy="4215760"/>
          </a:xfrm>
        </p:spPr>
        <p:txBody>
          <a:bodyPr>
            <a:normAutofit/>
          </a:bodyPr>
          <a:lstStyle/>
          <a:p>
            <a:pPr marL="342900" indent="-342900" algn="l">
              <a:buFont typeface="Arial" panose="020B0604020202020204" pitchFamily="34" charset="0"/>
              <a:buChar char="•"/>
            </a:pPr>
            <a:r>
              <a:rPr lang="en-US" sz="2000" dirty="0">
                <a:latin typeface="Constantia" panose="02030602050306030303" pitchFamily="18" charset="0"/>
              </a:rPr>
              <a:t>UK and South Korea have the lowest content availability (below 1000 titles).These regions also show low watch time and user ratings.</a:t>
            </a:r>
          </a:p>
          <a:p>
            <a:pPr marL="342900" indent="-342900" algn="l">
              <a:buFont typeface="Arial" panose="020B0604020202020204" pitchFamily="34" charset="0"/>
              <a:buChar char="•"/>
            </a:pPr>
            <a:r>
              <a:rPr lang="en-US" sz="2000" dirty="0">
                <a:latin typeface="Constantia" panose="02030602050306030303" pitchFamily="18" charset="0"/>
              </a:rPr>
              <a:t>This suggests a possible content gap  users may not find enough or suitable content to watch and rate highly.</a:t>
            </a:r>
          </a:p>
          <a:p>
            <a:pPr algn="l"/>
            <a:r>
              <a:rPr lang="en-US" sz="2000" b="1" dirty="0">
                <a:latin typeface="Constantia" panose="02030602050306030303" pitchFamily="18" charset="0"/>
              </a:rPr>
              <a:t>STRATEGIES:</a:t>
            </a:r>
          </a:p>
          <a:p>
            <a:pPr marL="342900" indent="-342900" algn="l">
              <a:buFont typeface="Arial" panose="020B0604020202020204" pitchFamily="34" charset="0"/>
              <a:buChar char="•"/>
            </a:pPr>
            <a:r>
              <a:rPr lang="en-US" sz="2000" dirty="0">
                <a:latin typeface="Constantia" panose="02030602050306030303" pitchFamily="18" charset="0"/>
              </a:rPr>
              <a:t>Increase the quantity of content and variety of content aligned with current preferences . Promote high-rated genres and most popular like Fantasy, Romance, and Drama in these countries.</a:t>
            </a:r>
          </a:p>
        </p:txBody>
      </p:sp>
      <p:sp>
        <p:nvSpPr>
          <p:cNvPr id="4" name="Slide Number Placeholder 3">
            <a:extLst>
              <a:ext uri="{FF2B5EF4-FFF2-40B4-BE49-F238E27FC236}">
                <a16:creationId xmlns:a16="http://schemas.microsoft.com/office/drawing/2014/main" id="{A1FA1951-006C-E639-3365-4EF45FD4F464}"/>
              </a:ext>
            </a:extLst>
          </p:cNvPr>
          <p:cNvSpPr>
            <a:spLocks noGrp="1"/>
          </p:cNvSpPr>
          <p:nvPr>
            <p:ph type="sldNum" sz="quarter" idx="12"/>
          </p:nvPr>
        </p:nvSpPr>
        <p:spPr/>
        <p:txBody>
          <a:bodyPr/>
          <a:lstStyle/>
          <a:p>
            <a:fld id="{294A09A9-5501-47C1-A89A-A340965A2BE2}" type="slidenum">
              <a:rPr lang="en-US" smtClean="0"/>
              <a:pPr/>
              <a:t>13</a:t>
            </a:fld>
            <a:endParaRPr lang="en-US" dirty="0"/>
          </a:p>
        </p:txBody>
      </p:sp>
      <p:pic>
        <p:nvPicPr>
          <p:cNvPr id="8" name="Picture 7">
            <a:extLst>
              <a:ext uri="{FF2B5EF4-FFF2-40B4-BE49-F238E27FC236}">
                <a16:creationId xmlns:a16="http://schemas.microsoft.com/office/drawing/2014/main" id="{319979FA-F090-AE37-8D1F-1F785FED402C}"/>
              </a:ext>
            </a:extLst>
          </p:cNvPr>
          <p:cNvPicPr>
            <a:picLocks noChangeAspect="1"/>
          </p:cNvPicPr>
          <p:nvPr/>
        </p:nvPicPr>
        <p:blipFill>
          <a:blip r:embed="rId2"/>
          <a:stretch>
            <a:fillRect/>
          </a:stretch>
        </p:blipFill>
        <p:spPr>
          <a:xfrm>
            <a:off x="3400687" y="4557483"/>
            <a:ext cx="4338448" cy="1952897"/>
          </a:xfrm>
          <a:prstGeom prst="rect">
            <a:avLst/>
          </a:prstGeom>
        </p:spPr>
      </p:pic>
    </p:spTree>
    <p:extLst>
      <p:ext uri="{BB962C8B-B14F-4D97-AF65-F5344CB8AC3E}">
        <p14:creationId xmlns:p14="http://schemas.microsoft.com/office/powerpoint/2010/main" val="2325611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D9FA-123D-9FCF-BD9C-59EA1AC3D4C8}"/>
              </a:ext>
            </a:extLst>
          </p:cNvPr>
          <p:cNvSpPr>
            <a:spLocks noGrp="1"/>
          </p:cNvSpPr>
          <p:nvPr>
            <p:ph type="ctrTitle"/>
          </p:nvPr>
        </p:nvSpPr>
        <p:spPr>
          <a:xfrm>
            <a:off x="569843" y="507244"/>
            <a:ext cx="10092901" cy="1255295"/>
          </a:xfrm>
        </p:spPr>
        <p:txBody>
          <a:bodyPr>
            <a:normAutofit/>
          </a:bodyPr>
          <a:lstStyle/>
          <a:p>
            <a:pPr marL="342900" marR="0" lvl="0" indent="-342900">
              <a:lnSpc>
                <a:spcPct val="150000"/>
              </a:lnSpc>
              <a:spcBef>
                <a:spcPts val="0"/>
              </a:spcBef>
              <a:spcAft>
                <a:spcPts val="0"/>
              </a:spcAft>
            </a:pPr>
            <a:r>
              <a:rPr lang="en-US" sz="3600" u="sng" dirty="0">
                <a:latin typeface="Constantia" panose="02030602050306030303" pitchFamily="18" charset="0"/>
              </a:rPr>
              <a:t>Best Time to Release New Content</a:t>
            </a:r>
          </a:p>
        </p:txBody>
      </p:sp>
      <p:sp>
        <p:nvSpPr>
          <p:cNvPr id="3" name="Subtitle 2">
            <a:extLst>
              <a:ext uri="{FF2B5EF4-FFF2-40B4-BE49-F238E27FC236}">
                <a16:creationId xmlns:a16="http://schemas.microsoft.com/office/drawing/2014/main" id="{E3D34FDC-0BA3-240B-FD07-F7D25460797A}"/>
              </a:ext>
            </a:extLst>
          </p:cNvPr>
          <p:cNvSpPr>
            <a:spLocks noGrp="1"/>
          </p:cNvSpPr>
          <p:nvPr>
            <p:ph type="subTitle" idx="1"/>
          </p:nvPr>
        </p:nvSpPr>
        <p:spPr>
          <a:xfrm>
            <a:off x="940904" y="1855304"/>
            <a:ext cx="8698396" cy="4016977"/>
          </a:xfrm>
        </p:spPr>
        <p:txBody>
          <a:bodyPr>
            <a:normAutofit/>
          </a:bodyPr>
          <a:lstStyle/>
          <a:p>
            <a:pPr marL="342900" indent="-342900" algn="l">
              <a:buFont typeface="Arial" panose="020B0604020202020204" pitchFamily="34" charset="0"/>
              <a:buChar char="•"/>
            </a:pPr>
            <a:r>
              <a:rPr lang="en-US" sz="2000" dirty="0">
                <a:latin typeface="Constantia" panose="02030602050306030303" pitchFamily="18" charset="0"/>
              </a:rPr>
              <a:t>Upon analyzing, July is the best month to release new content. It combines high content volume with the highest user satisfaction 3.14 average rating. </a:t>
            </a:r>
          </a:p>
          <a:p>
            <a:pPr marL="342900" indent="-342900" algn="l">
              <a:buFont typeface="Arial" panose="020B0604020202020204" pitchFamily="34" charset="0"/>
              <a:buChar char="•"/>
            </a:pPr>
            <a:r>
              <a:rPr lang="en-US" sz="2000" dirty="0">
                <a:latin typeface="Constantia" panose="02030602050306030303" pitchFamily="18" charset="0"/>
              </a:rPr>
              <a:t>October has the highest content volume, but lower user ratings  releasing more doesn’t mean users are happier.</a:t>
            </a:r>
          </a:p>
          <a:p>
            <a:pPr marL="342900" indent="-342900" algn="l">
              <a:buFont typeface="Arial" panose="020B0604020202020204" pitchFamily="34" charset="0"/>
              <a:buChar char="•"/>
            </a:pPr>
            <a:r>
              <a:rPr lang="en-US" sz="2000" dirty="0">
                <a:latin typeface="Constantia" panose="02030602050306030303" pitchFamily="18" charset="0"/>
              </a:rPr>
              <a:t>Avoid high-volume drops in August and September unless content quality is improved.</a:t>
            </a:r>
          </a:p>
        </p:txBody>
      </p:sp>
      <p:sp>
        <p:nvSpPr>
          <p:cNvPr id="4" name="Slide Number Placeholder 3">
            <a:extLst>
              <a:ext uri="{FF2B5EF4-FFF2-40B4-BE49-F238E27FC236}">
                <a16:creationId xmlns:a16="http://schemas.microsoft.com/office/drawing/2014/main" id="{F7616BCF-53AD-1700-0F02-6E8730FA8014}"/>
              </a:ext>
            </a:extLst>
          </p:cNvPr>
          <p:cNvSpPr>
            <a:spLocks noGrp="1"/>
          </p:cNvSpPr>
          <p:nvPr>
            <p:ph type="sldNum" sz="quarter" idx="12"/>
          </p:nvPr>
        </p:nvSpPr>
        <p:spPr/>
        <p:txBody>
          <a:bodyPr/>
          <a:lstStyle/>
          <a:p>
            <a:fld id="{294A09A9-5501-47C1-A89A-A340965A2BE2}" type="slidenum">
              <a:rPr lang="en-US" smtClean="0"/>
              <a:pPr/>
              <a:t>14</a:t>
            </a:fld>
            <a:endParaRPr lang="en-US" dirty="0"/>
          </a:p>
        </p:txBody>
      </p:sp>
      <p:pic>
        <p:nvPicPr>
          <p:cNvPr id="9" name="Picture 8">
            <a:extLst>
              <a:ext uri="{FF2B5EF4-FFF2-40B4-BE49-F238E27FC236}">
                <a16:creationId xmlns:a16="http://schemas.microsoft.com/office/drawing/2014/main" id="{C6359ACF-8F9D-9FFB-8918-217446E7757C}"/>
              </a:ext>
            </a:extLst>
          </p:cNvPr>
          <p:cNvPicPr>
            <a:picLocks noChangeAspect="1"/>
          </p:cNvPicPr>
          <p:nvPr/>
        </p:nvPicPr>
        <p:blipFill>
          <a:blip r:embed="rId2"/>
          <a:stretch>
            <a:fillRect/>
          </a:stretch>
        </p:blipFill>
        <p:spPr>
          <a:xfrm>
            <a:off x="3553474" y="3863792"/>
            <a:ext cx="3854492" cy="2448267"/>
          </a:xfrm>
          <a:prstGeom prst="rect">
            <a:avLst/>
          </a:prstGeom>
        </p:spPr>
      </p:pic>
    </p:spTree>
    <p:extLst>
      <p:ext uri="{BB962C8B-B14F-4D97-AF65-F5344CB8AC3E}">
        <p14:creationId xmlns:p14="http://schemas.microsoft.com/office/powerpoint/2010/main" val="2940164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EF5E-6B82-98D0-B1A7-E026305E7920}"/>
              </a:ext>
            </a:extLst>
          </p:cNvPr>
          <p:cNvSpPr>
            <a:spLocks noGrp="1"/>
          </p:cNvSpPr>
          <p:nvPr>
            <p:ph type="ctrTitle"/>
          </p:nvPr>
        </p:nvSpPr>
        <p:spPr>
          <a:xfrm>
            <a:off x="1188697" y="719280"/>
            <a:ext cx="9814605" cy="1003504"/>
          </a:xfrm>
        </p:spPr>
        <p:txBody>
          <a:bodyPr>
            <a:normAutofit/>
          </a:bodyPr>
          <a:lstStyle/>
          <a:p>
            <a:pPr marL="342900" indent="-342900">
              <a:lnSpc>
                <a:spcPct val="150000"/>
              </a:lnSpc>
              <a:spcBef>
                <a:spcPts val="0"/>
              </a:spcBef>
            </a:pPr>
            <a:r>
              <a:rPr lang="en-US" sz="3600" u="sng" dirty="0">
                <a:latin typeface="Constantia" panose="02030602050306030303" pitchFamily="18" charset="0"/>
              </a:rPr>
              <a:t>Competitor Benchmarking Simulation</a:t>
            </a:r>
          </a:p>
        </p:txBody>
      </p:sp>
      <p:sp>
        <p:nvSpPr>
          <p:cNvPr id="3" name="Subtitle 2">
            <a:extLst>
              <a:ext uri="{FF2B5EF4-FFF2-40B4-BE49-F238E27FC236}">
                <a16:creationId xmlns:a16="http://schemas.microsoft.com/office/drawing/2014/main" id="{5465B352-31AC-3681-5807-DDEB20640CD2}"/>
              </a:ext>
            </a:extLst>
          </p:cNvPr>
          <p:cNvSpPr>
            <a:spLocks noGrp="1"/>
          </p:cNvSpPr>
          <p:nvPr>
            <p:ph type="subTitle" idx="1"/>
          </p:nvPr>
        </p:nvSpPr>
        <p:spPr>
          <a:xfrm>
            <a:off x="848139" y="1881807"/>
            <a:ext cx="8791161" cy="2464905"/>
          </a:xfrm>
        </p:spPr>
        <p:txBody>
          <a:bodyPr>
            <a:noAutofit/>
          </a:bodyPr>
          <a:lstStyle/>
          <a:p>
            <a:pPr marL="285750" indent="-285750" algn="l">
              <a:buFont typeface="Arial" panose="020B0604020202020204" pitchFamily="34" charset="0"/>
              <a:buChar char="•"/>
            </a:pPr>
            <a:r>
              <a:rPr lang="en-US" sz="1800" b="1" dirty="0">
                <a:latin typeface="Constantia" panose="02030602050306030303" pitchFamily="18" charset="0"/>
              </a:rPr>
              <a:t>Content Availability by Country: France </a:t>
            </a:r>
            <a:r>
              <a:rPr lang="en-US" sz="1800" dirty="0">
                <a:latin typeface="Constantia" panose="02030602050306030303" pitchFamily="18" charset="0"/>
              </a:rPr>
              <a:t>have the highest content availability and </a:t>
            </a:r>
            <a:r>
              <a:rPr lang="en-US" sz="1800" b="1" dirty="0">
                <a:latin typeface="Constantia" panose="02030602050306030303" pitchFamily="18" charset="0"/>
              </a:rPr>
              <a:t>UK </a:t>
            </a:r>
            <a:r>
              <a:rPr lang="en-US" sz="1800" dirty="0">
                <a:latin typeface="Constantia" panose="02030602050306030303" pitchFamily="18" charset="0"/>
              </a:rPr>
              <a:t>have comparatively lower content volume.</a:t>
            </a:r>
          </a:p>
          <a:p>
            <a:pPr marL="285750" indent="-285750" algn="l">
              <a:buFont typeface="Arial" panose="020B0604020202020204" pitchFamily="34" charset="0"/>
              <a:buChar char="•"/>
            </a:pPr>
            <a:r>
              <a:rPr lang="en-US" sz="1800" b="1" dirty="0">
                <a:latin typeface="Constantia" panose="02030602050306030303" pitchFamily="18" charset="0"/>
              </a:rPr>
              <a:t>Average Rating by Country: Australia </a:t>
            </a:r>
            <a:r>
              <a:rPr lang="en-US" sz="1800" dirty="0">
                <a:latin typeface="Constantia" panose="02030602050306030303" pitchFamily="18" charset="0"/>
              </a:rPr>
              <a:t>have the highest user satisfaction </a:t>
            </a:r>
            <a:r>
              <a:rPr lang="en-US" sz="1800" b="1" dirty="0">
                <a:latin typeface="Constantia" panose="02030602050306030303" pitchFamily="18" charset="0"/>
              </a:rPr>
              <a:t>and UK </a:t>
            </a:r>
            <a:r>
              <a:rPr lang="en-US" sz="1800" dirty="0">
                <a:latin typeface="Constantia" panose="02030602050306030303" pitchFamily="18" charset="0"/>
              </a:rPr>
              <a:t>show lower average ratings, despite Germany having high content volume.</a:t>
            </a:r>
          </a:p>
          <a:p>
            <a:pPr marL="285750" indent="-285750" algn="l">
              <a:buFont typeface="Arial" panose="020B0604020202020204" pitchFamily="34" charset="0"/>
              <a:buChar char="•"/>
            </a:pPr>
            <a:r>
              <a:rPr lang="en-US" sz="1800" dirty="0">
                <a:latin typeface="Constantia" panose="02030602050306030303" pitchFamily="18" charset="0"/>
              </a:rPr>
              <a:t> High content volume doesn’t always mean high user satisfaction. Countries like Australia and Japan have better-rated content even with less quantity than France or India.</a:t>
            </a:r>
          </a:p>
          <a:p>
            <a:pPr algn="l"/>
            <a:r>
              <a:rPr lang="en-US" sz="1800" b="1" dirty="0">
                <a:latin typeface="Constantia" panose="02030602050306030303" pitchFamily="18" charset="0"/>
              </a:rPr>
              <a:t>Recommendation</a:t>
            </a:r>
            <a:r>
              <a:rPr lang="en-US" sz="1800" dirty="0">
                <a:latin typeface="Constantia" panose="02030602050306030303" pitchFamily="18" charset="0"/>
              </a:rPr>
              <a:t>:</a:t>
            </a:r>
          </a:p>
          <a:p>
            <a:pPr marL="285750" indent="-285750" algn="l">
              <a:buFont typeface="Wingdings" panose="05000000000000000000" pitchFamily="2" charset="2"/>
              <a:buChar char="v"/>
            </a:pPr>
            <a:r>
              <a:rPr lang="en-US" sz="1800" dirty="0">
                <a:latin typeface="Constantia" panose="02030602050306030303" pitchFamily="18" charset="0"/>
              </a:rPr>
              <a:t> Removing underperforming titles or improving recommendation algorithms.</a:t>
            </a:r>
          </a:p>
          <a:p>
            <a:pPr marL="285750" indent="-285750" algn="l">
              <a:buFont typeface="Wingdings" panose="05000000000000000000" pitchFamily="2" charset="2"/>
              <a:buChar char="v"/>
            </a:pPr>
            <a:r>
              <a:rPr lang="en-US" sz="1800" dirty="0">
                <a:latin typeface="Constantia" panose="02030602050306030303" pitchFamily="18" charset="0"/>
              </a:rPr>
              <a:t>Focus on quality, not just quantity</a:t>
            </a:r>
          </a:p>
          <a:p>
            <a:pPr marL="285750" indent="-285750" algn="l">
              <a:buFont typeface="Wingdings" panose="05000000000000000000" pitchFamily="2" charset="2"/>
              <a:buChar char="v"/>
            </a:pPr>
            <a:r>
              <a:rPr lang="en-US" sz="1800" dirty="0">
                <a:latin typeface="Constantia" panose="02030602050306030303" pitchFamily="18" charset="0"/>
              </a:rPr>
              <a:t>We can provide more content in Australia.</a:t>
            </a:r>
          </a:p>
          <a:p>
            <a:pPr marL="285750" indent="-285750" algn="l">
              <a:buFont typeface="Wingdings" panose="05000000000000000000" pitchFamily="2" charset="2"/>
              <a:buChar char="v"/>
            </a:pPr>
            <a:r>
              <a:rPr lang="en-US" sz="1800" dirty="0">
                <a:latin typeface="Constantia" panose="02030602050306030303" pitchFamily="18" charset="0"/>
              </a:rPr>
              <a:t>Avoid high-volume drops in August and September unless content quality is improved.</a:t>
            </a:r>
          </a:p>
          <a:p>
            <a:pPr marL="285750" indent="-285750" algn="l">
              <a:buFont typeface="Wingdings" panose="05000000000000000000" pitchFamily="2" charset="2"/>
              <a:buChar char="v"/>
            </a:pPr>
            <a:endParaRPr lang="en-US" sz="1800" dirty="0">
              <a:latin typeface="Constantia" panose="02030602050306030303" pitchFamily="18" charset="0"/>
            </a:endParaRPr>
          </a:p>
        </p:txBody>
      </p:sp>
      <p:sp>
        <p:nvSpPr>
          <p:cNvPr id="4" name="Slide Number Placeholder 3">
            <a:extLst>
              <a:ext uri="{FF2B5EF4-FFF2-40B4-BE49-F238E27FC236}">
                <a16:creationId xmlns:a16="http://schemas.microsoft.com/office/drawing/2014/main" id="{A928A969-A022-1177-895B-86248275EDB0}"/>
              </a:ext>
            </a:extLst>
          </p:cNvPr>
          <p:cNvSpPr>
            <a:spLocks noGrp="1"/>
          </p:cNvSpPr>
          <p:nvPr>
            <p:ph type="sldNum" sz="quarter" idx="12"/>
          </p:nvPr>
        </p:nvSpPr>
        <p:spPr/>
        <p:txBody>
          <a:bodyPr/>
          <a:lstStyle/>
          <a:p>
            <a:fld id="{294A09A9-5501-47C1-A89A-A340965A2BE2}" type="slidenum">
              <a:rPr lang="en-US" smtClean="0"/>
              <a:pPr/>
              <a:t>15</a:t>
            </a:fld>
            <a:endParaRPr lang="en-US" dirty="0"/>
          </a:p>
        </p:txBody>
      </p:sp>
    </p:spTree>
    <p:extLst>
      <p:ext uri="{BB962C8B-B14F-4D97-AF65-F5344CB8AC3E}">
        <p14:creationId xmlns:p14="http://schemas.microsoft.com/office/powerpoint/2010/main" val="424570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2B2BE2-7FE7-7BF5-DECB-A836527B7BBA}"/>
              </a:ext>
            </a:extLst>
          </p:cNvPr>
          <p:cNvSpPr>
            <a:spLocks noGrp="1"/>
          </p:cNvSpPr>
          <p:nvPr>
            <p:ph type="sldNum" sz="quarter" idx="12"/>
          </p:nvPr>
        </p:nvSpPr>
        <p:spPr/>
        <p:txBody>
          <a:bodyPr/>
          <a:lstStyle/>
          <a:p>
            <a:fld id="{294A09A9-5501-47C1-A89A-A340965A2BE2}" type="slidenum">
              <a:rPr lang="en-US" smtClean="0"/>
              <a:pPr/>
              <a:t>16</a:t>
            </a:fld>
            <a:endParaRPr lang="en-US" dirty="0"/>
          </a:p>
        </p:txBody>
      </p:sp>
      <p:sp>
        <p:nvSpPr>
          <p:cNvPr id="6" name="AutoShape 4" descr="Uploaded image">
            <a:extLst>
              <a:ext uri="{FF2B5EF4-FFF2-40B4-BE49-F238E27FC236}">
                <a16:creationId xmlns:a16="http://schemas.microsoft.com/office/drawing/2014/main" id="{18767EDB-21D0-40A8-7700-17FCA2DA926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A6B60BD0-D079-75F6-D0FC-27BC64E58804}"/>
              </a:ext>
            </a:extLst>
          </p:cNvPr>
          <p:cNvSpPr txBox="1"/>
          <p:nvPr/>
        </p:nvSpPr>
        <p:spPr>
          <a:xfrm>
            <a:off x="980661" y="1139687"/>
            <a:ext cx="8587409" cy="400110"/>
          </a:xfrm>
          <a:prstGeom prst="rect">
            <a:avLst/>
          </a:prstGeom>
          <a:noFill/>
        </p:spPr>
        <p:txBody>
          <a:bodyPr wrap="square" rtlCol="0">
            <a:spAutoFit/>
          </a:bodyPr>
          <a:lstStyle/>
          <a:p>
            <a:r>
              <a:rPr lang="en-US" sz="2000" b="1" dirty="0">
                <a:solidFill>
                  <a:schemeClr val="bg1"/>
                </a:solidFill>
              </a:rPr>
              <a:t>Charts: C</a:t>
            </a:r>
            <a:r>
              <a:rPr lang="en-US" sz="2000" dirty="0">
                <a:solidFill>
                  <a:schemeClr val="bg1"/>
                </a:solidFill>
              </a:rPr>
              <a:t>ontent availability by country, average rating by country.</a:t>
            </a:r>
          </a:p>
        </p:txBody>
      </p:sp>
      <p:pic>
        <p:nvPicPr>
          <p:cNvPr id="3" name="Picture 2">
            <a:extLst>
              <a:ext uri="{FF2B5EF4-FFF2-40B4-BE49-F238E27FC236}">
                <a16:creationId xmlns:a16="http://schemas.microsoft.com/office/drawing/2014/main" id="{9A33C426-D737-BF55-B9AE-87802CC31FDD}"/>
              </a:ext>
            </a:extLst>
          </p:cNvPr>
          <p:cNvPicPr>
            <a:picLocks noChangeAspect="1"/>
          </p:cNvPicPr>
          <p:nvPr/>
        </p:nvPicPr>
        <p:blipFill>
          <a:blip r:embed="rId2"/>
          <a:stretch>
            <a:fillRect/>
          </a:stretch>
        </p:blipFill>
        <p:spPr>
          <a:xfrm>
            <a:off x="1271369" y="2064528"/>
            <a:ext cx="4672231" cy="2424143"/>
          </a:xfrm>
          <a:prstGeom prst="rect">
            <a:avLst/>
          </a:prstGeom>
        </p:spPr>
      </p:pic>
      <p:pic>
        <p:nvPicPr>
          <p:cNvPr id="11" name="Picture 10">
            <a:extLst>
              <a:ext uri="{FF2B5EF4-FFF2-40B4-BE49-F238E27FC236}">
                <a16:creationId xmlns:a16="http://schemas.microsoft.com/office/drawing/2014/main" id="{D519BF00-178D-A1F4-EDF4-AFC4C5906949}"/>
              </a:ext>
            </a:extLst>
          </p:cNvPr>
          <p:cNvPicPr>
            <a:picLocks noChangeAspect="1"/>
          </p:cNvPicPr>
          <p:nvPr/>
        </p:nvPicPr>
        <p:blipFill>
          <a:blip r:embed="rId3"/>
          <a:stretch>
            <a:fillRect/>
          </a:stretch>
        </p:blipFill>
        <p:spPr>
          <a:xfrm>
            <a:off x="5943600" y="2064527"/>
            <a:ext cx="2623930" cy="2424143"/>
          </a:xfrm>
          <a:prstGeom prst="rect">
            <a:avLst/>
          </a:prstGeom>
        </p:spPr>
      </p:pic>
    </p:spTree>
    <p:extLst>
      <p:ext uri="{BB962C8B-B14F-4D97-AF65-F5344CB8AC3E}">
        <p14:creationId xmlns:p14="http://schemas.microsoft.com/office/powerpoint/2010/main" val="1159919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F37A-3CFB-9250-5179-A6E8754CFCD2}"/>
              </a:ext>
            </a:extLst>
          </p:cNvPr>
          <p:cNvSpPr>
            <a:spLocks noGrp="1"/>
          </p:cNvSpPr>
          <p:nvPr>
            <p:ph type="ctrTitle"/>
          </p:nvPr>
        </p:nvSpPr>
        <p:spPr>
          <a:xfrm>
            <a:off x="609601" y="507245"/>
            <a:ext cx="9753599" cy="758848"/>
          </a:xfrm>
        </p:spPr>
        <p:txBody>
          <a:bodyPr>
            <a:normAutofit/>
          </a:bodyPr>
          <a:lstStyle/>
          <a:p>
            <a:r>
              <a:rPr lang="en-US" sz="4000" u="sng" dirty="0">
                <a:latin typeface="Constantia" panose="02030602050306030303" pitchFamily="18" charset="0"/>
              </a:rPr>
              <a:t>Customer Engagement Dashboard</a:t>
            </a:r>
            <a:endParaRPr lang="en-US" u="sng" dirty="0"/>
          </a:p>
        </p:txBody>
      </p:sp>
      <p:sp>
        <p:nvSpPr>
          <p:cNvPr id="3" name="Subtitle 2">
            <a:extLst>
              <a:ext uri="{FF2B5EF4-FFF2-40B4-BE49-F238E27FC236}">
                <a16:creationId xmlns:a16="http://schemas.microsoft.com/office/drawing/2014/main" id="{E668A51B-DC08-983B-FD9B-A365C134B31B}"/>
              </a:ext>
            </a:extLst>
          </p:cNvPr>
          <p:cNvSpPr>
            <a:spLocks noGrp="1"/>
          </p:cNvSpPr>
          <p:nvPr>
            <p:ph type="subTitle" idx="1"/>
          </p:nvPr>
        </p:nvSpPr>
        <p:spPr>
          <a:xfrm>
            <a:off x="742122" y="1607174"/>
            <a:ext cx="8897178" cy="1056513"/>
          </a:xfrm>
        </p:spPr>
        <p:txBody>
          <a:bodyPr>
            <a:noAutofit/>
          </a:bodyPr>
          <a:lstStyle/>
          <a:p>
            <a:pPr algn="l">
              <a:buFont typeface="Arial" panose="020B0604020202020204" pitchFamily="34" charset="0"/>
              <a:buChar char="•"/>
            </a:pPr>
            <a:r>
              <a:rPr lang="en-US" sz="1800" b="1" dirty="0">
                <a:latin typeface="Constantia" panose="02030602050306030303" pitchFamily="18" charset="0"/>
              </a:rPr>
              <a:t>Standard subscription plan</a:t>
            </a:r>
            <a:r>
              <a:rPr lang="en-US" sz="1800" dirty="0">
                <a:latin typeface="Constantia" panose="02030602050306030303" pitchFamily="18" charset="0"/>
              </a:rPr>
              <a:t> has the highest user base and watch time, followed closely by Premium. Users aged </a:t>
            </a:r>
            <a:r>
              <a:rPr lang="en-US" sz="1800" b="1" dirty="0">
                <a:latin typeface="Constantia" panose="02030602050306030303" pitchFamily="18" charset="0"/>
              </a:rPr>
              <a:t>60+ are the most engaged</a:t>
            </a:r>
            <a:r>
              <a:rPr lang="en-US" sz="1800" dirty="0">
                <a:latin typeface="Constantia" panose="02030602050306030303" pitchFamily="18" charset="0"/>
              </a:rPr>
              <a:t>, contributing the highest average watch time.</a:t>
            </a:r>
          </a:p>
          <a:p>
            <a:pPr algn="l">
              <a:buFont typeface="Arial" panose="020B0604020202020204" pitchFamily="34" charset="0"/>
              <a:buChar char="•"/>
            </a:pPr>
            <a:r>
              <a:rPr lang="en-US" sz="1800" b="1" dirty="0">
                <a:latin typeface="Constantia" panose="02030602050306030303" pitchFamily="18" charset="0"/>
              </a:rPr>
              <a:t>Action, Documentary, and Thriller</a:t>
            </a:r>
            <a:r>
              <a:rPr lang="en-US" sz="1800" dirty="0">
                <a:latin typeface="Constantia" panose="02030602050306030303" pitchFamily="18" charset="0"/>
              </a:rPr>
              <a:t> are the most-watched genres across all user segments.</a:t>
            </a:r>
            <a:r>
              <a:rPr lang="en-US" sz="1800" b="1" dirty="0">
                <a:latin typeface="Constantia" panose="02030602050306030303" pitchFamily="18" charset="0"/>
              </a:rPr>
              <a:t>TV Shows</a:t>
            </a:r>
            <a:r>
              <a:rPr lang="en-US" sz="1800" dirty="0">
                <a:latin typeface="Constantia" panose="02030602050306030303" pitchFamily="18" charset="0"/>
              </a:rPr>
              <a:t> slightly outperform movies in total watch time, showing higher long-form engagement.</a:t>
            </a:r>
          </a:p>
          <a:p>
            <a:pPr algn="l"/>
            <a:r>
              <a:rPr lang="en-US" sz="1800" b="1" dirty="0">
                <a:latin typeface="Constantia" panose="02030602050306030303" pitchFamily="18" charset="0"/>
              </a:rPr>
              <a:t>Recommendation: </a:t>
            </a:r>
            <a:r>
              <a:rPr lang="en-US" sz="1800" dirty="0">
                <a:latin typeface="Constantia" panose="02030602050306030303" pitchFamily="18" charset="0"/>
              </a:rPr>
              <a:t>Improve engagement among younger users (under 30) with youth-focused ,trending content and Plan major content releases during July and April.</a:t>
            </a:r>
          </a:p>
        </p:txBody>
      </p:sp>
      <p:sp>
        <p:nvSpPr>
          <p:cNvPr id="4" name="Slide Number Placeholder 3">
            <a:extLst>
              <a:ext uri="{FF2B5EF4-FFF2-40B4-BE49-F238E27FC236}">
                <a16:creationId xmlns:a16="http://schemas.microsoft.com/office/drawing/2014/main" id="{D2732B09-A926-FD3D-C74D-BA0B23C8B31C}"/>
              </a:ext>
            </a:extLst>
          </p:cNvPr>
          <p:cNvSpPr>
            <a:spLocks noGrp="1"/>
          </p:cNvSpPr>
          <p:nvPr>
            <p:ph type="sldNum" sz="quarter" idx="12"/>
          </p:nvPr>
        </p:nvSpPr>
        <p:spPr/>
        <p:txBody>
          <a:bodyPr/>
          <a:lstStyle/>
          <a:p>
            <a:fld id="{294A09A9-5501-47C1-A89A-A340965A2BE2}" type="slidenum">
              <a:rPr lang="en-US" smtClean="0"/>
              <a:pPr/>
              <a:t>17</a:t>
            </a:fld>
            <a:endParaRPr lang="en-US" dirty="0"/>
          </a:p>
        </p:txBody>
      </p:sp>
      <p:pic>
        <p:nvPicPr>
          <p:cNvPr id="7" name="Picture 6">
            <a:extLst>
              <a:ext uri="{FF2B5EF4-FFF2-40B4-BE49-F238E27FC236}">
                <a16:creationId xmlns:a16="http://schemas.microsoft.com/office/drawing/2014/main" id="{3ED3F10B-9DAC-D2A5-703D-0AA37D0F9CD6}"/>
              </a:ext>
            </a:extLst>
          </p:cNvPr>
          <p:cNvPicPr>
            <a:picLocks noChangeAspect="1"/>
          </p:cNvPicPr>
          <p:nvPr/>
        </p:nvPicPr>
        <p:blipFill>
          <a:blip r:embed="rId2"/>
          <a:stretch>
            <a:fillRect/>
          </a:stretch>
        </p:blipFill>
        <p:spPr>
          <a:xfrm>
            <a:off x="786850" y="4159989"/>
            <a:ext cx="9074427" cy="2350391"/>
          </a:xfrm>
          <a:prstGeom prst="rect">
            <a:avLst/>
          </a:prstGeom>
        </p:spPr>
      </p:pic>
    </p:spTree>
    <p:extLst>
      <p:ext uri="{BB962C8B-B14F-4D97-AF65-F5344CB8AC3E}">
        <p14:creationId xmlns:p14="http://schemas.microsoft.com/office/powerpoint/2010/main" val="3694706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1F7615-5F9F-A177-E570-C4D5A4AFDAE9}"/>
              </a:ext>
            </a:extLst>
          </p:cNvPr>
          <p:cNvSpPr>
            <a:spLocks noGrp="1"/>
          </p:cNvSpPr>
          <p:nvPr>
            <p:ph type="sldNum" sz="quarter" idx="12"/>
          </p:nvPr>
        </p:nvSpPr>
        <p:spPr/>
        <p:txBody>
          <a:bodyPr/>
          <a:lstStyle/>
          <a:p>
            <a:fld id="{294A09A9-5501-47C1-A89A-A340965A2BE2}" type="slidenum">
              <a:rPr lang="en-US" smtClean="0"/>
              <a:pPr/>
              <a:t>18</a:t>
            </a:fld>
            <a:endParaRPr lang="en-US" dirty="0"/>
          </a:p>
        </p:txBody>
      </p:sp>
      <p:pic>
        <p:nvPicPr>
          <p:cNvPr id="5" name="Picture 4">
            <a:extLst>
              <a:ext uri="{FF2B5EF4-FFF2-40B4-BE49-F238E27FC236}">
                <a16:creationId xmlns:a16="http://schemas.microsoft.com/office/drawing/2014/main" id="{4BCF3692-E764-B6F2-EF1D-313A2F5AA51D}"/>
              </a:ext>
            </a:extLst>
          </p:cNvPr>
          <p:cNvPicPr>
            <a:picLocks noChangeAspect="1"/>
          </p:cNvPicPr>
          <p:nvPr/>
        </p:nvPicPr>
        <p:blipFill>
          <a:blip r:embed="rId2"/>
          <a:stretch>
            <a:fillRect/>
          </a:stretch>
        </p:blipFill>
        <p:spPr>
          <a:xfrm>
            <a:off x="349225" y="357809"/>
            <a:ext cx="11417889" cy="6188270"/>
          </a:xfrm>
          <a:prstGeom prst="rect">
            <a:avLst/>
          </a:prstGeom>
        </p:spPr>
      </p:pic>
    </p:spTree>
    <p:extLst>
      <p:ext uri="{BB962C8B-B14F-4D97-AF65-F5344CB8AC3E}">
        <p14:creationId xmlns:p14="http://schemas.microsoft.com/office/powerpoint/2010/main" val="363417011"/>
      </p:ext>
    </p:extLst>
  </p:cSld>
  <p:clrMapOvr>
    <a:masterClrMapping/>
  </p:clrMapOvr>
</p:sld>
</file>

<file path=ppt/theme/theme1.xml><?xml version="1.0" encoding="utf-8"?>
<a:theme xmlns:a="http://schemas.openxmlformats.org/drawingml/2006/main" name="Madison">
  <a:themeElements>
    <a:clrScheme name="TM45439525">
      <a:dk1>
        <a:srgbClr val="000000"/>
      </a:dk1>
      <a:lt1>
        <a:srgbClr val="FFFFFF"/>
      </a:lt1>
      <a:dk2>
        <a:srgbClr val="1F2C28"/>
      </a:dk2>
      <a:lt2>
        <a:srgbClr val="E7E6E6"/>
      </a:lt2>
      <a:accent1>
        <a:srgbClr val="A1D58B"/>
      </a:accent1>
      <a:accent2>
        <a:srgbClr val="5EC795"/>
      </a:accent2>
      <a:accent3>
        <a:srgbClr val="4DADCE"/>
      </a:accent3>
      <a:accent4>
        <a:srgbClr val="CCB756"/>
      </a:accent4>
      <a:accent5>
        <a:srgbClr val="E29B35"/>
      </a:accent5>
      <a:accent6>
        <a:srgbClr val="8DC0C0"/>
      </a:accent6>
      <a:hlink>
        <a:srgbClr val="0563C1"/>
      </a:hlink>
      <a:folHlink>
        <a:srgbClr val="954F72"/>
      </a:folHlink>
    </a:clrScheme>
    <a:fontScheme name="Custom 11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439525_Win32_SL_V10" id="{6D1E132C-EE58-410C-AA79-6634C21077D3}" vid="{B34F418C-A6AD-4EA0-82A8-449DB69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6AD6DB-9470-4861-90FA-528B22606C3A}">
  <ds:schemaRefs>
    <ds:schemaRef ds:uri="http://schemas.microsoft.com/sharepoint/v3/contenttype/forms"/>
  </ds:schemaRefs>
</ds:datastoreItem>
</file>

<file path=customXml/itemProps2.xml><?xml version="1.0" encoding="utf-8"?>
<ds:datastoreItem xmlns:ds="http://schemas.openxmlformats.org/officeDocument/2006/customXml" ds:itemID="{804A2E04-D8A3-4CD6-A49A-4E88613CFB2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5A97A83-19EA-4F1C-BA10-74DE001096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Vivid circles presentation</Template>
  <TotalTime>2138</TotalTime>
  <Words>1161</Words>
  <Application>Microsoft Office PowerPoint</Application>
  <PresentationFormat>Widescreen</PresentationFormat>
  <Paragraphs>88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Constantia</vt:lpstr>
      <vt:lpstr>Wingdings</vt:lpstr>
      <vt:lpstr>Madison</vt:lpstr>
      <vt:lpstr>NETFLIX DATA ANALYSIS USING POWERBI </vt:lpstr>
      <vt:lpstr>Problem Statement:</vt:lpstr>
      <vt:lpstr>Data Cleaning &amp; Transformation</vt:lpstr>
      <vt:lpstr>Customer Demographics Analysis</vt:lpstr>
      <vt:lpstr>Subscription Type vs. Watch Time </vt:lpstr>
      <vt:lpstr>Descriptive &amp; Comparative Analysis</vt:lpstr>
      <vt:lpstr>Genre Popularity by Country &amp; Customer Ratings    Distribution:</vt:lpstr>
      <vt:lpstr> Trending Content Analysis:</vt:lpstr>
      <vt:lpstr>Market Insights &amp; Revenue Analysis</vt:lpstr>
      <vt:lpstr>Customer Retention Insights</vt:lpstr>
      <vt:lpstr>High-Rated vs. Low-Rated Content:</vt:lpstr>
      <vt:lpstr>Business Decision-Making Scenarios</vt:lpstr>
      <vt:lpstr>Content Localization Strategy</vt:lpstr>
      <vt:lpstr>Best Time to Release New Content</vt:lpstr>
      <vt:lpstr>Competitor Benchmarking Simulation</vt:lpstr>
      <vt:lpstr>PowerPoint Presentation</vt:lpstr>
      <vt:lpstr>Customer Engagement 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DATA ANALYSIS USING POWERBI</dc:title>
  <dc:creator>Seneka Ravi</dc:creator>
  <cp:lastModifiedBy>Seneka Ravi</cp:lastModifiedBy>
  <cp:revision>16</cp:revision>
  <dcterms:created xsi:type="dcterms:W3CDTF">2025-04-27T21:00:01Z</dcterms:created>
  <dcterms:modified xsi:type="dcterms:W3CDTF">2025-05-23T05:18:22Z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