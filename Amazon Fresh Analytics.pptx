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8"/>
  </p:notesMasterIdLst>
  <p:handoutMasterIdLst>
    <p:handoutMasterId r:id="rId29"/>
  </p:handoutMasterIdLst>
  <p:sldIdLst>
    <p:sldId id="256" r:id="rId5"/>
    <p:sldId id="266" r:id="rId6"/>
    <p:sldId id="258" r:id="rId7"/>
    <p:sldId id="267" r:id="rId8"/>
    <p:sldId id="272" r:id="rId9"/>
    <p:sldId id="277" r:id="rId10"/>
    <p:sldId id="278" r:id="rId11"/>
    <p:sldId id="273" r:id="rId12"/>
    <p:sldId id="275" r:id="rId13"/>
    <p:sldId id="274" r:id="rId14"/>
    <p:sldId id="281" r:id="rId15"/>
    <p:sldId id="263" r:id="rId16"/>
    <p:sldId id="282" r:id="rId17"/>
    <p:sldId id="262" r:id="rId18"/>
    <p:sldId id="283" r:id="rId19"/>
    <p:sldId id="284" r:id="rId20"/>
    <p:sldId id="285" r:id="rId21"/>
    <p:sldId id="286" r:id="rId22"/>
    <p:sldId id="287" r:id="rId23"/>
    <p:sldId id="289" r:id="rId24"/>
    <p:sldId id="291" r:id="rId25"/>
    <p:sldId id="292" r:id="rId26"/>
    <p:sldId id="26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48" autoAdjust="0"/>
  </p:normalViewPr>
  <p:slideViewPr>
    <p:cSldViewPr snapToGrid="0">
      <p:cViewPr>
        <p:scale>
          <a:sx n="75" d="100"/>
          <a:sy n="75" d="100"/>
        </p:scale>
        <p:origin x="540" y="-60"/>
      </p:cViewPr>
      <p:guideLst/>
    </p:cSldViewPr>
  </p:slideViewPr>
  <p:notesTextViewPr>
    <p:cViewPr>
      <p:scale>
        <a:sx n="1" d="1"/>
        <a:sy n="1" d="1"/>
      </p:scale>
      <p:origin x="0" y="0"/>
    </p:cViewPr>
  </p:notesTextViewPr>
  <p:sorterViewPr>
    <p:cViewPr>
      <p:scale>
        <a:sx n="100" d="100"/>
        <a:sy n="100" d="100"/>
      </p:scale>
      <p:origin x="0" y="-1098"/>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F0A80C-4998-4608-85B5-6C3680EE8A2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ADBBA1A-5CCE-4B09-A799-6DF6478F2E03}" type="pres">
      <dgm:prSet presAssocID="{51F0A80C-4998-4608-85B5-6C3680EE8A24}" presName="linear" presStyleCnt="0">
        <dgm:presLayoutVars>
          <dgm:animLvl val="lvl"/>
          <dgm:resizeHandles val="exact"/>
        </dgm:presLayoutVars>
      </dgm:prSet>
      <dgm:spPr/>
    </dgm:pt>
  </dgm:ptLst>
  <dgm:cxnLst>
    <dgm:cxn modelId="{4C02CFAF-B48E-4E40-BAB9-A9FB934E4BFA}" type="presOf" srcId="{51F0A80C-4998-4608-85B5-6C3680EE8A24}" destId="{1ADBBA1A-5CCE-4B09-A799-6DF6478F2E0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5CB2F6-66E5-4750-8F81-F4281477561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74ABCC3-C7C1-46D2-8EA5-7009224B15F2}">
      <dgm:prSet custT="1">
        <dgm:style>
          <a:lnRef idx="1">
            <a:schemeClr val="accent1"/>
          </a:lnRef>
          <a:fillRef idx="2">
            <a:schemeClr val="accent1"/>
          </a:fillRef>
          <a:effectRef idx="1">
            <a:schemeClr val="accent1"/>
          </a:effectRef>
          <a:fontRef idx="minor">
            <a:schemeClr val="dk1"/>
          </a:fontRef>
        </dgm:style>
      </dgm:prSet>
      <dgm:spPr/>
      <dgm:t>
        <a:bodyPr spcFirstLastPara="0" vert="horz" wrap="square" lIns="81975" tIns="53400" rIns="81975" bIns="53400" numCol="1" spcCol="1270" anchor="ctr" anchorCtr="0"/>
        <a:lstStyle/>
        <a:p>
          <a:pPr marL="285750" lvl="0" indent="-285750" algn="l" defTabSz="666750" rtl="0" eaLnBrk="1" latinLnBrk="0" hangingPunct="1">
            <a:lnSpc>
              <a:spcPct val="90000"/>
            </a:lnSpc>
            <a:spcBef>
              <a:spcPct val="0"/>
            </a:spcBef>
            <a:spcAft>
              <a:spcPct val="35000"/>
            </a:spcAft>
            <a:buFont typeface="Arial" panose="020B0604020202020204" pitchFamily="34" charset="0"/>
            <a:buChar char="•"/>
          </a:pPr>
          <a:r>
            <a:rPr lang="en-US" sz="1500" b="1" kern="1200">
              <a:solidFill>
                <a:schemeClr val="dk1"/>
              </a:solidFill>
              <a:latin typeface="+mn-lt"/>
              <a:ea typeface="+mn-ea"/>
              <a:cs typeface="+mn-cs"/>
            </a:rPr>
            <a:t>Primary keys</a:t>
          </a:r>
        </a:p>
      </dgm:t>
    </dgm:pt>
    <dgm:pt modelId="{45E86694-FACF-4B0F-ADF4-1BA30B010DFB}" type="parTrans" cxnId="{A51BDC3F-D81D-4317-B317-0A6D276D9056}">
      <dgm:prSet/>
      <dgm:spPr/>
      <dgm:t>
        <a:bodyPr/>
        <a:lstStyle/>
        <a:p>
          <a:endParaRPr lang="en-US"/>
        </a:p>
      </dgm:t>
    </dgm:pt>
    <dgm:pt modelId="{79E24093-ABEB-4D51-97E8-9583063A9291}" type="sibTrans" cxnId="{A51BDC3F-D81D-4317-B317-0A6D276D9056}">
      <dgm:prSet/>
      <dgm:spPr/>
      <dgm:t>
        <a:bodyPr/>
        <a:lstStyle/>
        <a:p>
          <a:endParaRPr lang="en-US"/>
        </a:p>
      </dgm:t>
    </dgm:pt>
    <dgm:pt modelId="{2ADBA088-D219-4F34-8A65-26730310324E}" type="pres">
      <dgm:prSet presAssocID="{CF5CB2F6-66E5-4750-8F81-F42814775610}" presName="linear" presStyleCnt="0">
        <dgm:presLayoutVars>
          <dgm:animLvl val="lvl"/>
          <dgm:resizeHandles val="exact"/>
        </dgm:presLayoutVars>
      </dgm:prSet>
      <dgm:spPr/>
    </dgm:pt>
    <dgm:pt modelId="{68FA621B-D2A6-4B66-927B-1F013D8ABA1A}" type="pres">
      <dgm:prSet presAssocID="{A74ABCC3-C7C1-46D2-8EA5-7009224B15F2}" presName="parentText" presStyleLbl="node1" presStyleIdx="0" presStyleCnt="1" custLinFactNeighborX="-1515" custLinFactNeighborY="-13913">
        <dgm:presLayoutVars>
          <dgm:chMax val="0"/>
          <dgm:bulletEnabled val="1"/>
        </dgm:presLayoutVars>
      </dgm:prSet>
      <dgm:spPr>
        <a:xfrm>
          <a:off x="0" y="0"/>
          <a:ext cx="4637921" cy="468000"/>
        </a:xfrm>
        <a:prstGeom prst="roundRect">
          <a:avLst/>
        </a:prstGeom>
      </dgm:spPr>
    </dgm:pt>
  </dgm:ptLst>
  <dgm:cxnLst>
    <dgm:cxn modelId="{55E44411-1CD6-4A92-B684-9132160F5CBC}" type="presOf" srcId="{CF5CB2F6-66E5-4750-8F81-F42814775610}" destId="{2ADBA088-D219-4F34-8A65-26730310324E}" srcOrd="0" destOrd="0" presId="urn:microsoft.com/office/officeart/2005/8/layout/vList2"/>
    <dgm:cxn modelId="{A51BDC3F-D81D-4317-B317-0A6D276D9056}" srcId="{CF5CB2F6-66E5-4750-8F81-F42814775610}" destId="{A74ABCC3-C7C1-46D2-8EA5-7009224B15F2}" srcOrd="0" destOrd="0" parTransId="{45E86694-FACF-4B0F-ADF4-1BA30B010DFB}" sibTransId="{79E24093-ABEB-4D51-97E8-9583063A9291}"/>
    <dgm:cxn modelId="{7873EF57-F9C7-4869-B840-991D7CC34952}" type="presOf" srcId="{A74ABCC3-C7C1-46D2-8EA5-7009224B15F2}" destId="{68FA621B-D2A6-4B66-927B-1F013D8ABA1A}" srcOrd="0" destOrd="0" presId="urn:microsoft.com/office/officeart/2005/8/layout/vList2"/>
    <dgm:cxn modelId="{72F22DF7-6AA6-4BE5-9E13-EE72D969099B}" type="presParOf" srcId="{2ADBA088-D219-4F34-8A65-26730310324E}" destId="{68FA621B-D2A6-4B66-927B-1F013D8ABA1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497FBD-30A8-489B-9125-3C4D96420D7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FDA608E-3A5A-4171-AED4-0E3E2248A0E7}">
      <dgm:prSet custT="1">
        <dgm:style>
          <a:lnRef idx="1">
            <a:schemeClr val="accent1"/>
          </a:lnRef>
          <a:fillRef idx="2">
            <a:schemeClr val="accent1"/>
          </a:fillRef>
          <a:effectRef idx="1">
            <a:schemeClr val="accent1"/>
          </a:effectRef>
          <a:fontRef idx="minor">
            <a:schemeClr val="dk1"/>
          </a:fontRef>
        </dgm:style>
      </dgm:prSet>
      <dgm:spPr>
        <a:ln/>
      </dgm:spPr>
      <dgm:t>
        <a:bodyPr spcFirstLastPara="0" vert="horz" wrap="square" lIns="81975" tIns="53400" rIns="81975" bIns="53400" numCol="1" spcCol="1270" anchor="ctr" anchorCtr="0"/>
        <a:lstStyle/>
        <a:p>
          <a:pPr marL="285750" lvl="0" indent="-285750" algn="l" defTabSz="666750" rtl="0" eaLnBrk="1" latinLnBrk="0" hangingPunct="1">
            <a:lnSpc>
              <a:spcPct val="90000"/>
            </a:lnSpc>
            <a:spcBef>
              <a:spcPct val="0"/>
            </a:spcBef>
            <a:spcAft>
              <a:spcPct val="35000"/>
            </a:spcAft>
            <a:buFont typeface="Arial" panose="020B0604020202020204" pitchFamily="34" charset="0"/>
            <a:buNone/>
          </a:pPr>
          <a:r>
            <a:rPr lang="en-US" sz="1500" b="1" kern="1200">
              <a:solidFill>
                <a:prstClr val="black"/>
              </a:solidFill>
              <a:latin typeface="Gill Sans MT" panose="020B0502020104020203"/>
              <a:ea typeface="+mn-ea"/>
              <a:cs typeface="+mn-cs"/>
            </a:rPr>
            <a:t>Foreign keys</a:t>
          </a:r>
        </a:p>
      </dgm:t>
    </dgm:pt>
    <dgm:pt modelId="{C5E727A1-44CC-4ED4-AC80-61BD2EAC5FDD}" type="parTrans" cxnId="{ED818440-BA42-49B5-A7A8-A3C116B3C46C}">
      <dgm:prSet/>
      <dgm:spPr/>
      <dgm:t>
        <a:bodyPr/>
        <a:lstStyle/>
        <a:p>
          <a:endParaRPr lang="en-US"/>
        </a:p>
      </dgm:t>
    </dgm:pt>
    <dgm:pt modelId="{06BCD58D-ED90-484B-944F-1689E6B1FAE0}" type="sibTrans" cxnId="{ED818440-BA42-49B5-A7A8-A3C116B3C46C}">
      <dgm:prSet/>
      <dgm:spPr/>
      <dgm:t>
        <a:bodyPr/>
        <a:lstStyle/>
        <a:p>
          <a:endParaRPr lang="en-US"/>
        </a:p>
      </dgm:t>
    </dgm:pt>
    <dgm:pt modelId="{EF49EC4B-22CA-4110-8E8B-D0E2D9C7BBED}" type="pres">
      <dgm:prSet presAssocID="{B2497FBD-30A8-489B-9125-3C4D96420D79}" presName="linear" presStyleCnt="0">
        <dgm:presLayoutVars>
          <dgm:animLvl val="lvl"/>
          <dgm:resizeHandles val="exact"/>
        </dgm:presLayoutVars>
      </dgm:prSet>
      <dgm:spPr/>
    </dgm:pt>
    <dgm:pt modelId="{39B2E394-942E-4FCB-979A-44276C8E6676}" type="pres">
      <dgm:prSet presAssocID="{4FDA608E-3A5A-4171-AED4-0E3E2248A0E7}" presName="parentText" presStyleLbl="node1" presStyleIdx="0" presStyleCnt="1" custLinFactNeighborX="-94" custLinFactNeighborY="22304">
        <dgm:presLayoutVars>
          <dgm:chMax val="0"/>
          <dgm:bulletEnabled val="1"/>
        </dgm:presLayoutVars>
      </dgm:prSet>
      <dgm:spPr>
        <a:xfrm>
          <a:off x="0" y="10447"/>
          <a:ext cx="4891139" cy="468000"/>
        </a:xfrm>
        <a:prstGeom prst="roundRect">
          <a:avLst/>
        </a:prstGeom>
      </dgm:spPr>
    </dgm:pt>
  </dgm:ptLst>
  <dgm:cxnLst>
    <dgm:cxn modelId="{DF960515-2F6B-4E3D-AD47-651D5383A679}" type="presOf" srcId="{B2497FBD-30A8-489B-9125-3C4D96420D79}" destId="{EF49EC4B-22CA-4110-8E8B-D0E2D9C7BBED}" srcOrd="0" destOrd="0" presId="urn:microsoft.com/office/officeart/2005/8/layout/vList2"/>
    <dgm:cxn modelId="{ED818440-BA42-49B5-A7A8-A3C116B3C46C}" srcId="{B2497FBD-30A8-489B-9125-3C4D96420D79}" destId="{4FDA608E-3A5A-4171-AED4-0E3E2248A0E7}" srcOrd="0" destOrd="0" parTransId="{C5E727A1-44CC-4ED4-AC80-61BD2EAC5FDD}" sibTransId="{06BCD58D-ED90-484B-944F-1689E6B1FAE0}"/>
    <dgm:cxn modelId="{113F23A8-501A-4FE9-88BB-13A385A0EE40}" type="presOf" srcId="{4FDA608E-3A5A-4171-AED4-0E3E2248A0E7}" destId="{39B2E394-942E-4FCB-979A-44276C8E6676}" srcOrd="0" destOrd="0" presId="urn:microsoft.com/office/officeart/2005/8/layout/vList2"/>
    <dgm:cxn modelId="{25ACA88D-D4E7-4A15-983E-26CE815198DE}" type="presParOf" srcId="{EF49EC4B-22CA-4110-8E8B-D0E2D9C7BBED}" destId="{39B2E394-942E-4FCB-979A-44276C8E6676}"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78ED755-68EE-44AA-8445-8A92F5AE36E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F443376-0D20-4694-9E9C-CD6678D77BF6}">
      <dgm:prSet custT="1"/>
      <dgm:spPr/>
      <dgm:t>
        <a:bodyPr/>
        <a:lstStyle/>
        <a:p>
          <a:r>
            <a:rPr lang="en-US" sz="1800" dirty="0">
              <a:latin typeface="Arial" panose="020B0604020202020204" pitchFamily="34" charset="0"/>
              <a:cs typeface="Arial" panose="020B0604020202020204" pitchFamily="34" charset="0"/>
            </a:rPr>
            <a:t>Retrieve all customers from a specific city.</a:t>
          </a:r>
        </a:p>
      </dgm:t>
    </dgm:pt>
    <dgm:pt modelId="{812449EB-7DB1-4EFB-85A6-53274119B225}" type="parTrans" cxnId="{892CDCFF-834D-42BB-A92C-BC28AA2300D4}">
      <dgm:prSet/>
      <dgm:spPr/>
      <dgm:t>
        <a:bodyPr/>
        <a:lstStyle/>
        <a:p>
          <a:endParaRPr lang="en-US"/>
        </a:p>
      </dgm:t>
    </dgm:pt>
    <dgm:pt modelId="{9CA04883-D06F-4131-823F-7F2497D4F880}" type="sibTrans" cxnId="{892CDCFF-834D-42BB-A92C-BC28AA2300D4}">
      <dgm:prSet/>
      <dgm:spPr/>
      <dgm:t>
        <a:bodyPr/>
        <a:lstStyle/>
        <a:p>
          <a:endParaRPr lang="en-US"/>
        </a:p>
      </dgm:t>
    </dgm:pt>
    <dgm:pt modelId="{AE2DE0E8-1D2C-432A-A1D8-2F92835A8AC0}">
      <dgm:prSet custT="1"/>
      <dgm:spPr/>
      <dgm:t>
        <a:bodyPr/>
        <a:lstStyle/>
        <a:p>
          <a:pPr>
            <a:buNone/>
          </a:pPr>
          <a:r>
            <a:rPr lang="en-US" sz="1800" b="1" u="none" dirty="0">
              <a:latin typeface="Arial" panose="020B0604020202020204" pitchFamily="34" charset="0"/>
              <a:cs typeface="Arial" panose="020B0604020202020204" pitchFamily="34" charset="0"/>
            </a:rPr>
            <a:t>   </a:t>
          </a:r>
          <a:r>
            <a:rPr lang="en-US" sz="1800" b="1" u="sng" dirty="0">
              <a:latin typeface="Arial" panose="020B0604020202020204" pitchFamily="34" charset="0"/>
              <a:cs typeface="Arial" panose="020B0604020202020204" pitchFamily="34" charset="0"/>
            </a:rPr>
            <a:t>Output</a:t>
          </a:r>
          <a:r>
            <a:rPr lang="en-US" sz="1800" b="1" u="none"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Retrieved all the customers from a “</a:t>
          </a:r>
          <a:r>
            <a:rPr lang="en-US" sz="1800" b="0" dirty="0">
              <a:latin typeface="Arial" panose="020B0604020202020204" pitchFamily="34" charset="0"/>
              <a:cs typeface="Arial" panose="020B0604020202020204" pitchFamily="34" charset="0"/>
            </a:rPr>
            <a:t>Christopher land” </a:t>
          </a:r>
          <a:r>
            <a:rPr lang="en-US" sz="1800" dirty="0">
              <a:latin typeface="Arial" panose="020B0604020202020204" pitchFamily="34" charset="0"/>
              <a:cs typeface="Arial" panose="020B0604020202020204" pitchFamily="34" charset="0"/>
            </a:rPr>
            <a:t>city from customer table using the SELECT command &amp; Where clause in MYSQL</a:t>
          </a:r>
        </a:p>
      </dgm:t>
    </dgm:pt>
    <dgm:pt modelId="{B53CECC9-9086-4057-878E-B6D04F108DBF}" type="parTrans" cxnId="{08057632-67DE-4E33-94DB-08459CFC03C1}">
      <dgm:prSet/>
      <dgm:spPr/>
      <dgm:t>
        <a:bodyPr/>
        <a:lstStyle/>
        <a:p>
          <a:endParaRPr lang="en-US"/>
        </a:p>
      </dgm:t>
    </dgm:pt>
    <dgm:pt modelId="{3A4E3CB6-448E-4033-B329-8FD4A623F369}" type="sibTrans" cxnId="{08057632-67DE-4E33-94DB-08459CFC03C1}">
      <dgm:prSet/>
      <dgm:spPr/>
      <dgm:t>
        <a:bodyPr/>
        <a:lstStyle/>
        <a:p>
          <a:endParaRPr lang="en-US"/>
        </a:p>
      </dgm:t>
    </dgm:pt>
    <dgm:pt modelId="{07EFFECE-6151-4113-87E2-707F083E7EC2}">
      <dgm:prSet custT="1">
        <dgm:style>
          <a:lnRef idx="2">
            <a:schemeClr val="accent1"/>
          </a:lnRef>
          <a:fillRef idx="1">
            <a:schemeClr val="lt1"/>
          </a:fillRef>
          <a:effectRef idx="0">
            <a:schemeClr val="accent1"/>
          </a:effectRef>
          <a:fontRef idx="minor">
            <a:schemeClr val="dk1"/>
          </a:fontRef>
        </dgm:style>
      </dgm:prSet>
      <dgm:spPr/>
      <dgm:t>
        <a:bodyPr/>
        <a:lstStyle/>
        <a:p>
          <a:r>
            <a:rPr lang="en-US" sz="1600" b="1" u="none" dirty="0"/>
            <a:t>Write a query to: </a:t>
          </a:r>
          <a:endParaRPr lang="en-US" sz="1600" u="none" dirty="0"/>
        </a:p>
      </dgm:t>
    </dgm:pt>
    <dgm:pt modelId="{571BC688-FB80-4666-95F0-DF6CC6C0BCC3}" type="sibTrans" cxnId="{06430AB6-5F18-48C2-A5D6-BDD507EC523A}">
      <dgm:prSet/>
      <dgm:spPr/>
      <dgm:t>
        <a:bodyPr/>
        <a:lstStyle/>
        <a:p>
          <a:endParaRPr lang="en-US"/>
        </a:p>
      </dgm:t>
    </dgm:pt>
    <dgm:pt modelId="{7804A5F0-90FB-49E1-901E-4F84EC2DCEE3}" type="parTrans" cxnId="{06430AB6-5F18-48C2-A5D6-BDD507EC523A}">
      <dgm:prSet/>
      <dgm:spPr/>
      <dgm:t>
        <a:bodyPr/>
        <a:lstStyle/>
        <a:p>
          <a:endParaRPr lang="en-US"/>
        </a:p>
      </dgm:t>
    </dgm:pt>
    <dgm:pt modelId="{33F8D53D-7BAD-471F-B672-4FDB4FF6B9D8}">
      <dgm:prSet custT="1"/>
      <dgm:spPr/>
      <dgm:t>
        <a:bodyPr/>
        <a:lstStyle/>
        <a:p>
          <a:endParaRPr lang="en-US" sz="1800" dirty="0">
            <a:latin typeface="Arial" panose="020B0604020202020204" pitchFamily="34" charset="0"/>
            <a:cs typeface="Arial" panose="020B0604020202020204" pitchFamily="34" charset="0"/>
          </a:endParaRPr>
        </a:p>
      </dgm:t>
    </dgm:pt>
    <dgm:pt modelId="{C8735F46-032E-487E-88E6-4405BB7C633A}" type="parTrans" cxnId="{59287118-7D23-42F5-9B31-30A3296A95DD}">
      <dgm:prSet/>
      <dgm:spPr/>
      <dgm:t>
        <a:bodyPr/>
        <a:lstStyle/>
        <a:p>
          <a:endParaRPr lang="en-US"/>
        </a:p>
      </dgm:t>
    </dgm:pt>
    <dgm:pt modelId="{CE102DAC-A055-460A-9EA3-F1ADA45B35B2}" type="sibTrans" cxnId="{59287118-7D23-42F5-9B31-30A3296A95DD}">
      <dgm:prSet/>
      <dgm:spPr/>
      <dgm:t>
        <a:bodyPr/>
        <a:lstStyle/>
        <a:p>
          <a:endParaRPr lang="en-US"/>
        </a:p>
      </dgm:t>
    </dgm:pt>
    <dgm:pt modelId="{9F078641-AA5B-4A3E-8234-7301C247BF1C}">
      <dgm:prSet custT="1"/>
      <dgm:spPr/>
      <dgm:t>
        <a:bodyPr/>
        <a:lstStyle/>
        <a:p>
          <a:endParaRPr lang="en-US" sz="1800" dirty="0">
            <a:latin typeface="Arial" panose="020B0604020202020204" pitchFamily="34" charset="0"/>
            <a:cs typeface="Arial" panose="020B0604020202020204" pitchFamily="34" charset="0"/>
          </a:endParaRPr>
        </a:p>
      </dgm:t>
    </dgm:pt>
    <dgm:pt modelId="{55F934E1-203C-4F6E-BEFF-B76A9F55A003}" type="parTrans" cxnId="{4CB3A3BD-0279-425A-B40D-A752410F77D7}">
      <dgm:prSet/>
      <dgm:spPr/>
      <dgm:t>
        <a:bodyPr/>
        <a:lstStyle/>
        <a:p>
          <a:endParaRPr lang="en-US"/>
        </a:p>
      </dgm:t>
    </dgm:pt>
    <dgm:pt modelId="{2051711D-752A-4037-9D77-5C5EDBC20375}" type="sibTrans" cxnId="{4CB3A3BD-0279-425A-B40D-A752410F77D7}">
      <dgm:prSet/>
      <dgm:spPr/>
      <dgm:t>
        <a:bodyPr/>
        <a:lstStyle/>
        <a:p>
          <a:endParaRPr lang="en-US"/>
        </a:p>
      </dgm:t>
    </dgm:pt>
    <dgm:pt modelId="{6BB7576A-8F3F-4DE4-A06E-D6E025ADB347}" type="pres">
      <dgm:prSet presAssocID="{478ED755-68EE-44AA-8445-8A92F5AE36E4}" presName="linear" presStyleCnt="0">
        <dgm:presLayoutVars>
          <dgm:animLvl val="lvl"/>
          <dgm:resizeHandles val="exact"/>
        </dgm:presLayoutVars>
      </dgm:prSet>
      <dgm:spPr/>
    </dgm:pt>
    <dgm:pt modelId="{82851A68-59E5-4BB0-AFFF-2A6AC955CB2F}" type="pres">
      <dgm:prSet presAssocID="{07EFFECE-6151-4113-87E2-707F083E7EC2}" presName="parentText" presStyleLbl="node1" presStyleIdx="0" presStyleCnt="1" custScaleX="59459" custLinFactNeighborX="-52468" custLinFactNeighborY="-2037">
        <dgm:presLayoutVars>
          <dgm:chMax val="0"/>
          <dgm:bulletEnabled val="1"/>
        </dgm:presLayoutVars>
      </dgm:prSet>
      <dgm:spPr/>
    </dgm:pt>
    <dgm:pt modelId="{DCFE22C0-C52B-48F7-8AA0-7C822882638D}" type="pres">
      <dgm:prSet presAssocID="{07EFFECE-6151-4113-87E2-707F083E7EC2}" presName="childText" presStyleLbl="revTx" presStyleIdx="0" presStyleCnt="1" custScaleY="113474">
        <dgm:presLayoutVars>
          <dgm:bulletEnabled val="1"/>
        </dgm:presLayoutVars>
      </dgm:prSet>
      <dgm:spPr/>
    </dgm:pt>
  </dgm:ptLst>
  <dgm:cxnLst>
    <dgm:cxn modelId="{BFB67806-F955-4960-A849-FB0FE6A4ADC3}" type="presOf" srcId="{9F078641-AA5B-4A3E-8234-7301C247BF1C}" destId="{DCFE22C0-C52B-48F7-8AA0-7C822882638D}" srcOrd="0" destOrd="2" presId="urn:microsoft.com/office/officeart/2005/8/layout/vList2"/>
    <dgm:cxn modelId="{59287118-7D23-42F5-9B31-30A3296A95DD}" srcId="{07EFFECE-6151-4113-87E2-707F083E7EC2}" destId="{33F8D53D-7BAD-471F-B672-4FDB4FF6B9D8}" srcOrd="0" destOrd="0" parTransId="{C8735F46-032E-487E-88E6-4405BB7C633A}" sibTransId="{CE102DAC-A055-460A-9EA3-F1ADA45B35B2}"/>
    <dgm:cxn modelId="{44CCE728-A244-4C62-A6E7-566215F5CAB2}" type="presOf" srcId="{33F8D53D-7BAD-471F-B672-4FDB4FF6B9D8}" destId="{DCFE22C0-C52B-48F7-8AA0-7C822882638D}" srcOrd="0" destOrd="0" presId="urn:microsoft.com/office/officeart/2005/8/layout/vList2"/>
    <dgm:cxn modelId="{08057632-67DE-4E33-94DB-08459CFC03C1}" srcId="{07EFFECE-6151-4113-87E2-707F083E7EC2}" destId="{AE2DE0E8-1D2C-432A-A1D8-2F92835A8AC0}" srcOrd="3" destOrd="0" parTransId="{B53CECC9-9086-4057-878E-B6D04F108DBF}" sibTransId="{3A4E3CB6-448E-4033-B329-8FD4A623F369}"/>
    <dgm:cxn modelId="{C14D6072-5D1A-4139-AF14-CD0FF5144934}" type="presOf" srcId="{478ED755-68EE-44AA-8445-8A92F5AE36E4}" destId="{6BB7576A-8F3F-4DE4-A06E-D6E025ADB347}" srcOrd="0" destOrd="0" presId="urn:microsoft.com/office/officeart/2005/8/layout/vList2"/>
    <dgm:cxn modelId="{66975777-254C-404A-9251-43C6196E438A}" type="presOf" srcId="{AE2DE0E8-1D2C-432A-A1D8-2F92835A8AC0}" destId="{DCFE22C0-C52B-48F7-8AA0-7C822882638D}" srcOrd="0" destOrd="3" presId="urn:microsoft.com/office/officeart/2005/8/layout/vList2"/>
    <dgm:cxn modelId="{06430AB6-5F18-48C2-A5D6-BDD507EC523A}" srcId="{478ED755-68EE-44AA-8445-8A92F5AE36E4}" destId="{07EFFECE-6151-4113-87E2-707F083E7EC2}" srcOrd="0" destOrd="0" parTransId="{7804A5F0-90FB-49E1-901E-4F84EC2DCEE3}" sibTransId="{571BC688-FB80-4666-95F0-DF6CC6C0BCC3}"/>
    <dgm:cxn modelId="{4CB3A3BD-0279-425A-B40D-A752410F77D7}" srcId="{07EFFECE-6151-4113-87E2-707F083E7EC2}" destId="{9F078641-AA5B-4A3E-8234-7301C247BF1C}" srcOrd="2" destOrd="0" parTransId="{55F934E1-203C-4F6E-BEFF-B76A9F55A003}" sibTransId="{2051711D-752A-4037-9D77-5C5EDBC20375}"/>
    <dgm:cxn modelId="{9CE1C7E5-5241-41DB-943A-BBA0492772B7}" type="presOf" srcId="{07EFFECE-6151-4113-87E2-707F083E7EC2}" destId="{82851A68-59E5-4BB0-AFFF-2A6AC955CB2F}" srcOrd="0" destOrd="0" presId="urn:microsoft.com/office/officeart/2005/8/layout/vList2"/>
    <dgm:cxn modelId="{B6CC89ED-8786-466E-B8B3-BE464C805CD1}" type="presOf" srcId="{EF443376-0D20-4694-9E9C-CD6678D77BF6}" destId="{DCFE22C0-C52B-48F7-8AA0-7C822882638D}" srcOrd="0" destOrd="1" presId="urn:microsoft.com/office/officeart/2005/8/layout/vList2"/>
    <dgm:cxn modelId="{892CDCFF-834D-42BB-A92C-BC28AA2300D4}" srcId="{07EFFECE-6151-4113-87E2-707F083E7EC2}" destId="{EF443376-0D20-4694-9E9C-CD6678D77BF6}" srcOrd="1" destOrd="0" parTransId="{812449EB-7DB1-4EFB-85A6-53274119B225}" sibTransId="{9CA04883-D06F-4131-823F-7F2497D4F880}"/>
    <dgm:cxn modelId="{BF1014DF-0FD5-4279-9197-227B093A9CDD}" type="presParOf" srcId="{6BB7576A-8F3F-4DE4-A06E-D6E025ADB347}" destId="{82851A68-59E5-4BB0-AFFF-2A6AC955CB2F}" srcOrd="0" destOrd="0" presId="urn:microsoft.com/office/officeart/2005/8/layout/vList2"/>
    <dgm:cxn modelId="{D1EAC57C-7ABB-423B-BAB4-8DFEE9CEC8A3}" type="presParOf" srcId="{6BB7576A-8F3F-4DE4-A06E-D6E025ADB347}" destId="{DCFE22C0-C52B-48F7-8AA0-7C822882638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FA621B-D2A6-4B66-927B-1F013D8ABA1A}">
      <dsp:nvSpPr>
        <dsp:cNvPr id="0" name=""/>
        <dsp:cNvSpPr/>
      </dsp:nvSpPr>
      <dsp:spPr>
        <a:xfrm>
          <a:off x="0" y="0"/>
          <a:ext cx="4637921" cy="468000"/>
        </a:xfrm>
        <a:prstGeom prst="roundRect">
          <a:avLst/>
        </a:prstGeom>
        <a:gradFill rotWithShape="1">
          <a:gsLst>
            <a:gs pos="0">
              <a:schemeClr val="accent1">
                <a:tint val="68000"/>
                <a:alpha val="90000"/>
                <a:lumMod val="100000"/>
              </a:schemeClr>
            </a:gs>
            <a:gs pos="100000">
              <a:schemeClr val="accent1">
                <a:tint val="90000"/>
                <a:lumMod val="95000"/>
              </a:schemeClr>
            </a:gs>
          </a:gsLst>
          <a:lin ang="5400000" scaled="1"/>
        </a:gradFill>
        <a:ln w="12700" cap="rnd" cmpd="sng" algn="ctr">
          <a:solidFill>
            <a:schemeClr val="accent1">
              <a:lumMod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81975" tIns="53400" rIns="81975" bIns="53400" numCol="1" spcCol="1270" anchor="ctr" anchorCtr="0">
          <a:noAutofit/>
        </a:bodyPr>
        <a:lstStyle/>
        <a:p>
          <a:pPr marL="285750" lvl="0" indent="-285750" algn="l" defTabSz="666750" rtl="0" eaLnBrk="1" latinLnBrk="0" hangingPunct="1">
            <a:lnSpc>
              <a:spcPct val="90000"/>
            </a:lnSpc>
            <a:spcBef>
              <a:spcPct val="0"/>
            </a:spcBef>
            <a:spcAft>
              <a:spcPct val="35000"/>
            </a:spcAft>
            <a:buFont typeface="Arial" panose="020B0604020202020204" pitchFamily="34" charset="0"/>
            <a:buNone/>
          </a:pPr>
          <a:r>
            <a:rPr lang="en-US" sz="1500" b="1" kern="1200">
              <a:solidFill>
                <a:schemeClr val="dk1"/>
              </a:solidFill>
              <a:latin typeface="+mn-lt"/>
              <a:ea typeface="+mn-ea"/>
              <a:cs typeface="+mn-cs"/>
            </a:rPr>
            <a:t>Primary keys</a:t>
          </a:r>
        </a:p>
      </dsp:txBody>
      <dsp:txXfrm>
        <a:off x="22846" y="22846"/>
        <a:ext cx="4592229" cy="4223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B2E394-942E-4FCB-979A-44276C8E6676}">
      <dsp:nvSpPr>
        <dsp:cNvPr id="0" name=""/>
        <dsp:cNvSpPr/>
      </dsp:nvSpPr>
      <dsp:spPr>
        <a:xfrm>
          <a:off x="0" y="10448"/>
          <a:ext cx="4891139" cy="468000"/>
        </a:xfrm>
        <a:prstGeom prst="roundRect">
          <a:avLst/>
        </a:prstGeom>
        <a:gradFill rotWithShape="1">
          <a:gsLst>
            <a:gs pos="0">
              <a:schemeClr val="accent1">
                <a:tint val="68000"/>
                <a:alpha val="90000"/>
                <a:lumMod val="100000"/>
              </a:schemeClr>
            </a:gs>
            <a:gs pos="100000">
              <a:schemeClr val="accent1">
                <a:tint val="90000"/>
                <a:lumMod val="95000"/>
              </a:schemeClr>
            </a:gs>
          </a:gsLst>
          <a:lin ang="5400000" scaled="1"/>
        </a:gradFill>
        <a:ln w="12700" cap="rnd" cmpd="sng" algn="ctr">
          <a:solidFill>
            <a:schemeClr val="accent1">
              <a:lumMod val="90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81975" tIns="53400" rIns="81975" bIns="53400" numCol="1" spcCol="1270" anchor="ctr" anchorCtr="0">
          <a:noAutofit/>
        </a:bodyPr>
        <a:lstStyle/>
        <a:p>
          <a:pPr marL="285750" lvl="0" indent="-285750" algn="l" defTabSz="666750" rtl="0" eaLnBrk="1" latinLnBrk="0" hangingPunct="1">
            <a:lnSpc>
              <a:spcPct val="90000"/>
            </a:lnSpc>
            <a:spcBef>
              <a:spcPct val="0"/>
            </a:spcBef>
            <a:spcAft>
              <a:spcPct val="35000"/>
            </a:spcAft>
            <a:buFont typeface="Arial" panose="020B0604020202020204" pitchFamily="34" charset="0"/>
            <a:buNone/>
          </a:pPr>
          <a:r>
            <a:rPr lang="en-US" sz="1500" b="1" kern="1200">
              <a:solidFill>
                <a:prstClr val="black"/>
              </a:solidFill>
              <a:latin typeface="Gill Sans MT" panose="020B0502020104020203"/>
              <a:ea typeface="+mn-ea"/>
              <a:cs typeface="+mn-cs"/>
            </a:rPr>
            <a:t>Foreign keys</a:t>
          </a:r>
        </a:p>
      </dsp:txBody>
      <dsp:txXfrm>
        <a:off x="22846" y="33294"/>
        <a:ext cx="4845447" cy="4223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51A68-59E5-4BB0-AFFF-2A6AC955CB2F}">
      <dsp:nvSpPr>
        <dsp:cNvPr id="0" name=""/>
        <dsp:cNvSpPr/>
      </dsp:nvSpPr>
      <dsp:spPr>
        <a:xfrm>
          <a:off x="60706" y="0"/>
          <a:ext cx="2140524" cy="296962"/>
        </a:xfrm>
        <a:prstGeom prst="roundRect">
          <a:avLst/>
        </a:prstGeom>
        <a:solidFill>
          <a:schemeClr val="lt1"/>
        </a:solidFill>
        <a:ln w="22225" cap="rnd" cmpd="sng" algn="ctr">
          <a:solidFill>
            <a:schemeClr val="accent1"/>
          </a:solidFill>
          <a:prstDash val="solid"/>
        </a:ln>
        <a:effectLst/>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u="none" kern="1200" dirty="0"/>
            <a:t>Write a query to: </a:t>
          </a:r>
          <a:endParaRPr lang="en-US" sz="1600" u="none" kern="1200" dirty="0"/>
        </a:p>
      </dsp:txBody>
      <dsp:txXfrm>
        <a:off x="75202" y="14496"/>
        <a:ext cx="2111532" cy="267970"/>
      </dsp:txXfrm>
    </dsp:sp>
    <dsp:sp modelId="{DCFE22C0-C52B-48F7-8AA0-7C822882638D}">
      <dsp:nvSpPr>
        <dsp:cNvPr id="0" name=""/>
        <dsp:cNvSpPr/>
      </dsp:nvSpPr>
      <dsp:spPr>
        <a:xfrm>
          <a:off x="0" y="298076"/>
          <a:ext cx="6039633" cy="114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1758" tIns="22860" rIns="128016" bIns="22860" numCol="1" spcCol="1270" anchor="t" anchorCtr="0">
          <a:noAutofit/>
        </a:bodyPr>
        <a:lstStyle/>
        <a:p>
          <a:pPr marL="171450" lvl="1" indent="-171450" algn="l" defTabSz="800100">
            <a:lnSpc>
              <a:spcPct val="90000"/>
            </a:lnSpc>
            <a:spcBef>
              <a:spcPct val="0"/>
            </a:spcBef>
            <a:spcAft>
              <a:spcPct val="20000"/>
            </a:spcAft>
            <a:buChar char="•"/>
          </a:pP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latin typeface="Arial" panose="020B0604020202020204" pitchFamily="34" charset="0"/>
              <a:cs typeface="Arial" panose="020B0604020202020204" pitchFamily="34" charset="0"/>
            </a:rPr>
            <a:t>Retrieve all customers from a specific city.</a:t>
          </a:r>
        </a:p>
        <a:p>
          <a:pPr marL="171450" lvl="1" indent="-171450" algn="l" defTabSz="800100">
            <a:lnSpc>
              <a:spcPct val="90000"/>
            </a:lnSpc>
            <a:spcBef>
              <a:spcPct val="0"/>
            </a:spcBef>
            <a:spcAft>
              <a:spcPct val="20000"/>
            </a:spcAft>
            <a:buChar char="•"/>
          </a:pPr>
          <a:endParaRPr lang="en-US" sz="1800" kern="1200" dirty="0">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None/>
          </a:pPr>
          <a:r>
            <a:rPr lang="en-US" sz="1800" b="1" u="none" kern="1200" dirty="0">
              <a:latin typeface="Arial" panose="020B0604020202020204" pitchFamily="34" charset="0"/>
              <a:cs typeface="Arial" panose="020B0604020202020204" pitchFamily="34" charset="0"/>
            </a:rPr>
            <a:t>   </a:t>
          </a:r>
          <a:r>
            <a:rPr lang="en-US" sz="1800" b="1" u="sng" kern="1200" dirty="0">
              <a:latin typeface="Arial" panose="020B0604020202020204" pitchFamily="34" charset="0"/>
              <a:cs typeface="Arial" panose="020B0604020202020204" pitchFamily="34" charset="0"/>
            </a:rPr>
            <a:t>Output</a:t>
          </a:r>
          <a:r>
            <a:rPr lang="en-US" sz="1800" b="1" u="none" kern="1200" dirty="0">
              <a:latin typeface="Arial" panose="020B0604020202020204" pitchFamily="34" charset="0"/>
              <a:cs typeface="Arial" panose="020B0604020202020204" pitchFamily="34" charset="0"/>
            </a:rPr>
            <a:t>:  </a:t>
          </a:r>
          <a:r>
            <a:rPr lang="en-US" sz="1800" kern="1200" dirty="0">
              <a:latin typeface="Arial" panose="020B0604020202020204" pitchFamily="34" charset="0"/>
              <a:cs typeface="Arial" panose="020B0604020202020204" pitchFamily="34" charset="0"/>
            </a:rPr>
            <a:t>Retrieved all the customers from a “</a:t>
          </a:r>
          <a:r>
            <a:rPr lang="en-US" sz="1800" b="0" kern="1200" dirty="0">
              <a:latin typeface="Arial" panose="020B0604020202020204" pitchFamily="34" charset="0"/>
              <a:cs typeface="Arial" panose="020B0604020202020204" pitchFamily="34" charset="0"/>
            </a:rPr>
            <a:t>Christopher land” </a:t>
          </a:r>
          <a:r>
            <a:rPr lang="en-US" sz="1800" kern="1200" dirty="0">
              <a:latin typeface="Arial" panose="020B0604020202020204" pitchFamily="34" charset="0"/>
              <a:cs typeface="Arial" panose="020B0604020202020204" pitchFamily="34" charset="0"/>
            </a:rPr>
            <a:t>city from customer table using the SELECT command &amp; Where clause in MYSQL</a:t>
          </a:r>
        </a:p>
      </dsp:txBody>
      <dsp:txXfrm>
        <a:off x="0" y="298076"/>
        <a:ext cx="6039633" cy="11473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3/31/2025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3/31/2025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23</a:t>
            </a:fld>
            <a:endParaRPr lang="en-US" dirty="0"/>
          </a:p>
        </p:txBody>
      </p:sp>
    </p:spTree>
    <p:extLst>
      <p:ext uri="{BB962C8B-B14F-4D97-AF65-F5344CB8AC3E}">
        <p14:creationId xmlns:p14="http://schemas.microsoft.com/office/powerpoint/2010/main" val="1093342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3/31/2025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3/31/2025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3/31/2025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3/31/2025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3/31/2025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4.xml"/><Relationship Id="rId7" Type="http://schemas.openxmlformats.org/officeDocument/2006/relationships/image" Target="../media/image4.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3840F91C-EDD0-4D4E-A4AB-E6C77856C88C}"/>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382173" y="-689307"/>
            <a:ext cx="12956345" cy="7547307"/>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482601" y="5349145"/>
            <a:ext cx="11092139" cy="2228726"/>
          </a:xfrm>
        </p:spPr>
        <p:txBody>
          <a:bodyPr>
            <a:noAutofit/>
          </a:bodyPr>
          <a:lstStyle/>
          <a:p>
            <a:r>
              <a:rPr lang="en-US" sz="8800" b="1" cap="none" dirty="0">
                <a:solidFill>
                  <a:schemeClr val="bg1"/>
                </a:solidFill>
                <a:latin typeface="Baskerville Old Face" panose="02020602080505020303" pitchFamily="18" charset="0"/>
              </a:rPr>
              <a:t>Amazon Fresh Analytics</a:t>
            </a:r>
            <a:br>
              <a:rPr lang="en-US" sz="8000" b="1" cap="none" dirty="0">
                <a:solidFill>
                  <a:schemeClr val="bg1"/>
                </a:solidFill>
                <a:latin typeface="Baskerville Old Face" panose="02020602080505020303" pitchFamily="18" charset="0"/>
              </a:rPr>
            </a:br>
            <a:br>
              <a:rPr lang="en-US" sz="1800" b="1" dirty="0">
                <a:solidFill>
                  <a:srgbClr val="666666"/>
                </a:solidFill>
                <a:effectLst/>
                <a:latin typeface="Arial" panose="020B0604020202020204" pitchFamily="34" charset="0"/>
              </a:rPr>
            </a:br>
            <a:endParaRPr lang="en-US" sz="8000" b="1" cap="none" dirty="0">
              <a:solidFill>
                <a:schemeClr val="bg1"/>
              </a:solidFill>
              <a:latin typeface="Baskerville Old Face" panose="02020602080505020303" pitchFamily="18" charset="0"/>
            </a:endParaRPr>
          </a:p>
        </p:txBody>
      </p:sp>
      <p:pic>
        <p:nvPicPr>
          <p:cNvPr id="8" name="Picture 7">
            <a:extLst>
              <a:ext uri="{FF2B5EF4-FFF2-40B4-BE49-F238E27FC236}">
                <a16:creationId xmlns:a16="http://schemas.microsoft.com/office/drawing/2014/main" id="{C94BCD08-ABFE-0303-37F5-9B04DCDDC10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622666" y="719871"/>
            <a:ext cx="2133898" cy="1043266"/>
          </a:xfrm>
          <a:prstGeom prst="rect">
            <a:avLst/>
          </a:prstGeom>
          <a:solidFill>
            <a:schemeClr val="accent5">
              <a:lumMod val="75000"/>
              <a:alpha val="95000"/>
            </a:schemeClr>
          </a:solidFill>
          <a:ln>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p:spPr>
      </p:pic>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679667" y="711833"/>
            <a:ext cx="11029616" cy="930720"/>
          </a:xfrm>
        </p:spPr>
        <p:txBody>
          <a:bodyPr>
            <a:normAutofit/>
          </a:bodyPr>
          <a:lstStyle/>
          <a:p>
            <a:r>
              <a:rPr lang="en-US" sz="4400" cap="none" dirty="0">
                <a:latin typeface="Arial" panose="020B0604020202020204" pitchFamily="34" charset="0"/>
                <a:cs typeface="Arial" panose="020B0604020202020204" pitchFamily="34" charset="0"/>
              </a:rPr>
              <a:t>TABLE OF CONTENT:</a:t>
            </a:r>
          </a:p>
        </p:txBody>
      </p:sp>
      <p:grpSp>
        <p:nvGrpSpPr>
          <p:cNvPr id="26" name="Group 25">
            <a:extLst>
              <a:ext uri="{FF2B5EF4-FFF2-40B4-BE49-F238E27FC236}">
                <a16:creationId xmlns:a16="http://schemas.microsoft.com/office/drawing/2014/main" id="{5C5323E8-D994-123E-737E-A73CF7187B21}"/>
              </a:ext>
            </a:extLst>
          </p:cNvPr>
          <p:cNvGrpSpPr/>
          <p:nvPr/>
        </p:nvGrpSpPr>
        <p:grpSpPr>
          <a:xfrm>
            <a:off x="478300" y="2124221"/>
            <a:ext cx="5617699" cy="4503616"/>
            <a:chOff x="4194985" y="1942683"/>
            <a:chExt cx="4102139" cy="4754901"/>
          </a:xfrm>
        </p:grpSpPr>
        <p:sp>
          <p:nvSpPr>
            <p:cNvPr id="27" name="Freeform: Shape 26">
              <a:extLst>
                <a:ext uri="{FF2B5EF4-FFF2-40B4-BE49-F238E27FC236}">
                  <a16:creationId xmlns:a16="http://schemas.microsoft.com/office/drawing/2014/main" id="{CF6BD065-8EA1-7BC3-6137-E351C0AAF2DF}"/>
                </a:ext>
              </a:extLst>
            </p:cNvPr>
            <p:cNvSpPr/>
            <p:nvPr/>
          </p:nvSpPr>
          <p:spPr>
            <a:xfrm>
              <a:off x="4194985" y="1942683"/>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Data Modeling and Basic Queries</a:t>
              </a:r>
              <a:endParaRPr lang="en-US" sz="1500" kern="1200" dirty="0"/>
            </a:p>
          </p:txBody>
        </p:sp>
        <p:sp>
          <p:nvSpPr>
            <p:cNvPr id="28" name="Freeform: Shape 27">
              <a:extLst>
                <a:ext uri="{FF2B5EF4-FFF2-40B4-BE49-F238E27FC236}">
                  <a16:creationId xmlns:a16="http://schemas.microsoft.com/office/drawing/2014/main" id="{6C42AD3E-4F7C-63D3-B76E-60381B27F1D5}"/>
                </a:ext>
              </a:extLst>
            </p:cNvPr>
            <p:cNvSpPr/>
            <p:nvPr/>
          </p:nvSpPr>
          <p:spPr>
            <a:xfrm>
              <a:off x="4194985" y="2476656"/>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Data Definition Language (DDL) and Constraints</a:t>
              </a:r>
              <a:endParaRPr lang="en-US" sz="1500" kern="1200" dirty="0"/>
            </a:p>
          </p:txBody>
        </p:sp>
        <p:sp>
          <p:nvSpPr>
            <p:cNvPr id="29" name="Freeform: Shape 28">
              <a:extLst>
                <a:ext uri="{FF2B5EF4-FFF2-40B4-BE49-F238E27FC236}">
                  <a16:creationId xmlns:a16="http://schemas.microsoft.com/office/drawing/2014/main" id="{091D0258-8981-7DC1-CA7D-E2C2D571AC4D}"/>
                </a:ext>
              </a:extLst>
            </p:cNvPr>
            <p:cNvSpPr/>
            <p:nvPr/>
          </p:nvSpPr>
          <p:spPr>
            <a:xfrm>
              <a:off x="4194985" y="3010629"/>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Data Manipulation Language (DML)</a:t>
              </a:r>
              <a:endParaRPr lang="en-US" sz="1500" kern="1200" dirty="0"/>
            </a:p>
          </p:txBody>
        </p:sp>
        <p:sp>
          <p:nvSpPr>
            <p:cNvPr id="30" name="Freeform: Shape 29">
              <a:extLst>
                <a:ext uri="{FF2B5EF4-FFF2-40B4-BE49-F238E27FC236}">
                  <a16:creationId xmlns:a16="http://schemas.microsoft.com/office/drawing/2014/main" id="{3811D9D5-16C3-EBC3-542A-400C0C2DE813}"/>
                </a:ext>
              </a:extLst>
            </p:cNvPr>
            <p:cNvSpPr/>
            <p:nvPr/>
          </p:nvSpPr>
          <p:spPr>
            <a:xfrm>
              <a:off x="4194985" y="3544602"/>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SQL Constraints and Operators</a:t>
              </a:r>
              <a:endParaRPr lang="en-US" sz="1500" kern="1200" dirty="0"/>
            </a:p>
          </p:txBody>
        </p:sp>
        <p:sp>
          <p:nvSpPr>
            <p:cNvPr id="31" name="Freeform: Shape 30">
              <a:extLst>
                <a:ext uri="{FF2B5EF4-FFF2-40B4-BE49-F238E27FC236}">
                  <a16:creationId xmlns:a16="http://schemas.microsoft.com/office/drawing/2014/main" id="{5506403F-CB36-084F-0C00-71CBAF990554}"/>
                </a:ext>
              </a:extLst>
            </p:cNvPr>
            <p:cNvSpPr/>
            <p:nvPr/>
          </p:nvSpPr>
          <p:spPr>
            <a:xfrm>
              <a:off x="4194985" y="4078575"/>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Clauses and Aggregations</a:t>
              </a:r>
              <a:endParaRPr lang="en-US" sz="1500" kern="1200" dirty="0"/>
            </a:p>
          </p:txBody>
        </p:sp>
        <p:sp>
          <p:nvSpPr>
            <p:cNvPr id="32" name="Freeform: Shape 31">
              <a:extLst>
                <a:ext uri="{FF2B5EF4-FFF2-40B4-BE49-F238E27FC236}">
                  <a16:creationId xmlns:a16="http://schemas.microsoft.com/office/drawing/2014/main" id="{03A337EF-CD3C-44B0-51B8-2EF1478AEEFE}"/>
                </a:ext>
              </a:extLst>
            </p:cNvPr>
            <p:cNvSpPr/>
            <p:nvPr/>
          </p:nvSpPr>
          <p:spPr>
            <a:xfrm>
              <a:off x="4194985" y="4587120"/>
              <a:ext cx="4102139" cy="548877"/>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Complex Aggregations and Joins’</a:t>
              </a:r>
              <a:endParaRPr lang="en-US" sz="1500" kern="1200" dirty="0"/>
            </a:p>
          </p:txBody>
        </p:sp>
        <p:sp>
          <p:nvSpPr>
            <p:cNvPr id="33" name="Freeform: Shape 32">
              <a:extLst>
                <a:ext uri="{FF2B5EF4-FFF2-40B4-BE49-F238E27FC236}">
                  <a16:creationId xmlns:a16="http://schemas.microsoft.com/office/drawing/2014/main" id="{BA1C66E9-D90D-2E9E-6F68-57725877A399}"/>
                </a:ext>
              </a:extLst>
            </p:cNvPr>
            <p:cNvSpPr/>
            <p:nvPr/>
          </p:nvSpPr>
          <p:spPr>
            <a:xfrm>
              <a:off x="4194985" y="5171949"/>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Normalization</a:t>
              </a:r>
              <a:endParaRPr lang="en-US" sz="1500" kern="1200" dirty="0"/>
            </a:p>
          </p:txBody>
        </p:sp>
        <p:sp>
          <p:nvSpPr>
            <p:cNvPr id="34" name="Freeform: Shape 33">
              <a:extLst>
                <a:ext uri="{FF2B5EF4-FFF2-40B4-BE49-F238E27FC236}">
                  <a16:creationId xmlns:a16="http://schemas.microsoft.com/office/drawing/2014/main" id="{553E6FA9-27A4-CECF-D6D4-F01C3D136C00}"/>
                </a:ext>
              </a:extLst>
            </p:cNvPr>
            <p:cNvSpPr/>
            <p:nvPr/>
          </p:nvSpPr>
          <p:spPr>
            <a:xfrm>
              <a:off x="4194985" y="5680494"/>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Subqueries and Nested Queries</a:t>
              </a:r>
              <a:endParaRPr lang="en-US" sz="1500" kern="1200" dirty="0"/>
            </a:p>
          </p:txBody>
        </p:sp>
        <p:sp>
          <p:nvSpPr>
            <p:cNvPr id="35" name="Freeform: Shape 34">
              <a:extLst>
                <a:ext uri="{FF2B5EF4-FFF2-40B4-BE49-F238E27FC236}">
                  <a16:creationId xmlns:a16="http://schemas.microsoft.com/office/drawing/2014/main" id="{6B63B2C5-E15E-D83A-C95F-370F7F3A952A}"/>
                </a:ext>
              </a:extLst>
            </p:cNvPr>
            <p:cNvSpPr/>
            <p:nvPr/>
          </p:nvSpPr>
          <p:spPr>
            <a:xfrm>
              <a:off x="4194985" y="6189039"/>
              <a:ext cx="4102139" cy="508545"/>
            </a:xfrm>
            <a:custGeom>
              <a:avLst/>
              <a:gdLst>
                <a:gd name="connsiteX0" fmla="*/ 0 w 4102139"/>
                <a:gd name="connsiteY0" fmla="*/ 84759 h 508545"/>
                <a:gd name="connsiteX1" fmla="*/ 84759 w 4102139"/>
                <a:gd name="connsiteY1" fmla="*/ 0 h 508545"/>
                <a:gd name="connsiteX2" fmla="*/ 4017380 w 4102139"/>
                <a:gd name="connsiteY2" fmla="*/ 0 h 508545"/>
                <a:gd name="connsiteX3" fmla="*/ 4102139 w 4102139"/>
                <a:gd name="connsiteY3" fmla="*/ 84759 h 508545"/>
                <a:gd name="connsiteX4" fmla="*/ 4102139 w 4102139"/>
                <a:gd name="connsiteY4" fmla="*/ 423786 h 508545"/>
                <a:gd name="connsiteX5" fmla="*/ 4017380 w 4102139"/>
                <a:gd name="connsiteY5" fmla="*/ 508545 h 508545"/>
                <a:gd name="connsiteX6" fmla="*/ 84759 w 4102139"/>
                <a:gd name="connsiteY6" fmla="*/ 508545 h 508545"/>
                <a:gd name="connsiteX7" fmla="*/ 0 w 4102139"/>
                <a:gd name="connsiteY7" fmla="*/ 423786 h 508545"/>
                <a:gd name="connsiteX8" fmla="*/ 0 w 4102139"/>
                <a:gd name="connsiteY8" fmla="*/ 84759 h 5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2139" h="508545">
                  <a:moveTo>
                    <a:pt x="0" y="84759"/>
                  </a:moveTo>
                  <a:cubicBezTo>
                    <a:pt x="0" y="37948"/>
                    <a:pt x="37948" y="0"/>
                    <a:pt x="84759" y="0"/>
                  </a:cubicBezTo>
                  <a:lnTo>
                    <a:pt x="4017380" y="0"/>
                  </a:lnTo>
                  <a:cubicBezTo>
                    <a:pt x="4064191" y="0"/>
                    <a:pt x="4102139" y="37948"/>
                    <a:pt x="4102139" y="84759"/>
                  </a:cubicBezTo>
                  <a:lnTo>
                    <a:pt x="4102139" y="423786"/>
                  </a:lnTo>
                  <a:cubicBezTo>
                    <a:pt x="4102139" y="470597"/>
                    <a:pt x="4064191" y="508545"/>
                    <a:pt x="4017380" y="508545"/>
                  </a:cubicBezTo>
                  <a:lnTo>
                    <a:pt x="84759" y="508545"/>
                  </a:lnTo>
                  <a:cubicBezTo>
                    <a:pt x="37948" y="508545"/>
                    <a:pt x="0" y="470597"/>
                    <a:pt x="0" y="423786"/>
                  </a:cubicBezTo>
                  <a:lnTo>
                    <a:pt x="0" y="84759"/>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81975" tIns="53400" rIns="81975" bIns="53400" numCol="1" spcCol="1270" anchor="ctr" anchorCtr="0">
              <a:noAutofit/>
            </a:bodyPr>
            <a:lstStyle/>
            <a:p>
              <a:pPr marL="285750" lvl="0" indent="-285750" defTabSz="666750">
                <a:lnSpc>
                  <a:spcPct val="90000"/>
                </a:lnSpc>
                <a:spcBef>
                  <a:spcPct val="0"/>
                </a:spcBef>
                <a:spcAft>
                  <a:spcPct val="35000"/>
                </a:spcAft>
                <a:buFont typeface="Arial" panose="020B0604020202020204" pitchFamily="34" charset="0"/>
                <a:buChar char="•"/>
              </a:pPr>
              <a:r>
                <a:rPr lang="en-US" sz="1500" b="1" kern="1200" dirty="0"/>
                <a:t>Real-World Analysis</a:t>
              </a:r>
              <a:endParaRPr lang="en-US" sz="1500" kern="1200" dirty="0"/>
            </a:p>
          </p:txBody>
        </p:sp>
      </p:grpSp>
    </p:spTree>
    <p:extLst>
      <p:ext uri="{BB962C8B-B14F-4D97-AF65-F5344CB8AC3E}">
        <p14:creationId xmlns:p14="http://schemas.microsoft.com/office/powerpoint/2010/main" val="1084433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normAutofit/>
          </a:bodyPr>
          <a:lstStyle/>
          <a:p>
            <a:pPr marL="0" marR="0">
              <a:lnSpc>
                <a:spcPct val="115000"/>
              </a:lnSpc>
              <a:spcBef>
                <a:spcPts val="1200"/>
              </a:spcBef>
              <a:spcAft>
                <a:spcPts val="1200"/>
              </a:spcAft>
            </a:pPr>
            <a:r>
              <a:rPr lang="en-US" sz="4000" b="1" dirty="0">
                <a:effectLst/>
                <a:latin typeface="Arial" panose="020B0604020202020204" pitchFamily="34" charset="0"/>
                <a:ea typeface="Arial" panose="020B0604020202020204" pitchFamily="34" charset="0"/>
              </a:rPr>
              <a:t>Problem Statement:</a:t>
            </a:r>
            <a:endParaRPr lang="en-US" sz="4000" dirty="0">
              <a:effectLst/>
              <a:latin typeface="Arial" panose="020B0604020202020204" pitchFamily="34" charset="0"/>
              <a:ea typeface="Arial" panose="020B0604020202020204" pitchFamily="34" charset="0"/>
            </a:endParaRPr>
          </a:p>
        </p:txBody>
      </p:sp>
      <p:sp>
        <p:nvSpPr>
          <p:cNvPr id="16" name="Freeform: Shape 15">
            <a:extLst>
              <a:ext uri="{FF2B5EF4-FFF2-40B4-BE49-F238E27FC236}">
                <a16:creationId xmlns:a16="http://schemas.microsoft.com/office/drawing/2014/main" id="{9DB3DBF5-2BA0-8AA5-3556-93A332959FCF}"/>
              </a:ext>
            </a:extLst>
          </p:cNvPr>
          <p:cNvSpPr/>
          <p:nvPr/>
        </p:nvSpPr>
        <p:spPr>
          <a:xfrm>
            <a:off x="290596" y="2250830"/>
            <a:ext cx="11610808" cy="4009293"/>
          </a:xfrm>
          <a:custGeom>
            <a:avLst/>
            <a:gdLst>
              <a:gd name="connsiteX0" fmla="*/ 0 w 11278040"/>
              <a:gd name="connsiteY0" fmla="*/ 570971 h 3425760"/>
              <a:gd name="connsiteX1" fmla="*/ 570971 w 11278040"/>
              <a:gd name="connsiteY1" fmla="*/ 0 h 3425760"/>
              <a:gd name="connsiteX2" fmla="*/ 10707069 w 11278040"/>
              <a:gd name="connsiteY2" fmla="*/ 0 h 3425760"/>
              <a:gd name="connsiteX3" fmla="*/ 11278040 w 11278040"/>
              <a:gd name="connsiteY3" fmla="*/ 570971 h 3425760"/>
              <a:gd name="connsiteX4" fmla="*/ 11278040 w 11278040"/>
              <a:gd name="connsiteY4" fmla="*/ 2854789 h 3425760"/>
              <a:gd name="connsiteX5" fmla="*/ 10707069 w 11278040"/>
              <a:gd name="connsiteY5" fmla="*/ 3425760 h 3425760"/>
              <a:gd name="connsiteX6" fmla="*/ 570971 w 11278040"/>
              <a:gd name="connsiteY6" fmla="*/ 3425760 h 3425760"/>
              <a:gd name="connsiteX7" fmla="*/ 0 w 11278040"/>
              <a:gd name="connsiteY7" fmla="*/ 2854789 h 3425760"/>
              <a:gd name="connsiteX8" fmla="*/ 0 w 11278040"/>
              <a:gd name="connsiteY8" fmla="*/ 570971 h 342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78040" h="3425760">
                <a:moveTo>
                  <a:pt x="0" y="570971"/>
                </a:moveTo>
                <a:cubicBezTo>
                  <a:pt x="0" y="255632"/>
                  <a:pt x="255632" y="0"/>
                  <a:pt x="570971" y="0"/>
                </a:cubicBezTo>
                <a:lnTo>
                  <a:pt x="10707069" y="0"/>
                </a:lnTo>
                <a:cubicBezTo>
                  <a:pt x="11022408" y="0"/>
                  <a:pt x="11278040" y="255632"/>
                  <a:pt x="11278040" y="570971"/>
                </a:cubicBezTo>
                <a:lnTo>
                  <a:pt x="11278040" y="2854789"/>
                </a:lnTo>
                <a:cubicBezTo>
                  <a:pt x="11278040" y="3170128"/>
                  <a:pt x="11022408" y="3425760"/>
                  <a:pt x="10707069" y="3425760"/>
                </a:cubicBezTo>
                <a:lnTo>
                  <a:pt x="570971" y="3425760"/>
                </a:lnTo>
                <a:cubicBezTo>
                  <a:pt x="255632" y="3425760"/>
                  <a:pt x="0" y="3170128"/>
                  <a:pt x="0" y="2854789"/>
                </a:cubicBezTo>
                <a:lnTo>
                  <a:pt x="0" y="570971"/>
                </a:lnTo>
                <a:close/>
              </a:path>
            </a:pathLst>
          </a:custGeom>
        </p:spPr>
        <p:style>
          <a:lnRef idx="1">
            <a:schemeClr val="accent1"/>
          </a:lnRef>
          <a:fillRef idx="2">
            <a:schemeClr val="accent1"/>
          </a:fillRef>
          <a:effectRef idx="1">
            <a:schemeClr val="accent1"/>
          </a:effectRef>
          <a:fontRef idx="minor">
            <a:schemeClr val="dk1"/>
          </a:fontRef>
        </p:style>
        <p:txBody>
          <a:bodyPr spcFirstLastPara="0" vert="horz" wrap="square" lIns="258672" tIns="258672" rIns="258672" bIns="258672" numCol="1" spcCol="1270" anchor="ctr" anchorCtr="0">
            <a:noAutofit/>
          </a:bodyPr>
          <a:lstStyle/>
          <a:p>
            <a:pPr marL="0" lvl="0" indent="0" algn="l" defTabSz="1066800">
              <a:spcBef>
                <a:spcPts val="1200"/>
              </a:spcBef>
              <a:spcAft>
                <a:spcPts val="1200"/>
              </a:spcAft>
              <a:buNone/>
            </a:pPr>
            <a:r>
              <a:rPr lang="en-US" sz="2400" kern="1200" dirty="0"/>
              <a:t>Amazon Fresh is an e-commerce platform specializing in groceries and daily essentials. As the platform expands, its management seeks to optimize operations, enhance customer satisfaction, and boost revenue. The challenge lies in effectively managing large volumes of data, including customer profiles, product inventories, supplier information, orders, and customer reviews. The problem is to design a relational database for Amazon Fresh that organizes this data efficiently, allows for meaningful analysis, and supports critical business decisions. This project aims to solve key business problems, such as identifying top-performing products, analyzing customer purchasing patterns, and ensuring inventory management aligns with demand trends.</a:t>
            </a:r>
          </a:p>
        </p:txBody>
      </p:sp>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581193" y="807915"/>
            <a:ext cx="11029616" cy="570310"/>
          </a:xfrm>
        </p:spPr>
        <p:txBody>
          <a:bodyPr>
            <a:normAutofit/>
          </a:bodyPr>
          <a:lstStyle/>
          <a:p>
            <a:pPr lvl="0"/>
            <a:r>
              <a:rPr lang="en-US" sz="2800" b="1" dirty="0">
                <a:latin typeface="Arial" panose="020B0604020202020204" pitchFamily="34" charset="0"/>
                <a:cs typeface="Arial" panose="020B0604020202020204" pitchFamily="34" charset="0"/>
              </a:rPr>
              <a:t>Data Modeling and Basic Queries</a:t>
            </a:r>
          </a:p>
        </p:txBody>
      </p:sp>
      <p:sp>
        <p:nvSpPr>
          <p:cNvPr id="20" name="TextBox 19">
            <a:extLst>
              <a:ext uri="{FF2B5EF4-FFF2-40B4-BE49-F238E27FC236}">
                <a16:creationId xmlns:a16="http://schemas.microsoft.com/office/drawing/2014/main" id="{F03EC7DD-8768-C918-E15B-926B728293C4}"/>
              </a:ext>
            </a:extLst>
          </p:cNvPr>
          <p:cNvSpPr txBox="1"/>
          <p:nvPr/>
        </p:nvSpPr>
        <p:spPr>
          <a:xfrm>
            <a:off x="407963" y="1834040"/>
            <a:ext cx="11784038" cy="1349087"/>
          </a:xfrm>
          <a:prstGeom prst="rect">
            <a:avLst/>
          </a:prstGeom>
          <a:noFill/>
        </p:spPr>
        <p:txBody>
          <a:bodyPr wrap="square" rtlCol="0">
            <a:spAutoFit/>
          </a:bodyPr>
          <a:lstStyle/>
          <a:p>
            <a:pPr marL="342900" marR="0" lvl="0" indent="-342900">
              <a:lnSpc>
                <a:spcPct val="150000"/>
              </a:lnSpc>
              <a:spcBef>
                <a:spcPts val="1200"/>
              </a:spcBef>
              <a:spcAft>
                <a:spcPts val="0"/>
              </a:spcAft>
              <a:buFont typeface="Arial" panose="020B0604020202020204" pitchFamily="34" charset="0"/>
              <a:buChar char="●"/>
            </a:pPr>
            <a:r>
              <a:rPr lang="en-US" sz="1600" u="none" strike="noStrike" dirty="0">
                <a:effectLst/>
                <a:latin typeface="Arial" panose="020B0604020202020204" pitchFamily="34" charset="0"/>
                <a:ea typeface="Arial" panose="020B0604020202020204" pitchFamily="34" charset="0"/>
              </a:rPr>
              <a:t>Create an </a:t>
            </a:r>
            <a:r>
              <a:rPr lang="en-US" sz="1600" b="1" u="none" strike="noStrike" dirty="0">
                <a:effectLst/>
                <a:latin typeface="Arial" panose="020B0604020202020204" pitchFamily="34" charset="0"/>
                <a:ea typeface="Arial" panose="020B0604020202020204" pitchFamily="34" charset="0"/>
              </a:rPr>
              <a:t>ER diagram</a:t>
            </a:r>
            <a:r>
              <a:rPr lang="en-US" sz="1600" u="none" strike="noStrike" dirty="0">
                <a:effectLst/>
                <a:latin typeface="Arial" panose="020B0604020202020204" pitchFamily="34" charset="0"/>
                <a:ea typeface="Arial" panose="020B0604020202020204" pitchFamily="34" charset="0"/>
              </a:rPr>
              <a:t> for the Amazon Fresh database to understand the relationships between tables (e.g., Customers, Products, Orders). Created Diagram by setting the appropriate primary keys and foreign keys in </a:t>
            </a:r>
            <a:r>
              <a:rPr lang="en-US" sz="1600" u="none" strike="noStrike" dirty="0" err="1">
                <a:effectLst/>
                <a:latin typeface="Arial" panose="020B0604020202020204" pitchFamily="34" charset="0"/>
                <a:ea typeface="Arial" panose="020B0604020202020204" pitchFamily="34" charset="0"/>
              </a:rPr>
              <a:t>Mysql</a:t>
            </a:r>
            <a:r>
              <a:rPr lang="en-US" sz="1600" u="none" strike="noStrike" dirty="0">
                <a:effectLst/>
                <a:latin typeface="Arial" panose="020B0604020202020204" pitchFamily="34" charset="0"/>
                <a:ea typeface="Arial" panose="020B0604020202020204" pitchFamily="34" charset="0"/>
              </a:rPr>
              <a:t> workbench</a:t>
            </a:r>
          </a:p>
          <a:p>
            <a:pPr marR="0" lvl="0">
              <a:lnSpc>
                <a:spcPct val="150000"/>
              </a:lnSpc>
              <a:spcBef>
                <a:spcPts val="1200"/>
              </a:spcBef>
              <a:spcAft>
                <a:spcPts val="0"/>
              </a:spcAft>
            </a:pPr>
            <a:endParaRPr lang="en-US" sz="1800" u="none" strike="noStrike" dirty="0">
              <a:effectLst/>
              <a:latin typeface="Arial" panose="020B0604020202020204" pitchFamily="34" charset="0"/>
              <a:ea typeface="Arial" panose="020B0604020202020204" pitchFamily="34" charset="0"/>
            </a:endParaRPr>
          </a:p>
        </p:txBody>
      </p:sp>
      <p:graphicFrame>
        <p:nvGraphicFramePr>
          <p:cNvPr id="24" name="Diagram 23">
            <a:extLst>
              <a:ext uri="{FF2B5EF4-FFF2-40B4-BE49-F238E27FC236}">
                <a16:creationId xmlns:a16="http://schemas.microsoft.com/office/drawing/2014/main" id="{96185757-1AD7-2B97-6F57-F20617895B0C}"/>
              </a:ext>
            </a:extLst>
          </p:cNvPr>
          <p:cNvGraphicFramePr/>
          <p:nvPr>
            <p:extLst>
              <p:ext uri="{D42A27DB-BD31-4B8C-83A1-F6EECF244321}">
                <p14:modId xmlns:p14="http://schemas.microsoft.com/office/powerpoint/2010/main" val="3084477657"/>
              </p:ext>
            </p:extLst>
          </p:nvPr>
        </p:nvGraphicFramePr>
        <p:xfrm>
          <a:off x="581194" y="1378225"/>
          <a:ext cx="1963224" cy="436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4E47C010-3F00-C19E-9130-1117803B7BC5}"/>
              </a:ext>
            </a:extLst>
          </p:cNvPr>
          <p:cNvGrpSpPr/>
          <p:nvPr/>
        </p:nvGrpSpPr>
        <p:grpSpPr>
          <a:xfrm>
            <a:off x="8652718" y="1004454"/>
            <a:ext cx="1963224" cy="633047"/>
            <a:chOff x="0" y="0"/>
            <a:chExt cx="1963224" cy="421200"/>
          </a:xfrm>
        </p:grpSpPr>
        <p:sp>
          <p:nvSpPr>
            <p:cNvPr id="4" name="Rectangle: Rounded Corners 3">
              <a:extLst>
                <a:ext uri="{FF2B5EF4-FFF2-40B4-BE49-F238E27FC236}">
                  <a16:creationId xmlns:a16="http://schemas.microsoft.com/office/drawing/2014/main" id="{5B4E2182-FDEF-85E1-0995-728454D2133D}"/>
                </a:ext>
              </a:extLst>
            </p:cNvPr>
            <p:cNvSpPr/>
            <p:nvPr/>
          </p:nvSpPr>
          <p:spPr>
            <a:xfrm>
              <a:off x="0" y="0"/>
              <a:ext cx="1963224" cy="42120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 name="Rectangle: Rounded Corners 4">
              <a:extLst>
                <a:ext uri="{FF2B5EF4-FFF2-40B4-BE49-F238E27FC236}">
                  <a16:creationId xmlns:a16="http://schemas.microsoft.com/office/drawing/2014/main" id="{7BD91C65-4848-3696-B610-69AD820FD775}"/>
                </a:ext>
              </a:extLst>
            </p:cNvPr>
            <p:cNvSpPr txBox="1"/>
            <p:nvPr/>
          </p:nvSpPr>
          <p:spPr>
            <a:xfrm>
              <a:off x="20561" y="20561"/>
              <a:ext cx="1922102" cy="3800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1</a:t>
              </a:r>
            </a:p>
          </p:txBody>
        </p:sp>
      </p:grpSp>
      <p:pic>
        <p:nvPicPr>
          <p:cNvPr id="7" name="Picture 6">
            <a:extLst>
              <a:ext uri="{FF2B5EF4-FFF2-40B4-BE49-F238E27FC236}">
                <a16:creationId xmlns:a16="http://schemas.microsoft.com/office/drawing/2014/main" id="{66127A6F-950B-71E2-5054-36F30F8689CC}"/>
              </a:ext>
            </a:extLst>
          </p:cNvPr>
          <p:cNvPicPr>
            <a:picLocks noChangeAspect="1"/>
          </p:cNvPicPr>
          <p:nvPr/>
        </p:nvPicPr>
        <p:blipFill>
          <a:blip r:embed="rId7"/>
          <a:stretch>
            <a:fillRect/>
          </a:stretch>
        </p:blipFill>
        <p:spPr>
          <a:xfrm>
            <a:off x="1930400" y="2755901"/>
            <a:ext cx="7540608" cy="3976203"/>
          </a:xfrm>
          <a:prstGeom prst="rect">
            <a:avLst/>
          </a:prstGeom>
        </p:spPr>
      </p:pic>
    </p:spTree>
    <p:extLst>
      <p:ext uri="{BB962C8B-B14F-4D97-AF65-F5344CB8AC3E}">
        <p14:creationId xmlns:p14="http://schemas.microsoft.com/office/powerpoint/2010/main" val="150682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C3092EE-5443-1C00-B2B6-CF378CD2C09B}"/>
              </a:ext>
            </a:extLst>
          </p:cNvPr>
          <p:cNvGrpSpPr/>
          <p:nvPr/>
        </p:nvGrpSpPr>
        <p:grpSpPr>
          <a:xfrm>
            <a:off x="8464672" y="1060174"/>
            <a:ext cx="2906101" cy="613881"/>
            <a:chOff x="126108" y="30739"/>
            <a:chExt cx="5109585" cy="420390"/>
          </a:xfrm>
        </p:grpSpPr>
        <p:sp>
          <p:nvSpPr>
            <p:cNvPr id="10" name="Rectangle: Rounded Corners 9">
              <a:extLst>
                <a:ext uri="{FF2B5EF4-FFF2-40B4-BE49-F238E27FC236}">
                  <a16:creationId xmlns:a16="http://schemas.microsoft.com/office/drawing/2014/main" id="{7E144A8B-FCD8-0F6F-2A27-EE7AF70137D5}"/>
                </a:ext>
              </a:extLst>
            </p:cNvPr>
            <p:cNvSpPr/>
            <p:nvPr/>
          </p:nvSpPr>
          <p:spPr>
            <a:xfrm>
              <a:off x="126108" y="30739"/>
              <a:ext cx="4145325" cy="42039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ectangle: Rounded Corners 4">
              <a:extLst>
                <a:ext uri="{FF2B5EF4-FFF2-40B4-BE49-F238E27FC236}">
                  <a16:creationId xmlns:a16="http://schemas.microsoft.com/office/drawing/2014/main" id="{A62F0895-8316-126E-D809-8F9EAA22300F}"/>
                </a:ext>
              </a:extLst>
            </p:cNvPr>
            <p:cNvSpPr txBox="1"/>
            <p:nvPr/>
          </p:nvSpPr>
          <p:spPr>
            <a:xfrm>
              <a:off x="331692" y="149717"/>
              <a:ext cx="4904001" cy="1824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2</a:t>
              </a:r>
            </a:p>
          </p:txBody>
        </p:sp>
      </p:grpSp>
      <p:sp>
        <p:nvSpPr>
          <p:cNvPr id="15" name="TextBox 14">
            <a:extLst>
              <a:ext uri="{FF2B5EF4-FFF2-40B4-BE49-F238E27FC236}">
                <a16:creationId xmlns:a16="http://schemas.microsoft.com/office/drawing/2014/main" id="{761C78D8-9438-3EEE-D7CD-5FC5562E1DEC}"/>
              </a:ext>
            </a:extLst>
          </p:cNvPr>
          <p:cNvSpPr txBox="1"/>
          <p:nvPr/>
        </p:nvSpPr>
        <p:spPr>
          <a:xfrm>
            <a:off x="581194" y="1915583"/>
            <a:ext cx="11160232" cy="984885"/>
          </a:xfrm>
          <a:prstGeom prst="rect">
            <a:avLst/>
          </a:prstGeom>
          <a:noFill/>
        </p:spPr>
        <p:txBody>
          <a:bodyPr wrap="square" rtlCol="0">
            <a:spAutoFit/>
          </a:bodyPr>
          <a:lstStyle/>
          <a:p>
            <a:pPr marL="285750" indent="-285750">
              <a:buFont typeface="Arial" panose="020B0604020202020204" pitchFamily="34" charset="0"/>
              <a:buChar char="•"/>
            </a:pPr>
            <a:r>
              <a:rPr lang="en-US" sz="2000" u="none" strike="noStrike" dirty="0">
                <a:effectLst/>
                <a:latin typeface="Arial" panose="020B0604020202020204" pitchFamily="34" charset="0"/>
                <a:ea typeface="Arial" panose="020B0604020202020204" pitchFamily="34" charset="0"/>
              </a:rPr>
              <a:t>Identify the </a:t>
            </a:r>
            <a:r>
              <a:rPr lang="en-US" sz="2000" b="1" u="none" strike="noStrike" dirty="0">
                <a:effectLst/>
                <a:latin typeface="Arial" panose="020B0604020202020204" pitchFamily="34" charset="0"/>
                <a:ea typeface="Arial" panose="020B0604020202020204" pitchFamily="34" charset="0"/>
              </a:rPr>
              <a:t>primary keys</a:t>
            </a:r>
            <a:r>
              <a:rPr lang="en-US" sz="2000" u="none" strike="noStrike" dirty="0">
                <a:effectLst/>
                <a:latin typeface="Arial" panose="020B0604020202020204" pitchFamily="34" charset="0"/>
                <a:ea typeface="Arial" panose="020B0604020202020204" pitchFamily="34" charset="0"/>
              </a:rPr>
              <a:t> and </a:t>
            </a:r>
            <a:r>
              <a:rPr lang="en-US" sz="2000" b="1" u="none" strike="noStrike" dirty="0">
                <a:effectLst/>
                <a:latin typeface="Arial" panose="020B0604020202020204" pitchFamily="34" charset="0"/>
                <a:ea typeface="Arial" panose="020B0604020202020204" pitchFamily="34" charset="0"/>
              </a:rPr>
              <a:t>foreign keys</a:t>
            </a:r>
            <a:r>
              <a:rPr lang="en-US" sz="2000" u="none" strike="noStrike" dirty="0">
                <a:effectLst/>
                <a:latin typeface="Arial" panose="020B0604020202020204" pitchFamily="34" charset="0"/>
                <a:ea typeface="Arial" panose="020B0604020202020204" pitchFamily="34" charset="0"/>
              </a:rPr>
              <a:t> for each table and describe their relationships.</a:t>
            </a:r>
          </a:p>
          <a:p>
            <a:pPr marL="285750" indent="-285750">
              <a:buFont typeface="Arial" panose="020B0604020202020204" pitchFamily="34" charset="0"/>
              <a:buChar char="•"/>
            </a:pPr>
            <a:endParaRPr lang="en-US" sz="2000" u="none" strike="noStrike" dirty="0">
              <a:effectLst/>
              <a:latin typeface="Arial" panose="020B0604020202020204" pitchFamily="34" charset="0"/>
              <a:ea typeface="Arial" panose="020B0604020202020204" pitchFamily="34" charset="0"/>
            </a:endParaRPr>
          </a:p>
          <a:p>
            <a:r>
              <a:rPr lang="en-US" b="1" dirty="0"/>
              <a:t>Findings:</a:t>
            </a:r>
          </a:p>
        </p:txBody>
      </p:sp>
      <p:graphicFrame>
        <p:nvGraphicFramePr>
          <p:cNvPr id="14" name="Diagram 13">
            <a:extLst>
              <a:ext uri="{FF2B5EF4-FFF2-40B4-BE49-F238E27FC236}">
                <a16:creationId xmlns:a16="http://schemas.microsoft.com/office/drawing/2014/main" id="{DD45AD4E-7AE8-31EF-17B8-30D968498D64}"/>
              </a:ext>
            </a:extLst>
          </p:cNvPr>
          <p:cNvGraphicFramePr/>
          <p:nvPr>
            <p:extLst>
              <p:ext uri="{D42A27DB-BD31-4B8C-83A1-F6EECF244321}">
                <p14:modId xmlns:p14="http://schemas.microsoft.com/office/powerpoint/2010/main" val="2863164812"/>
              </p:ext>
            </p:extLst>
          </p:nvPr>
        </p:nvGraphicFramePr>
        <p:xfrm>
          <a:off x="651472" y="2922326"/>
          <a:ext cx="4637921" cy="483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FC652CE5-67EA-02F9-59B6-6CB30C7D4AEC}"/>
              </a:ext>
            </a:extLst>
          </p:cNvPr>
          <p:cNvSpPr>
            <a:spLocks noGrp="1"/>
          </p:cNvSpPr>
          <p:nvPr>
            <p:ph sz="half" idx="2"/>
          </p:nvPr>
        </p:nvSpPr>
        <p:spPr>
          <a:xfrm>
            <a:off x="581194" y="3623515"/>
            <a:ext cx="5087072" cy="2355254"/>
          </a:xfrm>
        </p:spPr>
        <p:txBody>
          <a:bodyPr>
            <a:normAutofit fontScale="62500" lnSpcReduction="20000"/>
          </a:bodyPr>
          <a:lstStyle/>
          <a:p>
            <a:pPr marL="228600" marR="0" algn="just">
              <a:lnSpc>
                <a:spcPct val="107000"/>
              </a:lnSpc>
              <a:spcBef>
                <a:spcPts val="1200"/>
              </a:spcBef>
              <a:spcAft>
                <a:spcPts val="0"/>
              </a:spcAft>
            </a:pPr>
            <a:r>
              <a:rPr lang="en-US" sz="2000" dirty="0">
                <a:effectLst/>
                <a:latin typeface="Arial" panose="020B0604020202020204" pitchFamily="34" charset="0"/>
                <a:ea typeface="Times New Roman" panose="02020603050405020304" pitchFamily="18" charset="0"/>
                <a:cs typeface="Arial" panose="020B0604020202020204" pitchFamily="34" charset="0"/>
              </a:rPr>
              <a:t>Customers (CustomerID) </a:t>
            </a:r>
          </a:p>
          <a:p>
            <a:pPr marL="0" marR="0" indent="0" algn="just">
              <a:lnSpc>
                <a:spcPct val="107000"/>
              </a:lnSpc>
              <a:spcBef>
                <a:spcPts val="1200"/>
              </a:spcBef>
              <a:spcAft>
                <a:spcPts val="0"/>
              </a:spcAft>
              <a:buNone/>
            </a:pPr>
            <a:endParaRPr lang="en-US" sz="20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2000" dirty="0">
                <a:effectLst/>
                <a:latin typeface="Arial" panose="020B0604020202020204" pitchFamily="34" charset="0"/>
                <a:ea typeface="Times New Roman" panose="02020603050405020304" pitchFamily="18" charset="0"/>
                <a:cs typeface="Arial" panose="020B0604020202020204" pitchFamily="34" charset="0"/>
              </a:rPr>
              <a:t>Orders (OrderID) </a:t>
            </a:r>
          </a:p>
          <a:p>
            <a:pPr marL="228600" marR="0" algn="just">
              <a:lnSpc>
                <a:spcPct val="107000"/>
              </a:lnSpc>
              <a:spcBef>
                <a:spcPts val="0"/>
              </a:spcBef>
              <a:spcAft>
                <a:spcPts val="0"/>
              </a:spcAft>
            </a:pPr>
            <a:endParaRPr lang="en-US" sz="20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2000" dirty="0">
                <a:effectLst/>
                <a:latin typeface="Arial" panose="020B0604020202020204" pitchFamily="34" charset="0"/>
                <a:ea typeface="Times New Roman" panose="02020603050405020304" pitchFamily="18" charset="0"/>
                <a:cs typeface="Arial" panose="020B0604020202020204" pitchFamily="34" charset="0"/>
              </a:rPr>
              <a:t>Order_Details (OrderID, ProductID) (Composite Primary            Key)</a:t>
            </a:r>
          </a:p>
          <a:p>
            <a:pPr marL="228600" marR="0" algn="just">
              <a:lnSpc>
                <a:spcPct val="107000"/>
              </a:lnSpc>
              <a:spcBef>
                <a:spcPts val="0"/>
              </a:spcBef>
              <a:spcAft>
                <a:spcPts val="0"/>
              </a:spcAft>
            </a:pPr>
            <a:endParaRPr lang="en-US" sz="20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2000" dirty="0">
                <a:effectLst/>
                <a:latin typeface="Arial" panose="020B0604020202020204" pitchFamily="34" charset="0"/>
                <a:ea typeface="Times New Roman" panose="02020603050405020304" pitchFamily="18" charset="0"/>
                <a:cs typeface="Arial" panose="020B0604020202020204" pitchFamily="34" charset="0"/>
              </a:rPr>
              <a:t>Products (ProductID) </a:t>
            </a:r>
          </a:p>
          <a:p>
            <a:pPr marL="228600" marR="0" algn="just">
              <a:lnSpc>
                <a:spcPct val="107000"/>
              </a:lnSpc>
              <a:spcBef>
                <a:spcPts val="0"/>
              </a:spcBef>
              <a:spcAft>
                <a:spcPts val="0"/>
              </a:spcAft>
            </a:pPr>
            <a:endParaRPr lang="en-US" sz="20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2000" dirty="0">
                <a:effectLst/>
                <a:latin typeface="Arial" panose="020B0604020202020204" pitchFamily="34" charset="0"/>
                <a:ea typeface="Times New Roman" panose="02020603050405020304" pitchFamily="18" charset="0"/>
                <a:cs typeface="Arial" panose="020B0604020202020204" pitchFamily="34" charset="0"/>
              </a:rPr>
              <a:t>Categories (CategoryID) </a:t>
            </a:r>
          </a:p>
          <a:p>
            <a:pPr marL="0" marR="0" indent="0" algn="just">
              <a:lnSpc>
                <a:spcPct val="107000"/>
              </a:lnSpc>
              <a:spcBef>
                <a:spcPts val="0"/>
              </a:spcBef>
              <a:spcAft>
                <a:spcPts val="0"/>
              </a:spcAft>
              <a:buNone/>
            </a:pPr>
            <a:endParaRPr lang="en-US" sz="20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2000" dirty="0">
                <a:effectLst/>
                <a:latin typeface="Arial" panose="020B0604020202020204" pitchFamily="34" charset="0"/>
                <a:ea typeface="Times New Roman" panose="02020603050405020304" pitchFamily="18" charset="0"/>
                <a:cs typeface="Arial" panose="020B0604020202020204" pitchFamily="34" charset="0"/>
              </a:rPr>
              <a:t>Suppliers (SupplierID) </a:t>
            </a:r>
            <a:endParaRPr lang="en-US" sz="2000" dirty="0">
              <a:effectLst/>
              <a:latin typeface="Arial" panose="020B0604020202020204" pitchFamily="34" charset="0"/>
              <a:ea typeface="Aptos" panose="020B0004020202020204" pitchFamily="34" charset="0"/>
              <a:cs typeface="Arial" panose="020B0604020202020204" pitchFamily="34" charset="0"/>
            </a:endParaRPr>
          </a:p>
          <a:p>
            <a:endParaRPr lang="en-US" dirty="0"/>
          </a:p>
        </p:txBody>
      </p:sp>
      <p:graphicFrame>
        <p:nvGraphicFramePr>
          <p:cNvPr id="16" name="Diagram 15">
            <a:extLst>
              <a:ext uri="{FF2B5EF4-FFF2-40B4-BE49-F238E27FC236}">
                <a16:creationId xmlns:a16="http://schemas.microsoft.com/office/drawing/2014/main" id="{9ACBC368-5938-2CE9-4E1F-23852C87CB66}"/>
              </a:ext>
            </a:extLst>
          </p:cNvPr>
          <p:cNvGraphicFramePr/>
          <p:nvPr>
            <p:extLst>
              <p:ext uri="{D42A27DB-BD31-4B8C-83A1-F6EECF244321}">
                <p14:modId xmlns:p14="http://schemas.microsoft.com/office/powerpoint/2010/main" val="4294214766"/>
              </p:ext>
            </p:extLst>
          </p:nvPr>
        </p:nvGraphicFramePr>
        <p:xfrm>
          <a:off x="5931206" y="2922326"/>
          <a:ext cx="4891139" cy="4784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Content Placeholder 5">
            <a:extLst>
              <a:ext uri="{FF2B5EF4-FFF2-40B4-BE49-F238E27FC236}">
                <a16:creationId xmlns:a16="http://schemas.microsoft.com/office/drawing/2014/main" id="{3F1908A6-A257-8840-D84A-0E79A78B3C16}"/>
              </a:ext>
            </a:extLst>
          </p:cNvPr>
          <p:cNvSpPr>
            <a:spLocks noGrp="1"/>
          </p:cNvSpPr>
          <p:nvPr>
            <p:ph sz="quarter" idx="4"/>
          </p:nvPr>
        </p:nvSpPr>
        <p:spPr>
          <a:xfrm>
            <a:off x="5860927" y="3623514"/>
            <a:ext cx="5978769" cy="3095337"/>
          </a:xfrm>
        </p:spPr>
        <p:txBody>
          <a:bodyPr>
            <a:noAutofit/>
          </a:bodyPr>
          <a:lstStyle/>
          <a:p>
            <a:pPr marL="228600" marR="0" algn="just">
              <a:lnSpc>
                <a:spcPct val="107000"/>
              </a:lnSpc>
              <a:spcBef>
                <a:spcPts val="0"/>
              </a:spcBef>
              <a:spcAft>
                <a:spcPts val="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Customers → Orders</a:t>
            </a: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0" marR="0" indent="0" algn="just">
              <a:lnSpc>
                <a:spcPct val="107000"/>
              </a:lnSpc>
              <a:spcBef>
                <a:spcPts val="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          Orders.CustomerID should reference Customers.CustomerID </a:t>
            </a: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Orders → Order_Details</a:t>
            </a: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0" marR="0" indent="0" algn="just">
              <a:lnSpc>
                <a:spcPct val="107000"/>
              </a:lnSpc>
              <a:spcBef>
                <a:spcPts val="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           Order_Details.OrderID should reference Orders.OrderID</a:t>
            </a:r>
          </a:p>
          <a:p>
            <a:pPr marL="0" marR="0" indent="0" algn="just">
              <a:lnSpc>
                <a:spcPct val="107000"/>
              </a:lnSpc>
              <a:spcBef>
                <a:spcPts val="0"/>
              </a:spcBef>
              <a:spcAft>
                <a:spcPts val="0"/>
              </a:spcAft>
              <a:buNone/>
            </a:pP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Products → Order_Details</a:t>
            </a: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0" marR="0" indent="0" algn="just">
              <a:lnSpc>
                <a:spcPct val="107000"/>
              </a:lnSpc>
              <a:spcBef>
                <a:spcPts val="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           Order_Details.ProductID should reference Products.ProductID</a:t>
            </a:r>
          </a:p>
          <a:p>
            <a:pPr marL="0" marR="0" indent="0" algn="just">
              <a:lnSpc>
                <a:spcPct val="107000"/>
              </a:lnSpc>
              <a:spcBef>
                <a:spcPts val="0"/>
              </a:spcBef>
              <a:spcAft>
                <a:spcPts val="0"/>
              </a:spcAft>
              <a:buNone/>
            </a:pP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Products → Categories</a:t>
            </a: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0" marR="0" indent="0" algn="just">
              <a:lnSpc>
                <a:spcPct val="107000"/>
              </a:lnSpc>
              <a:spcBef>
                <a:spcPts val="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           Products.CategoryID should reference Categories.CategoryID</a:t>
            </a:r>
          </a:p>
          <a:p>
            <a:pPr marL="0" marR="0" indent="0" algn="just">
              <a:lnSpc>
                <a:spcPct val="107000"/>
              </a:lnSpc>
              <a:spcBef>
                <a:spcPts val="0"/>
              </a:spcBef>
              <a:spcAft>
                <a:spcPts val="0"/>
              </a:spcAft>
              <a:buNone/>
            </a:pP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228600" marR="0" algn="just">
              <a:lnSpc>
                <a:spcPct val="107000"/>
              </a:lnSpc>
              <a:spcBef>
                <a:spcPts val="0"/>
              </a:spcBef>
              <a:spcAft>
                <a:spcPts val="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Products → Suppliers</a:t>
            </a:r>
            <a:endParaRPr lang="en-US" sz="1400" dirty="0">
              <a:effectLst/>
              <a:latin typeface="Arial" panose="020B0604020202020204" pitchFamily="34" charset="0"/>
              <a:ea typeface="Aptos" panose="020B0004020202020204" pitchFamily="34" charset="0"/>
              <a:cs typeface="Arial" panose="020B0604020202020204" pitchFamily="34" charset="0"/>
            </a:endParaRPr>
          </a:p>
          <a:p>
            <a:pPr marL="0" marR="0" indent="0" algn="just">
              <a:lnSpc>
                <a:spcPct val="107000"/>
              </a:lnSpc>
              <a:spcBef>
                <a:spcPts val="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            Products.SupplierID should reference Suppliers </a:t>
            </a:r>
            <a:r>
              <a:rPr lang="en-US" sz="1400" dirty="0" err="1">
                <a:effectLst/>
                <a:latin typeface="Arial" panose="020B0604020202020204" pitchFamily="34" charset="0"/>
                <a:ea typeface="Times New Roman" panose="02020603050405020304" pitchFamily="18" charset="0"/>
                <a:cs typeface="Arial" panose="020B0604020202020204" pitchFamily="34" charset="0"/>
              </a:rPr>
              <a:t>SupplierID</a:t>
            </a:r>
            <a:endParaRPr lang="en-US" sz="14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877219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C3092EE-5443-1C00-B2B6-CF378CD2C09B}"/>
              </a:ext>
            </a:extLst>
          </p:cNvPr>
          <p:cNvGrpSpPr/>
          <p:nvPr/>
        </p:nvGrpSpPr>
        <p:grpSpPr>
          <a:xfrm>
            <a:off x="8398614" y="942535"/>
            <a:ext cx="2759717" cy="707437"/>
            <a:chOff x="126108" y="30739"/>
            <a:chExt cx="5109585" cy="420390"/>
          </a:xfrm>
        </p:grpSpPr>
        <p:sp>
          <p:nvSpPr>
            <p:cNvPr id="10" name="Rectangle: Rounded Corners 9">
              <a:extLst>
                <a:ext uri="{FF2B5EF4-FFF2-40B4-BE49-F238E27FC236}">
                  <a16:creationId xmlns:a16="http://schemas.microsoft.com/office/drawing/2014/main" id="{7E144A8B-FCD8-0F6F-2A27-EE7AF70137D5}"/>
                </a:ext>
              </a:extLst>
            </p:cNvPr>
            <p:cNvSpPr/>
            <p:nvPr/>
          </p:nvSpPr>
          <p:spPr>
            <a:xfrm>
              <a:off x="126108" y="30739"/>
              <a:ext cx="4145325" cy="42039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ectangle: Rounded Corners 4">
              <a:extLst>
                <a:ext uri="{FF2B5EF4-FFF2-40B4-BE49-F238E27FC236}">
                  <a16:creationId xmlns:a16="http://schemas.microsoft.com/office/drawing/2014/main" id="{A62F0895-8316-126E-D809-8F9EAA22300F}"/>
                </a:ext>
              </a:extLst>
            </p:cNvPr>
            <p:cNvSpPr txBox="1"/>
            <p:nvPr/>
          </p:nvSpPr>
          <p:spPr>
            <a:xfrm>
              <a:off x="331692" y="149717"/>
              <a:ext cx="4904001" cy="1824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3</a:t>
              </a:r>
            </a:p>
          </p:txBody>
        </p:sp>
      </p:grpSp>
      <p:graphicFrame>
        <p:nvGraphicFramePr>
          <p:cNvPr id="6" name="Diagram 5">
            <a:extLst>
              <a:ext uri="{FF2B5EF4-FFF2-40B4-BE49-F238E27FC236}">
                <a16:creationId xmlns:a16="http://schemas.microsoft.com/office/drawing/2014/main" id="{43807786-4362-A4D1-344F-CF5E97989EBD}"/>
              </a:ext>
            </a:extLst>
          </p:cNvPr>
          <p:cNvGraphicFramePr/>
          <p:nvPr>
            <p:extLst>
              <p:ext uri="{D42A27DB-BD31-4B8C-83A1-F6EECF244321}">
                <p14:modId xmlns:p14="http://schemas.microsoft.com/office/powerpoint/2010/main" val="1308659072"/>
              </p:ext>
            </p:extLst>
          </p:nvPr>
        </p:nvGraphicFramePr>
        <p:xfrm>
          <a:off x="351205" y="2133174"/>
          <a:ext cx="6039633" cy="1446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D8625703-A5A9-8744-D454-51A2F82F9550}"/>
              </a:ext>
            </a:extLst>
          </p:cNvPr>
          <p:cNvPicPr>
            <a:picLocks noChangeAspect="1"/>
          </p:cNvPicPr>
          <p:nvPr/>
        </p:nvPicPr>
        <p:blipFill>
          <a:blip r:embed="rId7"/>
          <a:stretch>
            <a:fillRect/>
          </a:stretch>
        </p:blipFill>
        <p:spPr>
          <a:xfrm>
            <a:off x="614291" y="4450473"/>
            <a:ext cx="4935609" cy="2124021"/>
          </a:xfrm>
          <a:prstGeom prst="rect">
            <a:avLst/>
          </a:prstGeom>
          <a:ln>
            <a:solidFill>
              <a:schemeClr val="accent3">
                <a:lumMod val="50000"/>
              </a:schemeClr>
            </a:solidFill>
          </a:ln>
        </p:spPr>
      </p:pic>
      <p:sp>
        <p:nvSpPr>
          <p:cNvPr id="5" name="TextBox 4">
            <a:extLst>
              <a:ext uri="{FF2B5EF4-FFF2-40B4-BE49-F238E27FC236}">
                <a16:creationId xmlns:a16="http://schemas.microsoft.com/office/drawing/2014/main" id="{F871AB66-94D5-B195-8B68-FFEA9FEBFC95}"/>
              </a:ext>
            </a:extLst>
          </p:cNvPr>
          <p:cNvSpPr txBox="1"/>
          <p:nvPr/>
        </p:nvSpPr>
        <p:spPr>
          <a:xfrm>
            <a:off x="6096000" y="2521156"/>
            <a:ext cx="5814645" cy="1723549"/>
          </a:xfrm>
          <a:prstGeom prst="rect">
            <a:avLst/>
          </a:prstGeom>
          <a:noFill/>
        </p:spPr>
        <p:txBody>
          <a:bodyPr wrap="square" rtlCol="0">
            <a:spAutoFit/>
          </a:bodyPr>
          <a:lstStyle/>
          <a:p>
            <a:pPr marL="285750" indent="-285750">
              <a:buFont typeface="Arial" panose="020B0604020202020204" pitchFamily="34" charset="0"/>
              <a:buChar char="•"/>
            </a:pPr>
            <a:r>
              <a:rPr lang="en-US" u="none" strike="noStrike" dirty="0">
                <a:effectLst/>
                <a:latin typeface="Arial" panose="020B0604020202020204" pitchFamily="34" charset="0"/>
                <a:ea typeface="Arial" panose="020B0604020202020204" pitchFamily="34" charset="0"/>
                <a:cs typeface="Arial" panose="020B0604020202020204" pitchFamily="34" charset="0"/>
              </a:rPr>
              <a:t>Fetch all products under the "Fruits" category.</a:t>
            </a:r>
          </a:p>
          <a:p>
            <a:pPr marL="285750" indent="-285750">
              <a:buFont typeface="Arial" panose="020B0604020202020204" pitchFamily="34" charset="0"/>
              <a:buChar char="•"/>
            </a:pPr>
            <a:endParaRPr lang="en-US" u="none" strike="noStrike" dirty="0">
              <a:effectLst/>
              <a:latin typeface="Arial" panose="020B0604020202020204" pitchFamily="34" charset="0"/>
              <a:ea typeface="Arial" panose="020B0604020202020204" pitchFamily="34" charset="0"/>
              <a:cs typeface="Arial" panose="020B0604020202020204" pitchFamily="34" charset="0"/>
            </a:endParaRPr>
          </a:p>
          <a:p>
            <a:r>
              <a:rPr lang="en-US" b="1" dirty="0">
                <a:latin typeface="Arial" panose="020B0604020202020204" pitchFamily="34" charset="0"/>
                <a:ea typeface="Arial" panose="020B0604020202020204" pitchFamily="34" charset="0"/>
                <a:cs typeface="Arial" panose="020B0604020202020204" pitchFamily="34" charset="0"/>
              </a:rPr>
              <a:t>     </a:t>
            </a:r>
            <a:r>
              <a:rPr lang="en-US" b="1" u="sng" dirty="0">
                <a:latin typeface="Arial" panose="020B0604020202020204" pitchFamily="34" charset="0"/>
                <a:ea typeface="Arial" panose="020B0604020202020204" pitchFamily="34" charset="0"/>
                <a:cs typeface="Arial" panose="020B0604020202020204" pitchFamily="34" charset="0"/>
              </a:rPr>
              <a:t>Output</a:t>
            </a:r>
            <a:r>
              <a:rPr lang="en-US" b="1" dirty="0">
                <a:latin typeface="Arial" panose="020B0604020202020204" pitchFamily="34" charset="0"/>
                <a:ea typeface="Arial" panose="020B0604020202020204" pitchFamily="34" charset="0"/>
                <a:cs typeface="Arial" panose="020B0604020202020204" pitchFamily="34" charset="0"/>
              </a:rPr>
              <a:t>: </a:t>
            </a:r>
            <a:r>
              <a:rPr lang="en-US" dirty="0">
                <a:latin typeface="Arial" panose="020B0604020202020204" pitchFamily="34" charset="0"/>
                <a:ea typeface="Arial" panose="020B0604020202020204" pitchFamily="34" charset="0"/>
                <a:cs typeface="Arial" panose="020B0604020202020204" pitchFamily="34" charset="0"/>
              </a:rPr>
              <a:t>Collected all the products under the      fruits category from product table using the </a:t>
            </a:r>
            <a:r>
              <a:rPr lang="en-US" dirty="0">
                <a:latin typeface="Arial" panose="020B0604020202020204" pitchFamily="34" charset="0"/>
                <a:cs typeface="Arial" panose="020B0604020202020204" pitchFamily="34" charset="0"/>
              </a:rPr>
              <a:t>SELECT command &amp; Where clause </a:t>
            </a:r>
          </a:p>
          <a:p>
            <a:endParaRPr lang="en-US" sz="1600" u="none" strike="noStrike" dirty="0">
              <a:effectLst/>
              <a:latin typeface="Arial" panose="020B0604020202020204" pitchFamily="34" charset="0"/>
              <a:ea typeface="Arial" panose="020B0604020202020204" pitchFamily="34" charset="0"/>
            </a:endParaRPr>
          </a:p>
        </p:txBody>
      </p:sp>
      <p:pic>
        <p:nvPicPr>
          <p:cNvPr id="25" name="Picture 24">
            <a:extLst>
              <a:ext uri="{FF2B5EF4-FFF2-40B4-BE49-F238E27FC236}">
                <a16:creationId xmlns:a16="http://schemas.microsoft.com/office/drawing/2014/main" id="{5F101B5B-0BFF-F9D2-2C39-0CF17043AFD6}"/>
              </a:ext>
            </a:extLst>
          </p:cNvPr>
          <p:cNvPicPr>
            <a:picLocks noChangeAspect="1"/>
          </p:cNvPicPr>
          <p:nvPr/>
        </p:nvPicPr>
        <p:blipFill>
          <a:blip r:embed="rId8"/>
          <a:stretch>
            <a:fillRect/>
          </a:stretch>
        </p:blipFill>
        <p:spPr>
          <a:xfrm>
            <a:off x="6405491" y="4450473"/>
            <a:ext cx="4851572" cy="2175409"/>
          </a:xfrm>
          <a:prstGeom prst="rect">
            <a:avLst/>
          </a:prstGeom>
          <a:ln>
            <a:solidFill>
              <a:schemeClr val="accent3">
                <a:lumMod val="75000"/>
              </a:schemeClr>
            </a:solidFill>
          </a:ln>
        </p:spPr>
      </p:pic>
    </p:spTree>
    <p:extLst>
      <p:ext uri="{BB962C8B-B14F-4D97-AF65-F5344CB8AC3E}">
        <p14:creationId xmlns:p14="http://schemas.microsoft.com/office/powerpoint/2010/main" val="2807370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C3092EE-5443-1C00-B2B6-CF378CD2C09B}"/>
              </a:ext>
            </a:extLst>
          </p:cNvPr>
          <p:cNvGrpSpPr/>
          <p:nvPr/>
        </p:nvGrpSpPr>
        <p:grpSpPr>
          <a:xfrm>
            <a:off x="9045527" y="1125167"/>
            <a:ext cx="2482336" cy="658836"/>
            <a:chOff x="126108" y="30739"/>
            <a:chExt cx="4904001" cy="420390"/>
          </a:xfrm>
        </p:grpSpPr>
        <p:sp>
          <p:nvSpPr>
            <p:cNvPr id="10" name="Rectangle: Rounded Corners 9">
              <a:extLst>
                <a:ext uri="{FF2B5EF4-FFF2-40B4-BE49-F238E27FC236}">
                  <a16:creationId xmlns:a16="http://schemas.microsoft.com/office/drawing/2014/main" id="{7E144A8B-FCD8-0F6F-2A27-EE7AF70137D5}"/>
                </a:ext>
              </a:extLst>
            </p:cNvPr>
            <p:cNvSpPr/>
            <p:nvPr/>
          </p:nvSpPr>
          <p:spPr>
            <a:xfrm>
              <a:off x="126108" y="30739"/>
              <a:ext cx="4145325" cy="42039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Rectangle: Rounded Corners 4">
              <a:extLst>
                <a:ext uri="{FF2B5EF4-FFF2-40B4-BE49-F238E27FC236}">
                  <a16:creationId xmlns:a16="http://schemas.microsoft.com/office/drawing/2014/main" id="{A62F0895-8316-126E-D809-8F9EAA22300F}"/>
                </a:ext>
              </a:extLst>
            </p:cNvPr>
            <p:cNvSpPr txBox="1"/>
            <p:nvPr/>
          </p:nvSpPr>
          <p:spPr>
            <a:xfrm>
              <a:off x="126108" y="149717"/>
              <a:ext cx="4904001" cy="1824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000" b="1" kern="1200" dirty="0">
                  <a:latin typeface="Arial" panose="020B0604020202020204" pitchFamily="34" charset="0"/>
                  <a:cs typeface="Arial" panose="020B0604020202020204" pitchFamily="34" charset="0"/>
                </a:rPr>
                <a:t>Task :  4</a:t>
              </a:r>
            </a:p>
          </p:txBody>
        </p:sp>
      </p:grpSp>
      <p:sp>
        <p:nvSpPr>
          <p:cNvPr id="4" name="TextBox 3">
            <a:extLst>
              <a:ext uri="{FF2B5EF4-FFF2-40B4-BE49-F238E27FC236}">
                <a16:creationId xmlns:a16="http://schemas.microsoft.com/office/drawing/2014/main" id="{9469E576-5105-991E-9CBB-61932563C4DB}"/>
              </a:ext>
            </a:extLst>
          </p:cNvPr>
          <p:cNvSpPr txBox="1"/>
          <p:nvPr/>
        </p:nvSpPr>
        <p:spPr>
          <a:xfrm>
            <a:off x="581463" y="515498"/>
            <a:ext cx="11029073" cy="658835"/>
          </a:xfrm>
          <a:prstGeom prst="rect">
            <a:avLst/>
          </a:prstGeom>
          <a:noFill/>
        </p:spPr>
        <p:txBody>
          <a:bodyPr wrap="square">
            <a:spAutoFit/>
          </a:bodyPr>
          <a:lstStyle/>
          <a:p>
            <a:pPr marL="0" marR="0">
              <a:lnSpc>
                <a:spcPct val="150000"/>
              </a:lnSpc>
              <a:spcBef>
                <a:spcPts val="1200"/>
              </a:spcBef>
              <a:spcAft>
                <a:spcPts val="200"/>
              </a:spcAft>
            </a:pPr>
            <a:r>
              <a:rPr lang="en-US" sz="2800" b="1" dirty="0">
                <a:solidFill>
                  <a:schemeClr val="bg1"/>
                </a:solidFill>
                <a:effectLst/>
                <a:latin typeface="Arial" panose="020B0604020202020204" pitchFamily="34" charset="0"/>
                <a:cs typeface="Arial" panose="020B0604020202020204" pitchFamily="34" charset="0"/>
              </a:rPr>
              <a:t>DATA DEFINITION LANGUAGE (DDL) AND CONSTRAINTS</a:t>
            </a:r>
          </a:p>
        </p:txBody>
      </p:sp>
      <p:sp>
        <p:nvSpPr>
          <p:cNvPr id="5" name="TextBox 4">
            <a:extLst>
              <a:ext uri="{FF2B5EF4-FFF2-40B4-BE49-F238E27FC236}">
                <a16:creationId xmlns:a16="http://schemas.microsoft.com/office/drawing/2014/main" id="{583C1C34-7694-E4F1-0479-840C29AED330}"/>
              </a:ext>
            </a:extLst>
          </p:cNvPr>
          <p:cNvSpPr txBox="1"/>
          <p:nvPr/>
        </p:nvSpPr>
        <p:spPr>
          <a:xfrm>
            <a:off x="404601" y="1879820"/>
            <a:ext cx="10058402" cy="1703030"/>
          </a:xfrm>
          <a:prstGeom prst="rect">
            <a:avLst/>
          </a:prstGeom>
          <a:noFill/>
        </p:spPr>
        <p:txBody>
          <a:bodyPr wrap="square" rtlCol="0">
            <a:spAutoFit/>
          </a:bodyPr>
          <a:lstStyle/>
          <a:p>
            <a:pPr marL="285750" marR="0" lvl="0" indent="-285750">
              <a:lnSpc>
                <a:spcPct val="150000"/>
              </a:lnSpc>
              <a:spcBef>
                <a:spcPts val="1200"/>
              </a:spcBef>
              <a:spcAft>
                <a:spcPts val="0"/>
              </a:spcAft>
              <a:buFont typeface="Arial" panose="020B0604020202020204" pitchFamily="34" charset="0"/>
              <a:buChar char="•"/>
            </a:pPr>
            <a:r>
              <a:rPr lang="en-US" u="none" strike="noStrike" dirty="0">
                <a:effectLst/>
                <a:latin typeface="Arial" panose="020B0604020202020204" pitchFamily="34" charset="0"/>
                <a:ea typeface="Arial" panose="020B0604020202020204" pitchFamily="34" charset="0"/>
                <a:cs typeface="Arial" panose="020B0604020202020204" pitchFamily="34" charset="0"/>
              </a:rPr>
              <a:t>Write </a:t>
            </a:r>
            <a:r>
              <a:rPr lang="en-US" b="1" u="none" strike="noStrike" dirty="0">
                <a:effectLst/>
                <a:latin typeface="Arial" panose="020B0604020202020204" pitchFamily="34" charset="0"/>
                <a:ea typeface="Arial" panose="020B0604020202020204" pitchFamily="34" charset="0"/>
                <a:cs typeface="Arial" panose="020B0604020202020204" pitchFamily="34" charset="0"/>
              </a:rPr>
              <a:t>DDL statements</a:t>
            </a:r>
            <a:r>
              <a:rPr lang="en-US" u="none" strike="noStrike" dirty="0">
                <a:effectLst/>
                <a:latin typeface="Arial" panose="020B0604020202020204" pitchFamily="34" charset="0"/>
                <a:ea typeface="Arial" panose="020B0604020202020204" pitchFamily="34" charset="0"/>
                <a:cs typeface="Arial" panose="020B0604020202020204" pitchFamily="34" charset="0"/>
              </a:rPr>
              <a:t> to recreate the </a:t>
            </a:r>
            <a:r>
              <a:rPr lang="en-US" u="none" strike="noStrike" dirty="0">
                <a:effectLst/>
                <a:latin typeface="Arial" panose="020B0604020202020204" pitchFamily="34" charset="0"/>
                <a:ea typeface="Roboto Mono" panose="00000009000000000000" pitchFamily="49" charset="0"/>
                <a:cs typeface="Arial" panose="020B0604020202020204" pitchFamily="34" charset="0"/>
              </a:rPr>
              <a:t>Customers</a:t>
            </a:r>
            <a:r>
              <a:rPr lang="en-US" u="none" strike="noStrike" dirty="0">
                <a:effectLst/>
                <a:latin typeface="Arial" panose="020B0604020202020204" pitchFamily="34" charset="0"/>
                <a:ea typeface="Arial" panose="020B0604020202020204" pitchFamily="34" charset="0"/>
                <a:cs typeface="Arial" panose="020B0604020202020204" pitchFamily="34" charset="0"/>
              </a:rPr>
              <a:t> table with the following constraints:</a:t>
            </a:r>
          </a:p>
          <a:p>
            <a:pPr marL="742950" marR="0" lvl="1" indent="-285750">
              <a:lnSpc>
                <a:spcPct val="150000"/>
              </a:lnSpc>
              <a:spcBef>
                <a:spcPts val="0"/>
              </a:spcBef>
              <a:spcAft>
                <a:spcPts val="0"/>
              </a:spcAft>
              <a:buFont typeface="Arial" panose="020B0604020202020204" pitchFamily="34" charset="0"/>
              <a:buChar char="○"/>
            </a:pPr>
            <a:r>
              <a:rPr lang="en-US" u="none" strike="noStrike" dirty="0">
                <a:effectLst/>
                <a:latin typeface="Arial" panose="020B0604020202020204" pitchFamily="34" charset="0"/>
                <a:ea typeface="Roboto Mono" panose="00000009000000000000" pitchFamily="49" charset="0"/>
                <a:cs typeface="Arial" panose="020B0604020202020204" pitchFamily="34" charset="0"/>
              </a:rPr>
              <a:t>CustomerID</a:t>
            </a:r>
            <a:r>
              <a:rPr lang="en-US" u="none" strike="noStrike" dirty="0">
                <a:effectLst/>
                <a:latin typeface="Arial" panose="020B0604020202020204" pitchFamily="34" charset="0"/>
                <a:ea typeface="Arial" panose="020B0604020202020204" pitchFamily="34" charset="0"/>
                <a:cs typeface="Arial" panose="020B0604020202020204" pitchFamily="34" charset="0"/>
              </a:rPr>
              <a:t> as the primary key.</a:t>
            </a:r>
          </a:p>
          <a:p>
            <a:pPr marL="742950" marR="0" lvl="1" indent="-285750">
              <a:lnSpc>
                <a:spcPct val="150000"/>
              </a:lnSpc>
              <a:spcBef>
                <a:spcPts val="0"/>
              </a:spcBef>
              <a:spcAft>
                <a:spcPts val="0"/>
              </a:spcAft>
              <a:buFont typeface="Arial" panose="020B0604020202020204" pitchFamily="34" charset="0"/>
              <a:buChar char="○"/>
            </a:pPr>
            <a:endParaRPr lang="en-US" u="none" strike="noStrike" dirty="0">
              <a:effectLst/>
              <a:latin typeface="Arial" panose="020B0604020202020204" pitchFamily="34" charset="0"/>
              <a:ea typeface="Arial" panose="020B0604020202020204" pitchFamily="34" charset="0"/>
              <a:cs typeface="Arial" panose="020B0604020202020204" pitchFamily="34" charset="0"/>
            </a:endParaRPr>
          </a:p>
          <a:p>
            <a:pPr marR="0" lvl="1">
              <a:lnSpc>
                <a:spcPct val="150000"/>
              </a:lnSpc>
              <a:spcBef>
                <a:spcPts val="0"/>
              </a:spcBef>
              <a:spcAft>
                <a:spcPts val="0"/>
              </a:spcAft>
            </a:pPr>
            <a:r>
              <a:rPr lang="en-US" u="none" strike="noStrike" dirty="0">
                <a:effectLst/>
                <a:latin typeface="Arial" panose="020B0604020202020204" pitchFamily="34" charset="0"/>
                <a:ea typeface="Arial" panose="020B0604020202020204" pitchFamily="34" charset="0"/>
                <a:cs typeface="Arial" panose="020B0604020202020204" pitchFamily="34" charset="0"/>
              </a:rPr>
              <a:t>.</a:t>
            </a:r>
          </a:p>
        </p:txBody>
      </p:sp>
      <p:sp>
        <p:nvSpPr>
          <p:cNvPr id="11" name="Rectangle 3">
            <a:extLst>
              <a:ext uri="{FF2B5EF4-FFF2-40B4-BE49-F238E27FC236}">
                <a16:creationId xmlns:a16="http://schemas.microsoft.com/office/drawing/2014/main" id="{E24C9045-60CC-6A2F-C17B-457ACD0614A3}"/>
              </a:ext>
            </a:extLst>
          </p:cNvPr>
          <p:cNvSpPr>
            <a:spLocks noChangeArrowheads="1"/>
          </p:cNvSpPr>
          <p:nvPr/>
        </p:nvSpPr>
        <p:spPr bwMode="auto">
          <a:xfrm>
            <a:off x="-1701800" y="2489490"/>
            <a:ext cx="1348919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5" defTabSz="91440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5" defTabSz="91440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Insights : </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Set the customer ID as primary key Ensures each CustomerID is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unique </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using the query </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so it </a:t>
            </a:r>
            <a:r>
              <a:rPr kumimoji="0" lang="en-US" altLang="en-US" i="0" u="none" strike="noStrike" cap="none" normalizeH="0" baseline="0" dirty="0">
                <a:ln>
                  <a:noFill/>
                </a:ln>
                <a:solidFill>
                  <a:schemeClr val="tx1"/>
                </a:solidFill>
                <a:effectLst/>
                <a:latin typeface="Arial" panose="020B0604020202020204" pitchFamily="34" charset="0"/>
                <a:cs typeface="Arial" panose="020B0604020202020204" pitchFamily="34" charset="0"/>
              </a:rPr>
              <a:t>cannot be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NULL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1893A87E-01AF-0A63-DF68-5B9EAE570505}"/>
              </a:ext>
            </a:extLst>
          </p:cNvPr>
          <p:cNvSpPr txBox="1"/>
          <p:nvPr/>
        </p:nvSpPr>
        <p:spPr>
          <a:xfrm>
            <a:off x="404600" y="3474912"/>
            <a:ext cx="10828257" cy="1754326"/>
          </a:xfrm>
          <a:prstGeom prst="rect">
            <a:avLst/>
          </a:prstGeom>
          <a:noFill/>
        </p:spPr>
        <p:txBody>
          <a:bodyPr wrap="square" rtlCol="0">
            <a:spAutoFit/>
          </a:bodyPr>
          <a:lstStyle/>
          <a:p>
            <a:pPr marL="285750" indent="-285750">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Ensure </a:t>
            </a:r>
            <a:r>
              <a:rPr lang="en-US" sz="1800" dirty="0">
                <a:effectLst/>
                <a:latin typeface="Arial" panose="020B0604020202020204" pitchFamily="34" charset="0"/>
                <a:ea typeface="Roboto Mono" panose="00000009000000000000" pitchFamily="49" charset="0"/>
                <a:cs typeface="Arial" panose="020B0604020202020204" pitchFamily="34" charset="0"/>
              </a:rPr>
              <a:t>Age</a:t>
            </a:r>
            <a:r>
              <a:rPr lang="en-US" sz="1800" dirty="0">
                <a:effectLst/>
                <a:latin typeface="Arial" panose="020B0604020202020204" pitchFamily="34" charset="0"/>
                <a:ea typeface="Arial" panose="020B0604020202020204" pitchFamily="34" charset="0"/>
                <a:cs typeface="Arial" panose="020B0604020202020204" pitchFamily="34" charset="0"/>
              </a:rPr>
              <a:t> cannot be null and must be greater than 18</a:t>
            </a:r>
          </a:p>
          <a:p>
            <a:pPr marL="285750" indent="-285750">
              <a:buFont typeface="Arial" panose="020B0604020202020204" pitchFamily="34" charset="0"/>
              <a:buChar char="•"/>
            </a:pPr>
            <a:endParaRPr lang="en-US" sz="1800" dirty="0">
              <a:effectLst/>
              <a:latin typeface="Arial" panose="020B0604020202020204" pitchFamily="34" charset="0"/>
              <a:ea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Insights:</a:t>
            </a:r>
          </a:p>
          <a:p>
            <a:r>
              <a:rPr lang="en-US" dirty="0">
                <a:latin typeface="Arial" panose="020B0604020202020204" pitchFamily="34" charset="0"/>
                <a:cs typeface="Arial" panose="020B0604020202020204" pitchFamily="34" charset="0"/>
              </a:rPr>
              <a:t>        While checking the age condition is filed, I have received errors because some of the customer age is below 18 then updated the age of the customers to 19 those who have below 18 using the query follows the UPDATE commands. Then used a </a:t>
            </a:r>
            <a:r>
              <a:rPr lang="en-US" b="1" dirty="0">
                <a:latin typeface="Arial" panose="020B0604020202020204" pitchFamily="34" charset="0"/>
                <a:cs typeface="Arial" panose="020B0604020202020204" pitchFamily="34" charset="0"/>
              </a:rPr>
              <a:t>trigger</a:t>
            </a:r>
            <a:r>
              <a:rPr lang="en-US" dirty="0">
                <a:latin typeface="Arial" panose="020B0604020202020204" pitchFamily="34" charset="0"/>
                <a:cs typeface="Arial" panose="020B0604020202020204" pitchFamily="34" charset="0"/>
              </a:rPr>
              <a:t> to prevent inserting invalid ages in future.</a:t>
            </a:r>
          </a:p>
        </p:txBody>
      </p:sp>
      <p:sp>
        <p:nvSpPr>
          <p:cNvPr id="6" name="TextBox 5">
            <a:extLst>
              <a:ext uri="{FF2B5EF4-FFF2-40B4-BE49-F238E27FC236}">
                <a16:creationId xmlns:a16="http://schemas.microsoft.com/office/drawing/2014/main" id="{040B8CE0-C830-B0C0-E729-11348E93988B}"/>
              </a:ext>
            </a:extLst>
          </p:cNvPr>
          <p:cNvSpPr txBox="1"/>
          <p:nvPr/>
        </p:nvSpPr>
        <p:spPr>
          <a:xfrm>
            <a:off x="404600" y="5291330"/>
            <a:ext cx="10974600" cy="1754326"/>
          </a:xfrm>
          <a:prstGeom prst="rect">
            <a:avLst/>
          </a:prstGeom>
          <a:noFill/>
        </p:spPr>
        <p:txBody>
          <a:bodyPr wrap="square" rtlCol="0">
            <a:spAutoFit/>
          </a:bodyPr>
          <a:lstStyle/>
          <a:p>
            <a:pPr marL="285750" indent="-285750">
              <a:buFont typeface="Arial" panose="020B0604020202020204" pitchFamily="34" charset="0"/>
              <a:buChar char="•"/>
            </a:pPr>
            <a:r>
              <a:rPr lang="en-US" sz="1800" dirty="0">
                <a:effectLst/>
                <a:latin typeface="Arial" panose="020B0604020202020204" pitchFamily="34" charset="0"/>
                <a:ea typeface="Arial" panose="020B0604020202020204" pitchFamily="34" charset="0"/>
              </a:rPr>
              <a:t>Add a unique constraint for </a:t>
            </a:r>
            <a:r>
              <a:rPr lang="en-US" sz="1800" dirty="0">
                <a:effectLst/>
                <a:latin typeface="Roboto Mono" panose="00000009000000000000" pitchFamily="49" charset="0"/>
                <a:ea typeface="Roboto Mono" panose="00000009000000000000" pitchFamily="49" charset="0"/>
                <a:cs typeface="Roboto Mono" panose="00000009000000000000" pitchFamily="49" charset="0"/>
              </a:rPr>
              <a:t>Name</a:t>
            </a:r>
            <a:r>
              <a:rPr lang="en-US" sz="1800" dirty="0">
                <a:effectLst/>
                <a:latin typeface="Arial" panose="020B0604020202020204" pitchFamily="34" charset="0"/>
                <a:ea typeface="Arial" panose="020B0604020202020204" pitchFamily="34" charset="0"/>
              </a:rPr>
              <a:t>.</a:t>
            </a:r>
          </a:p>
          <a:p>
            <a:r>
              <a:rPr lang="en-US" b="1" dirty="0">
                <a:latin typeface="Arial" panose="020B0604020202020204" pitchFamily="34" charset="0"/>
                <a:cs typeface="Arial" panose="020B0604020202020204" pitchFamily="34" charset="0"/>
              </a:rPr>
              <a:t> Insights:</a:t>
            </a:r>
            <a:endParaRPr lang="en-IN" sz="1800" dirty="0">
              <a:effectLst/>
              <a:latin typeface="Aptos" panose="020B0004020202020204" pitchFamily="34" charset="0"/>
              <a:ea typeface="Aptos" panose="020B0004020202020204" pitchFamily="34" charset="0"/>
              <a:cs typeface="Times New Roman" panose="02020603050405020304" pitchFamily="18" charset="0"/>
            </a:endParaRPr>
          </a:p>
          <a:p>
            <a:r>
              <a:rPr lang="en-IN" sz="1800" dirty="0">
                <a:effectLst/>
                <a:latin typeface="Aptos" panose="020B0004020202020204" pitchFamily="34" charset="0"/>
                <a:ea typeface="Aptos" panose="020B0004020202020204" pitchFamily="34" charset="0"/>
                <a:cs typeface="Times New Roman" panose="02020603050405020304" pitchFamily="18" charset="0"/>
              </a:rPr>
              <a:t>         To prevent duplicate names in the Customers table, we add a Unique Constraint for name</a:t>
            </a:r>
            <a:r>
              <a:rPr lang="en-US" dirty="0">
                <a:latin typeface="Arial" panose="020B0604020202020204" pitchFamily="34" charset="0"/>
                <a:ea typeface="Aptos" panose="020B0004020202020204" pitchFamily="34" charset="0"/>
                <a:cs typeface="Times New Roman" panose="02020603050405020304" pitchFamily="18" charset="0"/>
              </a:rPr>
              <a:t>. </a:t>
            </a:r>
            <a:r>
              <a:rPr lang="en-US" dirty="0">
                <a:latin typeface="Arial" panose="020B0604020202020204" pitchFamily="34" charset="0"/>
                <a:ea typeface="Arial" panose="020B0604020202020204" pitchFamily="34" charset="0"/>
              </a:rPr>
              <a:t>This ensures that no two customers have the same name.</a:t>
            </a:r>
          </a:p>
          <a:p>
            <a:endParaRPr lang="en-US" sz="1800"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249644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43CC1-B0B7-43FB-79AD-49A261F6789B}"/>
              </a:ext>
            </a:extLst>
          </p:cNvPr>
          <p:cNvSpPr>
            <a:spLocks noGrp="1"/>
          </p:cNvSpPr>
          <p:nvPr>
            <p:ph type="title"/>
          </p:nvPr>
        </p:nvSpPr>
        <p:spPr>
          <a:xfrm>
            <a:off x="0" y="520700"/>
            <a:ext cx="11610809" cy="800100"/>
          </a:xfrm>
        </p:spPr>
        <p:txBody>
          <a:bodyPr/>
          <a:lstStyle/>
          <a:p>
            <a:r>
              <a:rPr lang="en-US" dirty="0"/>
              <a:t>•	</a:t>
            </a:r>
            <a:r>
              <a:rPr lang="en-US" b="1" dirty="0">
                <a:latin typeface="Arial" panose="020B0604020202020204" pitchFamily="34" charset="0"/>
                <a:cs typeface="Arial" panose="020B0604020202020204" pitchFamily="34" charset="0"/>
              </a:rPr>
              <a:t>Data Manipulation Language (DML)</a:t>
            </a:r>
          </a:p>
        </p:txBody>
      </p:sp>
      <p:sp>
        <p:nvSpPr>
          <p:cNvPr id="3" name="Content Placeholder 2">
            <a:extLst>
              <a:ext uri="{FF2B5EF4-FFF2-40B4-BE49-F238E27FC236}">
                <a16:creationId xmlns:a16="http://schemas.microsoft.com/office/drawing/2014/main" id="{E8913EDA-3E3F-EBFD-7766-BB7C89D9C126}"/>
              </a:ext>
            </a:extLst>
          </p:cNvPr>
          <p:cNvSpPr>
            <a:spLocks noGrp="1"/>
          </p:cNvSpPr>
          <p:nvPr>
            <p:ph sz="half" idx="1"/>
          </p:nvPr>
        </p:nvSpPr>
        <p:spPr>
          <a:xfrm>
            <a:off x="628340" y="2690191"/>
            <a:ext cx="9880599" cy="1220934"/>
          </a:xfrm>
        </p:spPr>
        <p:txBody>
          <a:bodyPr>
            <a:normAutofit fontScale="92500" lnSpcReduction="20000"/>
          </a:bodyPr>
          <a:lstStyle/>
          <a:p>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Insert 3 new rows into the </a:t>
            </a:r>
            <a:r>
              <a:rPr lang="en-US" sz="1800" u="none" strike="noStrike" dirty="0">
                <a:solidFill>
                  <a:schemeClr val="tx1"/>
                </a:solidFill>
                <a:effectLst/>
                <a:latin typeface="Arial" panose="020B0604020202020204" pitchFamily="34" charset="0"/>
                <a:ea typeface="Roboto Mono" panose="00000009000000000000" pitchFamily="49" charset="0"/>
                <a:cs typeface="Arial" panose="020B0604020202020204" pitchFamily="34" charset="0"/>
              </a:rPr>
              <a:t>Products</a:t>
            </a:r>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table using </a:t>
            </a:r>
            <a:r>
              <a:rPr lang="en-US" sz="1800" u="none" strike="noStrike" dirty="0">
                <a:solidFill>
                  <a:schemeClr val="tx1"/>
                </a:solidFill>
                <a:effectLst/>
                <a:latin typeface="Arial" panose="020B0604020202020204" pitchFamily="34" charset="0"/>
                <a:ea typeface="Roboto Mono" panose="00000009000000000000" pitchFamily="49" charset="0"/>
                <a:cs typeface="Arial" panose="020B0604020202020204" pitchFamily="34" charset="0"/>
              </a:rPr>
              <a:t>INSERT</a:t>
            </a:r>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statements.</a:t>
            </a:r>
          </a:p>
          <a:p>
            <a:pPr marL="0" indent="0">
              <a:buNone/>
            </a:pPr>
            <a:r>
              <a:rPr lang="en-US" dirty="0">
                <a:solidFill>
                  <a:schemeClr val="tx1"/>
                </a:solidFill>
                <a:latin typeface="Arial" panose="020B0604020202020204" pitchFamily="34" charset="0"/>
                <a:ea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ea typeface="Arial" panose="020B0604020202020204" pitchFamily="34" charset="0"/>
                <a:cs typeface="Arial" panose="020B0604020202020204" pitchFamily="34" charset="0"/>
              </a:rPr>
              <a:t>Insights</a:t>
            </a:r>
            <a:r>
              <a:rPr lang="en-US" dirty="0">
                <a:solidFill>
                  <a:schemeClr val="tx1"/>
                </a:solidFill>
                <a:latin typeface="Arial" panose="020B0604020202020204" pitchFamily="34" charset="0"/>
                <a:ea typeface="Arial" panose="020B0604020202020204" pitchFamily="34" charset="0"/>
                <a:cs typeface="Arial" panose="020B0604020202020204" pitchFamily="34" charset="0"/>
              </a:rPr>
              <a:t>: It ensures that new data is properly categorized using the INSERT statement included 3 rows into product table. Also, I </a:t>
            </a:r>
            <a:r>
              <a:rPr lang="en-IN" dirty="0">
                <a:solidFill>
                  <a:schemeClr val="tx1"/>
                </a:solidFill>
                <a:latin typeface="Arial" panose="020B0604020202020204" pitchFamily="34" charset="0"/>
                <a:ea typeface="Arial" panose="020B0604020202020204" pitchFamily="34" charset="0"/>
                <a:cs typeface="Arial" panose="020B0604020202020204" pitchFamily="34" charset="0"/>
              </a:rPr>
              <a:t>made </a:t>
            </a:r>
            <a:r>
              <a:rPr lang="en-IN" sz="1800" dirty="0">
                <a:solidFill>
                  <a:schemeClr val="tx1"/>
                </a:solidFill>
                <a:effectLst/>
                <a:latin typeface="Arial" panose="020B0604020202020204" pitchFamily="34" charset="0"/>
                <a:ea typeface="Aptos" panose="020B0004020202020204" pitchFamily="34" charset="0"/>
                <a:cs typeface="Arial" panose="020B0604020202020204" pitchFamily="34" charset="0"/>
              </a:rPr>
              <a:t>sure that 3 random values of  </a:t>
            </a:r>
            <a:r>
              <a:rPr lang="en-IN" sz="1800" dirty="0" err="1">
                <a:solidFill>
                  <a:schemeClr val="tx1"/>
                </a:solidFill>
                <a:effectLst/>
                <a:latin typeface="Arial" panose="020B0604020202020204" pitchFamily="34" charset="0"/>
                <a:ea typeface="Aptos" panose="020B0004020202020204" pitchFamily="34" charset="0"/>
                <a:cs typeface="Arial" panose="020B0604020202020204" pitchFamily="34" charset="0"/>
              </a:rPr>
              <a:t>SupplierID</a:t>
            </a:r>
            <a:r>
              <a:rPr lang="en-IN" sz="1800" dirty="0">
                <a:solidFill>
                  <a:schemeClr val="tx1"/>
                </a:solidFill>
                <a:effectLst/>
                <a:latin typeface="Arial" panose="020B0604020202020204" pitchFamily="34" charset="0"/>
                <a:ea typeface="Aptos" panose="020B0004020202020204" pitchFamily="34" charset="0"/>
                <a:cs typeface="Arial" panose="020B0604020202020204" pitchFamily="34" charset="0"/>
              </a:rPr>
              <a:t> added in the Suppliers table.</a:t>
            </a:r>
            <a:endParaRPr lang="en-US" sz="1800" dirty="0">
              <a:solidFill>
                <a:schemeClr val="tx1"/>
              </a:solidFill>
              <a:effectLst/>
              <a:latin typeface="Arial" panose="020B0604020202020204" pitchFamily="34" charset="0"/>
              <a:ea typeface="Aptos" panose="020B0004020202020204" pitchFamily="34" charset="0"/>
              <a:cs typeface="Arial" panose="020B0604020202020204" pitchFamily="34" charset="0"/>
            </a:endParaRPr>
          </a:p>
          <a:p>
            <a:pPr marL="0" indent="0">
              <a:buNone/>
            </a:pPr>
            <a:endPar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endParaRPr lang="en-US" dirty="0"/>
          </a:p>
        </p:txBody>
      </p:sp>
      <p:pic>
        <p:nvPicPr>
          <p:cNvPr id="13" name="Content Placeholder 12">
            <a:extLst>
              <a:ext uri="{FF2B5EF4-FFF2-40B4-BE49-F238E27FC236}">
                <a16:creationId xmlns:a16="http://schemas.microsoft.com/office/drawing/2014/main" id="{28897403-337C-1E8F-4535-A4C174D21880}"/>
              </a:ext>
            </a:extLst>
          </p:cNvPr>
          <p:cNvPicPr>
            <a:picLocks noGrp="1" noChangeAspect="1"/>
          </p:cNvPicPr>
          <p:nvPr>
            <p:ph sz="half" idx="2"/>
          </p:nvPr>
        </p:nvPicPr>
        <p:blipFill>
          <a:blip r:embed="rId2"/>
          <a:stretch>
            <a:fillRect/>
          </a:stretch>
        </p:blipFill>
        <p:spPr>
          <a:xfrm>
            <a:off x="1743625" y="3922054"/>
            <a:ext cx="6955875" cy="2368550"/>
          </a:xfrm>
          <a:ln>
            <a:solidFill>
              <a:schemeClr val="accent2">
                <a:lumMod val="50000"/>
              </a:schemeClr>
            </a:solidFill>
          </a:ln>
        </p:spPr>
      </p:pic>
      <p:grpSp>
        <p:nvGrpSpPr>
          <p:cNvPr id="5" name="Group 4">
            <a:extLst>
              <a:ext uri="{FF2B5EF4-FFF2-40B4-BE49-F238E27FC236}">
                <a16:creationId xmlns:a16="http://schemas.microsoft.com/office/drawing/2014/main" id="{31AD164C-2D9D-2714-E9CA-3E4AEF374E0A}"/>
              </a:ext>
            </a:extLst>
          </p:cNvPr>
          <p:cNvGrpSpPr/>
          <p:nvPr/>
        </p:nvGrpSpPr>
        <p:grpSpPr>
          <a:xfrm>
            <a:off x="8505990" y="1092199"/>
            <a:ext cx="2060409" cy="694397"/>
            <a:chOff x="126108" y="149717"/>
            <a:chExt cx="4264244" cy="301412"/>
          </a:xfrm>
        </p:grpSpPr>
        <p:sp>
          <p:nvSpPr>
            <p:cNvPr id="6" name="Rectangle: Rounded Corners 5">
              <a:extLst>
                <a:ext uri="{FF2B5EF4-FFF2-40B4-BE49-F238E27FC236}">
                  <a16:creationId xmlns:a16="http://schemas.microsoft.com/office/drawing/2014/main" id="{8DC6FA3A-4D34-C833-0073-C8A9F78AD213}"/>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ectangle: Rounded Corners 4">
              <a:extLst>
                <a:ext uri="{FF2B5EF4-FFF2-40B4-BE49-F238E27FC236}">
                  <a16:creationId xmlns:a16="http://schemas.microsoft.com/office/drawing/2014/main" id="{A0ECDD27-559A-92DE-7B62-A374EDDD185B}"/>
                </a:ext>
              </a:extLst>
            </p:cNvPr>
            <p:cNvSpPr txBox="1"/>
            <p:nvPr/>
          </p:nvSpPr>
          <p:spPr>
            <a:xfrm>
              <a:off x="126108" y="202045"/>
              <a:ext cx="4264244" cy="2443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a:t>
              </a:r>
              <a:r>
                <a:rPr lang="en-US" sz="2400" b="1" dirty="0">
                  <a:latin typeface="Arial" panose="020B0604020202020204" pitchFamily="34" charset="0"/>
                  <a:cs typeface="Arial" panose="020B0604020202020204" pitchFamily="34" charset="0"/>
                </a:rPr>
                <a:t>5</a:t>
              </a:r>
              <a:endParaRPr lang="en-US" sz="24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82625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981C57-7CFC-7294-4071-53D151A64060}"/>
              </a:ext>
            </a:extLst>
          </p:cNvPr>
          <p:cNvSpPr>
            <a:spLocks noGrp="1"/>
          </p:cNvSpPr>
          <p:nvPr>
            <p:ph sz="half" idx="1"/>
          </p:nvPr>
        </p:nvSpPr>
        <p:spPr>
          <a:xfrm>
            <a:off x="581192" y="2082799"/>
            <a:ext cx="11027712" cy="2106729"/>
          </a:xfrm>
        </p:spPr>
        <p:txBody>
          <a:bodyPr>
            <a:normAutofit/>
          </a:bodyPr>
          <a:lstStyle/>
          <a:p>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Update the stock quantity of a product where </a:t>
            </a:r>
            <a:r>
              <a:rPr lang="en-US" sz="1800" u="none" strike="noStrike" dirty="0">
                <a:solidFill>
                  <a:schemeClr val="tx1"/>
                </a:solidFill>
                <a:effectLst/>
                <a:latin typeface="Arial" panose="020B0604020202020204" pitchFamily="34" charset="0"/>
                <a:ea typeface="Roboto Mono" panose="00000009000000000000" pitchFamily="49" charset="0"/>
                <a:cs typeface="Arial" panose="020B0604020202020204" pitchFamily="34" charset="0"/>
              </a:rPr>
              <a:t>ProductID</a:t>
            </a:r>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matches a specific ID.</a:t>
            </a:r>
          </a:p>
          <a:p>
            <a:pPr marL="0" indent="0">
              <a:buNone/>
            </a:pPr>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ea typeface="Arial" panose="020B0604020202020204" pitchFamily="34" charset="0"/>
                <a:cs typeface="Arial" panose="020B0604020202020204" pitchFamily="34" charset="0"/>
              </a:rPr>
              <a:t>Procedure:</a:t>
            </a:r>
            <a:r>
              <a:rPr lang="en-US" sz="1800" b="1"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To update the stock quantity: For instance increased the stock by 20 for a product with ProductID = </a:t>
            </a:r>
            <a:r>
              <a:rPr lang="en-US" sz="1800" b="1"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'2aa28375-c563-41b5-aa33-8e2c2e0f4db9</a:t>
            </a:r>
            <a:r>
              <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using the UPDATE statement.</a:t>
            </a:r>
          </a:p>
          <a:p>
            <a:pPr marL="0" indent="0">
              <a:buNone/>
            </a:pPr>
            <a:endPar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dirty="0">
                <a:solidFill>
                  <a:schemeClr val="tx1"/>
                </a:solidFill>
                <a:latin typeface="Arial" panose="020B0604020202020204" pitchFamily="34" charset="0"/>
                <a:ea typeface="Arial" panose="020B0604020202020204" pitchFamily="34" charset="0"/>
                <a:cs typeface="Arial" panose="020B0604020202020204" pitchFamily="34" charset="0"/>
              </a:rPr>
              <a:t>    </a:t>
            </a:r>
            <a:r>
              <a:rPr lang="en-US" b="1" dirty="0">
                <a:solidFill>
                  <a:schemeClr val="tx1"/>
                </a:solidFill>
                <a:latin typeface="Arial" panose="020B0604020202020204" pitchFamily="34" charset="0"/>
                <a:ea typeface="Arial" panose="020B0604020202020204" pitchFamily="34" charset="0"/>
                <a:cs typeface="Arial" panose="020B0604020202020204" pitchFamily="34" charset="0"/>
              </a:rPr>
              <a:t>Insights: </a:t>
            </a:r>
            <a:r>
              <a:rPr lang="en-US" dirty="0">
                <a:solidFill>
                  <a:schemeClr val="tx1"/>
                </a:solidFill>
                <a:latin typeface="Arial" panose="020B0604020202020204" pitchFamily="34" charset="0"/>
                <a:ea typeface="Arial" panose="020B0604020202020204" pitchFamily="34" charset="0"/>
                <a:cs typeface="Arial" panose="020B0604020202020204" pitchFamily="34" charset="0"/>
              </a:rPr>
              <a:t>It has been increased from 187 to 207 after performing the UPDATE statement.</a:t>
            </a:r>
            <a:endPar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endParaRPr lang="en-US" dirty="0"/>
          </a:p>
        </p:txBody>
      </p:sp>
      <p:pic>
        <p:nvPicPr>
          <p:cNvPr id="11" name="Content Placeholder 10">
            <a:extLst>
              <a:ext uri="{FF2B5EF4-FFF2-40B4-BE49-F238E27FC236}">
                <a16:creationId xmlns:a16="http://schemas.microsoft.com/office/drawing/2014/main" id="{0873BFB6-384A-9036-B9A1-B7F9B1E85EF2}"/>
              </a:ext>
            </a:extLst>
          </p:cNvPr>
          <p:cNvPicPr>
            <a:picLocks noGrp="1" noChangeAspect="1"/>
          </p:cNvPicPr>
          <p:nvPr>
            <p:ph sz="half" idx="2"/>
          </p:nvPr>
        </p:nvPicPr>
        <p:blipFill>
          <a:blip r:embed="rId2"/>
          <a:stretch>
            <a:fillRect/>
          </a:stretch>
        </p:blipFill>
        <p:spPr>
          <a:xfrm>
            <a:off x="1762539" y="4436336"/>
            <a:ext cx="6813825" cy="2170330"/>
          </a:xfrm>
          <a:ln>
            <a:solidFill>
              <a:schemeClr val="accent1">
                <a:lumMod val="50000"/>
              </a:schemeClr>
            </a:solidFill>
          </a:ln>
        </p:spPr>
      </p:pic>
      <p:grpSp>
        <p:nvGrpSpPr>
          <p:cNvPr id="5" name="Group 4">
            <a:extLst>
              <a:ext uri="{FF2B5EF4-FFF2-40B4-BE49-F238E27FC236}">
                <a16:creationId xmlns:a16="http://schemas.microsoft.com/office/drawing/2014/main" id="{B7E4694F-D34F-D6E6-00F9-7B41D43A620E}"/>
              </a:ext>
            </a:extLst>
          </p:cNvPr>
          <p:cNvGrpSpPr/>
          <p:nvPr/>
        </p:nvGrpSpPr>
        <p:grpSpPr>
          <a:xfrm>
            <a:off x="8576364" y="980660"/>
            <a:ext cx="2303670" cy="569359"/>
            <a:chOff x="126108" y="30739"/>
            <a:chExt cx="4904001" cy="420390"/>
          </a:xfrm>
        </p:grpSpPr>
        <p:sp>
          <p:nvSpPr>
            <p:cNvPr id="6" name="Rectangle: Rounded Corners 5">
              <a:extLst>
                <a:ext uri="{FF2B5EF4-FFF2-40B4-BE49-F238E27FC236}">
                  <a16:creationId xmlns:a16="http://schemas.microsoft.com/office/drawing/2014/main" id="{2EEF10FB-1981-DE05-0FEA-5DAD66967B09}"/>
                </a:ext>
              </a:extLst>
            </p:cNvPr>
            <p:cNvSpPr/>
            <p:nvPr/>
          </p:nvSpPr>
          <p:spPr>
            <a:xfrm>
              <a:off x="126108" y="30739"/>
              <a:ext cx="4145325" cy="42039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ectangle: Rounded Corners 4">
              <a:extLst>
                <a:ext uri="{FF2B5EF4-FFF2-40B4-BE49-F238E27FC236}">
                  <a16:creationId xmlns:a16="http://schemas.microsoft.com/office/drawing/2014/main" id="{5E3B14C0-9B93-BAB4-2AFC-628D00F8F890}"/>
                </a:ext>
              </a:extLst>
            </p:cNvPr>
            <p:cNvSpPr txBox="1"/>
            <p:nvPr/>
          </p:nvSpPr>
          <p:spPr>
            <a:xfrm>
              <a:off x="126108" y="149717"/>
              <a:ext cx="4904001" cy="3014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800" b="1" kern="1200" dirty="0">
                  <a:latin typeface="Arial" panose="020B0604020202020204" pitchFamily="34" charset="0"/>
                  <a:cs typeface="Arial" panose="020B0604020202020204" pitchFamily="34" charset="0"/>
                </a:rPr>
                <a:t>Task :  6</a:t>
              </a:r>
            </a:p>
          </p:txBody>
        </p:sp>
      </p:grpSp>
    </p:spTree>
    <p:extLst>
      <p:ext uri="{BB962C8B-B14F-4D97-AF65-F5344CB8AC3E}">
        <p14:creationId xmlns:p14="http://schemas.microsoft.com/office/powerpoint/2010/main" val="2192840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F88E2F-958F-B1D4-B585-BA33EF514C45}"/>
              </a:ext>
            </a:extLst>
          </p:cNvPr>
          <p:cNvSpPr>
            <a:spLocks noGrp="1"/>
          </p:cNvSpPr>
          <p:nvPr>
            <p:ph sz="half" idx="1"/>
          </p:nvPr>
        </p:nvSpPr>
        <p:spPr>
          <a:xfrm>
            <a:off x="774412" y="2398643"/>
            <a:ext cx="10366208" cy="1544631"/>
          </a:xfrm>
        </p:spPr>
        <p:txBody>
          <a:bodyPr>
            <a:normAutofit lnSpcReduction="10000"/>
          </a:bodyPr>
          <a:lstStyle/>
          <a:p>
            <a:r>
              <a:rPr lang="en-US" sz="19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Delete a supplier from the </a:t>
            </a:r>
            <a:r>
              <a:rPr lang="en-US" sz="1900" u="none" strike="noStrike" dirty="0">
                <a:solidFill>
                  <a:schemeClr val="tx1"/>
                </a:solidFill>
                <a:effectLst/>
                <a:latin typeface="Arial" panose="020B0604020202020204" pitchFamily="34" charset="0"/>
                <a:ea typeface="Roboto Mono" panose="00000009000000000000" pitchFamily="49" charset="0"/>
                <a:cs typeface="Arial" panose="020B0604020202020204" pitchFamily="34" charset="0"/>
              </a:rPr>
              <a:t>Suppliers</a:t>
            </a:r>
            <a:r>
              <a:rPr lang="en-US" sz="19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table where their city matches a specific value.</a:t>
            </a:r>
          </a:p>
          <a:p>
            <a:pPr marL="0" indent="0">
              <a:buNone/>
            </a:pPr>
            <a:r>
              <a:rPr lang="en-US" dirty="0">
                <a:solidFill>
                  <a:schemeClr val="tx1"/>
                </a:solidFill>
                <a:latin typeface="Arial" panose="020B0604020202020204" pitchFamily="34" charset="0"/>
                <a:ea typeface="Arial" panose="020B0604020202020204" pitchFamily="34" charset="0"/>
                <a:cs typeface="Arial" panose="020B0604020202020204" pitchFamily="34" charset="0"/>
              </a:rPr>
              <a:t>            </a:t>
            </a:r>
            <a:r>
              <a:rPr lang="en-US" sz="1900" dirty="0">
                <a:solidFill>
                  <a:schemeClr val="tx1"/>
                </a:solidFill>
                <a:latin typeface="Arial" panose="020B0604020202020204" pitchFamily="34" charset="0"/>
                <a:ea typeface="Arial" panose="020B0604020202020204" pitchFamily="34" charset="0"/>
                <a:cs typeface="Arial" panose="020B0604020202020204" pitchFamily="34" charset="0"/>
              </a:rPr>
              <a:t>Have to delete one supplier from the suppliers table based on random matched city. There were only one supplier from </a:t>
            </a:r>
            <a:r>
              <a:rPr lang="en-US" sz="1900" dirty="0" err="1">
                <a:solidFill>
                  <a:schemeClr val="tx1"/>
                </a:solidFill>
                <a:latin typeface="Arial" panose="020B0604020202020204" pitchFamily="34" charset="0"/>
                <a:ea typeface="Arial" panose="020B0604020202020204" pitchFamily="34" charset="0"/>
                <a:cs typeface="Arial" panose="020B0604020202020204" pitchFamily="34" charset="0"/>
              </a:rPr>
              <a:t>Millerburgh</a:t>
            </a:r>
            <a:r>
              <a:rPr lang="en-US" sz="1900" dirty="0">
                <a:solidFill>
                  <a:schemeClr val="tx1"/>
                </a:solidFill>
                <a:latin typeface="Arial" panose="020B0604020202020204" pitchFamily="34" charset="0"/>
                <a:ea typeface="Arial" panose="020B0604020202020204" pitchFamily="34" charset="0"/>
                <a:cs typeface="Arial" panose="020B0604020202020204" pitchFamily="34" charset="0"/>
              </a:rPr>
              <a:t>.</a:t>
            </a:r>
          </a:p>
          <a:p>
            <a:pPr marL="0" indent="0">
              <a:buNone/>
            </a:pPr>
            <a:r>
              <a:rPr lang="en-US" sz="1900" dirty="0">
                <a:solidFill>
                  <a:schemeClr val="tx1"/>
                </a:solidFill>
                <a:latin typeface="Arial" panose="020B0604020202020204" pitchFamily="34" charset="0"/>
                <a:ea typeface="Arial" panose="020B0604020202020204" pitchFamily="34" charset="0"/>
                <a:cs typeface="Arial" panose="020B0604020202020204" pitchFamily="34" charset="0"/>
              </a:rPr>
              <a:t>I have deleted that supplier who from </a:t>
            </a:r>
            <a:r>
              <a:rPr lang="en-US" sz="1900" b="1" dirty="0">
                <a:solidFill>
                  <a:schemeClr val="tx1"/>
                </a:solidFill>
                <a:latin typeface="Arial" panose="020B0604020202020204" pitchFamily="34" charset="0"/>
                <a:ea typeface="Arial" panose="020B0604020202020204" pitchFamily="34" charset="0"/>
                <a:cs typeface="Arial" panose="020B0604020202020204" pitchFamily="34" charset="0"/>
              </a:rPr>
              <a:t>“</a:t>
            </a:r>
            <a:r>
              <a:rPr lang="en-IN" sz="1900" b="1" dirty="0" err="1">
                <a:solidFill>
                  <a:schemeClr val="tx1"/>
                </a:solidFill>
                <a:effectLst/>
                <a:latin typeface="Arial" panose="020B0604020202020204" pitchFamily="34" charset="0"/>
                <a:ea typeface="Aptos" panose="020B0004020202020204" pitchFamily="34" charset="0"/>
                <a:cs typeface="Arial" panose="020B0604020202020204" pitchFamily="34" charset="0"/>
              </a:rPr>
              <a:t>Millerburgh</a:t>
            </a:r>
            <a:r>
              <a:rPr lang="en-IN" sz="1900" dirty="0">
                <a:solidFill>
                  <a:schemeClr val="tx1"/>
                </a:solidFill>
                <a:effectLst/>
                <a:latin typeface="Arial" panose="020B0604020202020204" pitchFamily="34" charset="0"/>
                <a:ea typeface="Aptos" panose="020B0004020202020204" pitchFamily="34" charset="0"/>
                <a:cs typeface="Arial" panose="020B0604020202020204" pitchFamily="34" charset="0"/>
              </a:rPr>
              <a:t>” using the delete command</a:t>
            </a:r>
            <a:r>
              <a:rPr lang="en-IN" sz="1900" dirty="0">
                <a:effectLst/>
                <a:latin typeface="Arial" panose="020B0604020202020204" pitchFamily="34" charset="0"/>
                <a:ea typeface="Aptos" panose="020B0004020202020204" pitchFamily="34" charset="0"/>
                <a:cs typeface="Arial" panose="020B0604020202020204" pitchFamily="34" charset="0"/>
              </a:rPr>
              <a:t>.</a:t>
            </a:r>
            <a:endParaRPr lang="en-US" sz="1900" dirty="0">
              <a:effectLst/>
              <a:latin typeface="Arial" panose="020B0604020202020204" pitchFamily="34" charset="0"/>
              <a:ea typeface="Aptos" panose="020B0004020202020204" pitchFamily="34" charset="0"/>
              <a:cs typeface="Arial" panose="020B0604020202020204" pitchFamily="34" charset="0"/>
            </a:endParaRPr>
          </a:p>
          <a:p>
            <a:endParaRPr lang="en-US" sz="18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endParaRPr lang="en-US" dirty="0"/>
          </a:p>
        </p:txBody>
      </p:sp>
      <p:pic>
        <p:nvPicPr>
          <p:cNvPr id="9" name="Content Placeholder 8">
            <a:extLst>
              <a:ext uri="{FF2B5EF4-FFF2-40B4-BE49-F238E27FC236}">
                <a16:creationId xmlns:a16="http://schemas.microsoft.com/office/drawing/2014/main" id="{43AC72A2-D793-4BA2-6216-60B0DEE2EAB2}"/>
              </a:ext>
            </a:extLst>
          </p:cNvPr>
          <p:cNvPicPr>
            <a:picLocks noGrp="1" noChangeAspect="1"/>
          </p:cNvPicPr>
          <p:nvPr>
            <p:ph sz="half" idx="2"/>
          </p:nvPr>
        </p:nvPicPr>
        <p:blipFill>
          <a:blip r:embed="rId2"/>
          <a:stretch>
            <a:fillRect/>
          </a:stretch>
        </p:blipFill>
        <p:spPr>
          <a:xfrm>
            <a:off x="1231990" y="3804215"/>
            <a:ext cx="7739732" cy="2417784"/>
          </a:xfrm>
          <a:ln>
            <a:solidFill>
              <a:schemeClr val="accent1">
                <a:lumMod val="50000"/>
              </a:schemeClr>
            </a:solidFill>
          </a:ln>
        </p:spPr>
      </p:pic>
      <p:grpSp>
        <p:nvGrpSpPr>
          <p:cNvPr id="5" name="Group 4">
            <a:extLst>
              <a:ext uri="{FF2B5EF4-FFF2-40B4-BE49-F238E27FC236}">
                <a16:creationId xmlns:a16="http://schemas.microsoft.com/office/drawing/2014/main" id="{E594C7FE-DBB4-A1A8-E079-F7B9275B49BF}"/>
              </a:ext>
            </a:extLst>
          </p:cNvPr>
          <p:cNvGrpSpPr/>
          <p:nvPr/>
        </p:nvGrpSpPr>
        <p:grpSpPr>
          <a:xfrm>
            <a:off x="9154449" y="886264"/>
            <a:ext cx="2412490" cy="786595"/>
            <a:chOff x="126108" y="-76406"/>
            <a:chExt cx="5613185" cy="639528"/>
          </a:xfrm>
        </p:grpSpPr>
        <p:sp>
          <p:nvSpPr>
            <p:cNvPr id="6" name="Rectangle: Rounded Corners 5">
              <a:extLst>
                <a:ext uri="{FF2B5EF4-FFF2-40B4-BE49-F238E27FC236}">
                  <a16:creationId xmlns:a16="http://schemas.microsoft.com/office/drawing/2014/main" id="{A50D4F30-3A20-6D5E-C925-D5817E8EDA92}"/>
                </a:ext>
              </a:extLst>
            </p:cNvPr>
            <p:cNvSpPr/>
            <p:nvPr/>
          </p:nvSpPr>
          <p:spPr>
            <a:xfrm>
              <a:off x="126108" y="30739"/>
              <a:ext cx="4145325" cy="42039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ectangle: Rounded Corners 4">
              <a:extLst>
                <a:ext uri="{FF2B5EF4-FFF2-40B4-BE49-F238E27FC236}">
                  <a16:creationId xmlns:a16="http://schemas.microsoft.com/office/drawing/2014/main" id="{9B65115A-0280-0A02-C3B1-0CF78DCD6BBA}"/>
                </a:ext>
              </a:extLst>
            </p:cNvPr>
            <p:cNvSpPr txBox="1"/>
            <p:nvPr/>
          </p:nvSpPr>
          <p:spPr>
            <a:xfrm>
              <a:off x="126108" y="-76406"/>
              <a:ext cx="5613185" cy="63952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800" b="1" kern="1200" dirty="0">
                  <a:latin typeface="Arial" panose="020B0604020202020204" pitchFamily="34" charset="0"/>
                  <a:cs typeface="Arial" panose="020B0604020202020204" pitchFamily="34" charset="0"/>
                </a:rPr>
                <a:t>Task :  </a:t>
              </a:r>
              <a:r>
                <a:rPr lang="en-US" sz="2800" b="1" dirty="0">
                  <a:latin typeface="Arial" panose="020B0604020202020204" pitchFamily="34" charset="0"/>
                  <a:cs typeface="Arial" panose="020B0604020202020204" pitchFamily="34" charset="0"/>
                </a:rPr>
                <a:t>7</a:t>
              </a:r>
              <a:endParaRPr lang="en-US" sz="2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12649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2D560-FD89-048E-9AAC-56CC80199AFB}"/>
              </a:ext>
            </a:extLst>
          </p:cNvPr>
          <p:cNvSpPr>
            <a:spLocks noGrp="1"/>
          </p:cNvSpPr>
          <p:nvPr>
            <p:ph type="title"/>
          </p:nvPr>
        </p:nvSpPr>
        <p:spPr>
          <a:xfrm>
            <a:off x="581193" y="546100"/>
            <a:ext cx="11029616" cy="814705"/>
          </a:xfrm>
        </p:spPr>
        <p:txBody>
          <a:bodyPr>
            <a:normAutofit/>
          </a:bodyPr>
          <a:lstStyle/>
          <a:p>
            <a:pPr marL="342900" marR="0" lvl="0" indent="-342900">
              <a:spcBef>
                <a:spcPts val="0"/>
              </a:spcBef>
              <a:spcAft>
                <a:spcPts val="0"/>
              </a:spcAft>
              <a:tabLst>
                <a:tab pos="457200" algn="l"/>
              </a:tabLst>
            </a:pPr>
            <a:r>
              <a:rPr lang="en-US" sz="3200" b="1" kern="1200" dirty="0">
                <a:effectLst/>
                <a:latin typeface="Arial" panose="020B0604020202020204" pitchFamily="34" charset="0"/>
                <a:ea typeface="Times New Roman" panose="02020603050405020304" pitchFamily="18" charset="0"/>
                <a:cs typeface="Times New Roman" panose="02020603050405020304" pitchFamily="18" charset="0"/>
              </a:rPr>
              <a:t>SQL Constraints and Operators</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47E3E3-502F-AF27-8A78-31773E574504}"/>
              </a:ext>
            </a:extLst>
          </p:cNvPr>
          <p:cNvSpPr>
            <a:spLocks noGrp="1"/>
          </p:cNvSpPr>
          <p:nvPr>
            <p:ph sz="half" idx="1"/>
          </p:nvPr>
        </p:nvSpPr>
        <p:spPr>
          <a:xfrm>
            <a:off x="457200" y="2292846"/>
            <a:ext cx="11029616" cy="3282454"/>
          </a:xfrm>
        </p:spPr>
        <p:txBody>
          <a:bodyPr>
            <a:normAutofit fontScale="70000" lnSpcReduction="20000"/>
          </a:bodyPr>
          <a:lstStyle/>
          <a:p>
            <a:r>
              <a:rPr lang="en-US" sz="2900" b="1" u="sng" dirty="0">
                <a:ln w="0"/>
                <a:solidFill>
                  <a:schemeClr val="tx1"/>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rPr>
              <a:t>Use SQL constraints to:</a:t>
            </a:r>
          </a:p>
          <a:p>
            <a:endParaRPr lang="en-US" sz="2900" b="1" u="sng" dirty="0">
              <a:ln w="0"/>
              <a:solidFill>
                <a:schemeClr val="tx1"/>
              </a:solidFill>
              <a:effectLst>
                <a:outerShdw blurRad="38100" dist="19050" dir="2700000" algn="tl" rotWithShape="0">
                  <a:schemeClr val="dk1">
                    <a:alpha val="40000"/>
                  </a:schemeClr>
                </a:outerShdw>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sz="2600" dirty="0">
                <a:solidFill>
                  <a:schemeClr val="tx1"/>
                </a:solidFill>
                <a:latin typeface="Arial" panose="020B0604020202020204" pitchFamily="34" charset="0"/>
                <a:ea typeface="Arial" panose="020B0604020202020204" pitchFamily="34" charset="0"/>
                <a:cs typeface="Arial" panose="020B0604020202020204" pitchFamily="34" charset="0"/>
              </a:rPr>
              <a:t>1.  </a:t>
            </a:r>
            <a:r>
              <a:rPr lang="en-US" sz="2600" dirty="0">
                <a:solidFill>
                  <a:schemeClr val="tx1"/>
                </a:solidFill>
                <a:effectLst/>
                <a:latin typeface="Arial" panose="020B0604020202020204" pitchFamily="34" charset="0"/>
                <a:ea typeface="Arial" panose="020B0604020202020204" pitchFamily="34" charset="0"/>
                <a:cs typeface="Arial" panose="020B0604020202020204" pitchFamily="34" charset="0"/>
              </a:rPr>
              <a:t>Add a </a:t>
            </a:r>
            <a:r>
              <a:rPr lang="en-US" sz="2600" b="1" dirty="0">
                <a:solidFill>
                  <a:schemeClr val="tx1"/>
                </a:solidFill>
                <a:effectLst/>
                <a:latin typeface="Arial" panose="020B0604020202020204" pitchFamily="34" charset="0"/>
                <a:ea typeface="Arial" panose="020B0604020202020204" pitchFamily="34" charset="0"/>
                <a:cs typeface="Arial" panose="020B0604020202020204" pitchFamily="34" charset="0"/>
              </a:rPr>
              <a:t>CHECK</a:t>
            </a:r>
            <a:r>
              <a:rPr lang="en-US" sz="2600" dirty="0">
                <a:solidFill>
                  <a:schemeClr val="tx1"/>
                </a:solidFill>
                <a:effectLst/>
                <a:latin typeface="Arial" panose="020B0604020202020204" pitchFamily="34" charset="0"/>
                <a:ea typeface="Arial" panose="020B0604020202020204" pitchFamily="34" charset="0"/>
                <a:cs typeface="Arial" panose="020B0604020202020204" pitchFamily="34" charset="0"/>
              </a:rPr>
              <a:t> constraint to ensure that ratings in the Reviews table are between 1 and 5.</a:t>
            </a:r>
          </a:p>
          <a:p>
            <a:pPr marL="0" indent="0">
              <a:buNone/>
            </a:pPr>
            <a:r>
              <a:rPr lang="en-US" sz="2600" dirty="0">
                <a:solidFill>
                  <a:schemeClr val="tx1"/>
                </a:solidFill>
                <a:latin typeface="Arial" panose="020B0604020202020204" pitchFamily="34" charset="0"/>
                <a:cs typeface="Arial" panose="020B0604020202020204" pitchFamily="34" charset="0"/>
              </a:rPr>
              <a:t>          </a:t>
            </a:r>
            <a:r>
              <a:rPr lang="en-US" sz="2600" b="1" u="sng" dirty="0">
                <a:solidFill>
                  <a:schemeClr val="tx1"/>
                </a:solidFill>
                <a:latin typeface="Arial" panose="020B0604020202020204" pitchFamily="34" charset="0"/>
                <a:cs typeface="Arial" panose="020B0604020202020204" pitchFamily="34" charset="0"/>
              </a:rPr>
              <a:t>Insights</a:t>
            </a:r>
            <a:r>
              <a:rPr lang="en-US" sz="2600" b="1" dirty="0">
                <a:solidFill>
                  <a:schemeClr val="tx1"/>
                </a:solidFill>
                <a:latin typeface="Arial" panose="020B0604020202020204" pitchFamily="34" charset="0"/>
                <a:cs typeface="Arial" panose="020B0604020202020204" pitchFamily="34" charset="0"/>
              </a:rPr>
              <a:t>: </a:t>
            </a:r>
            <a:r>
              <a:rPr lang="en-US" sz="2600" dirty="0">
                <a:solidFill>
                  <a:schemeClr val="tx1"/>
                </a:solidFill>
                <a:latin typeface="Arial" panose="020B0604020202020204" pitchFamily="34" charset="0"/>
                <a:cs typeface="Arial" panose="020B0604020202020204" pitchFamily="34" charset="0"/>
              </a:rPr>
              <a:t>The purpose of </a:t>
            </a:r>
            <a:r>
              <a:rPr lang="en-US" sz="2600" b="1" dirty="0">
                <a:solidFill>
                  <a:schemeClr val="tx1"/>
                </a:solidFill>
                <a:latin typeface="Arial" panose="020B0604020202020204" pitchFamily="34" charset="0"/>
                <a:cs typeface="Arial" panose="020B0604020202020204" pitchFamily="34" charset="0"/>
              </a:rPr>
              <a:t>CHECK</a:t>
            </a:r>
            <a:r>
              <a:rPr lang="en-US" sz="2600" dirty="0">
                <a:solidFill>
                  <a:schemeClr val="tx1"/>
                </a:solidFill>
                <a:latin typeface="Arial" panose="020B0604020202020204" pitchFamily="34" charset="0"/>
                <a:cs typeface="Arial" panose="020B0604020202020204" pitchFamily="34" charset="0"/>
              </a:rPr>
              <a:t> constraint is rating should be given within 5. Hence, the constraint will prevent inserting values outside this range</a:t>
            </a:r>
          </a:p>
          <a:p>
            <a:pPr marL="0" indent="0">
              <a:buNone/>
            </a:pPr>
            <a:endParaRPr lang="en-US" sz="26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sz="2600" dirty="0">
                <a:solidFill>
                  <a:schemeClr val="tx1"/>
                </a:solidFill>
                <a:effectLst/>
                <a:latin typeface="Arial" panose="020B0604020202020204" pitchFamily="34" charset="0"/>
                <a:ea typeface="Arial" panose="020B0604020202020204" pitchFamily="34" charset="0"/>
                <a:cs typeface="Arial" panose="020B0604020202020204" pitchFamily="34" charset="0"/>
              </a:rPr>
              <a:t>2.     Add a </a:t>
            </a:r>
            <a:r>
              <a:rPr lang="en-US" sz="2600" b="1" dirty="0">
                <a:solidFill>
                  <a:schemeClr val="tx1"/>
                </a:solidFill>
                <a:effectLst/>
                <a:latin typeface="Arial" panose="020B0604020202020204" pitchFamily="34" charset="0"/>
                <a:ea typeface="Arial" panose="020B0604020202020204" pitchFamily="34" charset="0"/>
                <a:cs typeface="Arial" panose="020B0604020202020204" pitchFamily="34" charset="0"/>
              </a:rPr>
              <a:t>DEFAULT</a:t>
            </a:r>
            <a:r>
              <a:rPr lang="en-US" sz="2600" dirty="0">
                <a:solidFill>
                  <a:schemeClr val="tx1"/>
                </a:solidFill>
                <a:effectLst/>
                <a:latin typeface="Arial" panose="020B0604020202020204" pitchFamily="34" charset="0"/>
                <a:ea typeface="Arial" panose="020B0604020202020204" pitchFamily="34" charset="0"/>
                <a:cs typeface="Arial" panose="020B0604020202020204" pitchFamily="34" charset="0"/>
              </a:rPr>
              <a:t> constraint for the </a:t>
            </a:r>
            <a:r>
              <a:rPr lang="en-US" sz="2600" dirty="0" err="1">
                <a:solidFill>
                  <a:schemeClr val="tx1"/>
                </a:solidFill>
                <a:effectLst/>
                <a:latin typeface="Arial" panose="020B0604020202020204" pitchFamily="34" charset="0"/>
                <a:ea typeface="Arial" panose="020B0604020202020204" pitchFamily="34" charset="0"/>
                <a:cs typeface="Arial" panose="020B0604020202020204" pitchFamily="34" charset="0"/>
              </a:rPr>
              <a:t>PrimeMember</a:t>
            </a:r>
            <a:r>
              <a:rPr lang="en-US" sz="2600" dirty="0">
                <a:solidFill>
                  <a:schemeClr val="tx1"/>
                </a:solidFill>
                <a:effectLst/>
                <a:latin typeface="Arial" panose="020B0604020202020204" pitchFamily="34" charset="0"/>
                <a:ea typeface="Arial" panose="020B0604020202020204" pitchFamily="34" charset="0"/>
                <a:cs typeface="Arial" panose="020B0604020202020204" pitchFamily="34" charset="0"/>
              </a:rPr>
              <a:t> column in the Customers table (default value: "No").</a:t>
            </a:r>
          </a:p>
          <a:p>
            <a:pPr marL="0" indent="0">
              <a:buNone/>
            </a:pPr>
            <a:r>
              <a:rPr lang="en-US" sz="2600" b="1" dirty="0">
                <a:solidFill>
                  <a:schemeClr val="tx1"/>
                </a:solidFill>
                <a:latin typeface="Arial" panose="020B0604020202020204" pitchFamily="34" charset="0"/>
                <a:ea typeface="Arial" panose="020B0604020202020204" pitchFamily="34" charset="0"/>
                <a:cs typeface="Arial" panose="020B0604020202020204" pitchFamily="34" charset="0"/>
              </a:rPr>
              <a:t>         </a:t>
            </a:r>
            <a:r>
              <a:rPr lang="en-US" sz="2600" b="1" u="sng" dirty="0">
                <a:solidFill>
                  <a:schemeClr val="tx1"/>
                </a:solidFill>
                <a:latin typeface="Arial" panose="020B0604020202020204" pitchFamily="34" charset="0"/>
                <a:ea typeface="Arial" panose="020B0604020202020204" pitchFamily="34" charset="0"/>
                <a:cs typeface="Arial" panose="020B0604020202020204" pitchFamily="34" charset="0"/>
              </a:rPr>
              <a:t>Insights</a:t>
            </a:r>
            <a:r>
              <a:rPr lang="en-US" sz="2600" b="1" dirty="0">
                <a:solidFill>
                  <a:schemeClr val="tx1"/>
                </a:solidFill>
                <a:latin typeface="Arial" panose="020B0604020202020204" pitchFamily="34" charset="0"/>
                <a:ea typeface="Arial" panose="020B0604020202020204" pitchFamily="34" charset="0"/>
                <a:cs typeface="Arial" panose="020B0604020202020204" pitchFamily="34" charset="0"/>
              </a:rPr>
              <a:t>: </a:t>
            </a:r>
            <a:r>
              <a:rPr lang="en-US" sz="2600" dirty="0">
                <a:solidFill>
                  <a:schemeClr val="tx1"/>
                </a:solidFill>
                <a:latin typeface="Arial" panose="020B0604020202020204" pitchFamily="34" charset="0"/>
                <a:ea typeface="Arial" panose="020B0604020202020204" pitchFamily="34" charset="0"/>
                <a:cs typeface="Arial" panose="020B0604020202020204" pitchFamily="34" charset="0"/>
              </a:rPr>
              <a:t>The purpose of </a:t>
            </a:r>
            <a:r>
              <a:rPr lang="en-US" sz="2600" b="1" dirty="0">
                <a:solidFill>
                  <a:schemeClr val="tx1"/>
                </a:solidFill>
                <a:latin typeface="Arial" panose="020B0604020202020204" pitchFamily="34" charset="0"/>
                <a:ea typeface="Arial" panose="020B0604020202020204" pitchFamily="34" charset="0"/>
                <a:cs typeface="Arial" panose="020B0604020202020204" pitchFamily="34" charset="0"/>
              </a:rPr>
              <a:t>DEFAULT</a:t>
            </a:r>
            <a:r>
              <a:rPr lang="en-US" sz="2600" dirty="0">
                <a:solidFill>
                  <a:schemeClr val="tx1"/>
                </a:solidFill>
                <a:latin typeface="Arial" panose="020B0604020202020204" pitchFamily="34" charset="0"/>
                <a:ea typeface="Arial" panose="020B0604020202020204" pitchFamily="34" charset="0"/>
                <a:cs typeface="Arial" panose="020B0604020202020204" pitchFamily="34" charset="0"/>
              </a:rPr>
              <a:t> constraint is set a specific value Here the value is “no” for prime member. Also, The datatype used here is “ENUM” which means it allows only specific value to be inserted in the column</a:t>
            </a:r>
            <a:endParaRPr lang="en-US" sz="2600" b="1"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endParaRPr lang="en-US" dirty="0">
              <a:solidFill>
                <a:schemeClr val="tx1"/>
              </a:solidFill>
            </a:endParaRPr>
          </a:p>
        </p:txBody>
      </p:sp>
      <p:grpSp>
        <p:nvGrpSpPr>
          <p:cNvPr id="7" name="Group 6">
            <a:extLst>
              <a:ext uri="{FF2B5EF4-FFF2-40B4-BE49-F238E27FC236}">
                <a16:creationId xmlns:a16="http://schemas.microsoft.com/office/drawing/2014/main" id="{85F3ECBE-0BE3-E925-A096-7EDDA62B3B29}"/>
              </a:ext>
            </a:extLst>
          </p:cNvPr>
          <p:cNvGrpSpPr/>
          <p:nvPr/>
        </p:nvGrpSpPr>
        <p:grpSpPr>
          <a:xfrm>
            <a:off x="9096113" y="1022875"/>
            <a:ext cx="2254773" cy="675860"/>
            <a:chOff x="126108" y="149717"/>
            <a:chExt cx="4264244" cy="301412"/>
          </a:xfrm>
        </p:grpSpPr>
        <p:sp>
          <p:nvSpPr>
            <p:cNvPr id="8" name="Rectangle: Rounded Corners 7">
              <a:extLst>
                <a:ext uri="{FF2B5EF4-FFF2-40B4-BE49-F238E27FC236}">
                  <a16:creationId xmlns:a16="http://schemas.microsoft.com/office/drawing/2014/main" id="{38845508-FB28-8802-66C0-DDBF1EB3EC9F}"/>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Rectangle: Rounded Corners 4">
              <a:extLst>
                <a:ext uri="{FF2B5EF4-FFF2-40B4-BE49-F238E27FC236}">
                  <a16:creationId xmlns:a16="http://schemas.microsoft.com/office/drawing/2014/main" id="{940A87FB-754C-7368-1C29-58448340DB4E}"/>
                </a:ext>
              </a:extLst>
            </p:cNvPr>
            <p:cNvSpPr txBox="1"/>
            <p:nvPr/>
          </p:nvSpPr>
          <p:spPr>
            <a:xfrm>
              <a:off x="126108" y="202045"/>
              <a:ext cx="4264244" cy="2443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8</a:t>
              </a:r>
            </a:p>
          </p:txBody>
        </p:sp>
      </p:grpSp>
    </p:spTree>
    <p:extLst>
      <p:ext uri="{BB962C8B-B14F-4D97-AF65-F5344CB8AC3E}">
        <p14:creationId xmlns:p14="http://schemas.microsoft.com/office/powerpoint/2010/main" val="2995742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15E08-C67D-D704-78E4-E97D95EC7028}"/>
              </a:ext>
            </a:extLst>
          </p:cNvPr>
          <p:cNvSpPr>
            <a:spLocks noGrp="1"/>
          </p:cNvSpPr>
          <p:nvPr>
            <p:ph type="title"/>
          </p:nvPr>
        </p:nvSpPr>
        <p:spPr>
          <a:xfrm>
            <a:off x="581192" y="702156"/>
            <a:ext cx="10315408" cy="669444"/>
          </a:xfrm>
        </p:spPr>
        <p:txBody>
          <a:bodyPr/>
          <a:lstStyle/>
          <a:p>
            <a:r>
              <a:rPr lang="en-US" sz="3200" b="1" dirty="0">
                <a:latin typeface="Arial" panose="020B0604020202020204" pitchFamily="34" charset="0"/>
                <a:cs typeface="Arial" panose="020B0604020202020204" pitchFamily="34" charset="0"/>
              </a:rPr>
              <a:t>Clauses and Aggregations</a:t>
            </a:r>
          </a:p>
        </p:txBody>
      </p:sp>
      <p:sp>
        <p:nvSpPr>
          <p:cNvPr id="3" name="Content Placeholder 2">
            <a:extLst>
              <a:ext uri="{FF2B5EF4-FFF2-40B4-BE49-F238E27FC236}">
                <a16:creationId xmlns:a16="http://schemas.microsoft.com/office/drawing/2014/main" id="{4AA85DF7-EE0A-740B-5ECB-04D56872A0A7}"/>
              </a:ext>
            </a:extLst>
          </p:cNvPr>
          <p:cNvSpPr>
            <a:spLocks noGrp="1"/>
          </p:cNvSpPr>
          <p:nvPr>
            <p:ph idx="1"/>
          </p:nvPr>
        </p:nvSpPr>
        <p:spPr>
          <a:xfrm>
            <a:off x="492293" y="2032598"/>
            <a:ext cx="5857708" cy="2206582"/>
          </a:xfrm>
        </p:spPr>
        <p:txBody>
          <a:bodyPr>
            <a:normAutofit fontScale="25000" lnSpcReduction="20000"/>
          </a:bodyPr>
          <a:lstStyle/>
          <a:p>
            <a:pPr marR="0" lvl="0"/>
            <a:r>
              <a:rPr lang="en-US" sz="7200" b="1" u="sng"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Write queries using:</a:t>
            </a:r>
          </a:p>
          <a:p>
            <a:pPr marL="457200" marR="0" lvl="1" indent="0">
              <a:lnSpc>
                <a:spcPct val="150000"/>
              </a:lnSpc>
              <a:spcBef>
                <a:spcPts val="0"/>
              </a:spcBef>
              <a:spcAft>
                <a:spcPts val="0"/>
              </a:spcAft>
              <a:buNone/>
            </a:pPr>
            <a:r>
              <a:rPr lang="en-US" sz="6400" b="1"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WHERE</a:t>
            </a:r>
            <a:r>
              <a:rPr lang="en-US" sz="64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clause to find orders placed after </a:t>
            </a:r>
            <a:r>
              <a:rPr lang="en-US" sz="6400" u="none" strike="noStrike" dirty="0">
                <a:solidFill>
                  <a:schemeClr val="tx1"/>
                </a:solidFill>
                <a:effectLst/>
                <a:latin typeface="Arial" panose="020B0604020202020204" pitchFamily="34" charset="0"/>
                <a:ea typeface="Roboto Mono" panose="00000009000000000000" pitchFamily="49" charset="0"/>
                <a:cs typeface="Arial" panose="020B0604020202020204" pitchFamily="34" charset="0"/>
              </a:rPr>
              <a:t>2024-01-01</a:t>
            </a:r>
            <a:r>
              <a:rPr lang="en-US" sz="64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a:t>
            </a:r>
          </a:p>
          <a:p>
            <a:pPr marL="457200" lvl="1" indent="0">
              <a:lnSpc>
                <a:spcPct val="150000"/>
              </a:lnSpc>
              <a:spcBef>
                <a:spcPts val="0"/>
              </a:spcBef>
              <a:spcAft>
                <a:spcPts val="0"/>
              </a:spcAft>
              <a:buNone/>
            </a:pPr>
            <a:r>
              <a:rPr lang="en-US" sz="6400" dirty="0">
                <a:solidFill>
                  <a:schemeClr val="tx1"/>
                </a:solidFill>
                <a:latin typeface="Arial" panose="020B0604020202020204" pitchFamily="34" charset="0"/>
                <a:ea typeface="Arial" panose="020B0604020202020204" pitchFamily="34" charset="0"/>
                <a:cs typeface="Arial" panose="020B0604020202020204" pitchFamily="34" charset="0"/>
              </a:rPr>
              <a:t>    </a:t>
            </a:r>
            <a:r>
              <a:rPr lang="en-US" sz="6400" b="1" dirty="0">
                <a:solidFill>
                  <a:schemeClr val="tx1"/>
                </a:solidFill>
                <a:latin typeface="Arial" panose="020B0604020202020204" pitchFamily="34" charset="0"/>
                <a:ea typeface="Arial" panose="020B0604020202020204" pitchFamily="34" charset="0"/>
                <a:cs typeface="Arial" panose="020B0604020202020204" pitchFamily="34" charset="0"/>
              </a:rPr>
              <a:t>Insights: </a:t>
            </a:r>
            <a:r>
              <a:rPr lang="en-US" sz="6400" dirty="0">
                <a:solidFill>
                  <a:schemeClr val="tx1"/>
                </a:solidFill>
                <a:latin typeface="Arial" panose="020B0604020202020204" pitchFamily="34" charset="0"/>
                <a:ea typeface="Arial" panose="020B0604020202020204" pitchFamily="34" charset="0"/>
                <a:cs typeface="Arial" panose="020B0604020202020204" pitchFamily="34" charset="0"/>
              </a:rPr>
              <a:t>The purpose of </a:t>
            </a:r>
            <a:r>
              <a:rPr lang="en-US" sz="6400" b="1" dirty="0">
                <a:solidFill>
                  <a:schemeClr val="tx1"/>
                </a:solidFill>
                <a:latin typeface="Arial" panose="020B0604020202020204" pitchFamily="34" charset="0"/>
                <a:ea typeface="Arial" panose="020B0604020202020204" pitchFamily="34" charset="0"/>
                <a:cs typeface="Arial" panose="020B0604020202020204" pitchFamily="34" charset="0"/>
              </a:rPr>
              <a:t>WHERE</a:t>
            </a:r>
            <a:r>
              <a:rPr lang="en-US" sz="6400" dirty="0">
                <a:solidFill>
                  <a:schemeClr val="tx1"/>
                </a:solidFill>
                <a:latin typeface="Arial" panose="020B0604020202020204" pitchFamily="34" charset="0"/>
                <a:ea typeface="Arial" panose="020B0604020202020204" pitchFamily="34" charset="0"/>
                <a:cs typeface="Arial" panose="020B0604020202020204" pitchFamily="34" charset="0"/>
              </a:rPr>
              <a:t> clause is to filter the records Here, we have filtered the orders placed after “</a:t>
            </a:r>
            <a:r>
              <a:rPr lang="en-US" sz="6400" u="none" strike="noStrike" dirty="0">
                <a:solidFill>
                  <a:schemeClr val="tx1"/>
                </a:solidFill>
                <a:effectLst/>
                <a:latin typeface="Arial" panose="020B0604020202020204" pitchFamily="34" charset="0"/>
                <a:ea typeface="Roboto Mono" panose="00000009000000000000" pitchFamily="49" charset="0"/>
                <a:cs typeface="Arial" panose="020B0604020202020204" pitchFamily="34" charset="0"/>
              </a:rPr>
              <a:t>2024-01-01</a:t>
            </a:r>
            <a:r>
              <a:rPr lang="en-US" sz="64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using the </a:t>
            </a:r>
            <a:r>
              <a:rPr lang="en-US" sz="6400" b="1"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WHERE</a:t>
            </a:r>
            <a:r>
              <a:rPr lang="en-US" sz="64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 clause</a:t>
            </a:r>
            <a:r>
              <a:rPr lang="en-US" sz="6400" dirty="0">
                <a:solidFill>
                  <a:schemeClr val="tx1"/>
                </a:solidFill>
                <a:latin typeface="Arial" panose="020B0604020202020204" pitchFamily="34" charset="0"/>
                <a:ea typeface="Arial" panose="020B0604020202020204" pitchFamily="34" charset="0"/>
                <a:cs typeface="Arial" panose="020B0604020202020204" pitchFamily="34" charset="0"/>
              </a:rPr>
              <a:t> generally using for row level filtering.</a:t>
            </a:r>
            <a:endParaRPr lang="en-US" dirty="0"/>
          </a:p>
        </p:txBody>
      </p:sp>
      <p:grpSp>
        <p:nvGrpSpPr>
          <p:cNvPr id="4" name="Group 3">
            <a:extLst>
              <a:ext uri="{FF2B5EF4-FFF2-40B4-BE49-F238E27FC236}">
                <a16:creationId xmlns:a16="http://schemas.microsoft.com/office/drawing/2014/main" id="{80BE308C-1ABF-E920-C510-3C82173D50C0}"/>
              </a:ext>
            </a:extLst>
          </p:cNvPr>
          <p:cNvGrpSpPr/>
          <p:nvPr/>
        </p:nvGrpSpPr>
        <p:grpSpPr>
          <a:xfrm>
            <a:off x="8813801" y="963969"/>
            <a:ext cx="2286248" cy="669444"/>
            <a:chOff x="126108" y="149717"/>
            <a:chExt cx="4264244" cy="301412"/>
          </a:xfrm>
        </p:grpSpPr>
        <p:sp>
          <p:nvSpPr>
            <p:cNvPr id="5" name="Rectangle: Rounded Corners 4">
              <a:extLst>
                <a:ext uri="{FF2B5EF4-FFF2-40B4-BE49-F238E27FC236}">
                  <a16:creationId xmlns:a16="http://schemas.microsoft.com/office/drawing/2014/main" id="{AB46B93E-13D0-82B3-8A27-93CED2973E35}"/>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Rectangle: Rounded Corners 4">
              <a:extLst>
                <a:ext uri="{FF2B5EF4-FFF2-40B4-BE49-F238E27FC236}">
                  <a16:creationId xmlns:a16="http://schemas.microsoft.com/office/drawing/2014/main" id="{41426BDC-074C-6367-059D-5CD560539090}"/>
                </a:ext>
              </a:extLst>
            </p:cNvPr>
            <p:cNvSpPr txBox="1"/>
            <p:nvPr/>
          </p:nvSpPr>
          <p:spPr>
            <a:xfrm>
              <a:off x="126108" y="202045"/>
              <a:ext cx="4264244" cy="1750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a:t>
              </a:r>
              <a:r>
                <a:rPr lang="en-US" sz="2400" b="1" dirty="0">
                  <a:latin typeface="Arial" panose="020B0604020202020204" pitchFamily="34" charset="0"/>
                  <a:cs typeface="Arial" panose="020B0604020202020204" pitchFamily="34" charset="0"/>
                </a:rPr>
                <a:t>9</a:t>
              </a:r>
              <a:endParaRPr lang="en-US" sz="2400" b="1" kern="1200" dirty="0">
                <a:latin typeface="Arial" panose="020B0604020202020204" pitchFamily="34" charset="0"/>
                <a:cs typeface="Arial" panose="020B0604020202020204" pitchFamily="34" charset="0"/>
              </a:endParaRPr>
            </a:p>
          </p:txBody>
        </p:sp>
      </p:grpSp>
      <p:pic>
        <p:nvPicPr>
          <p:cNvPr id="8" name="Picture 7">
            <a:extLst>
              <a:ext uri="{FF2B5EF4-FFF2-40B4-BE49-F238E27FC236}">
                <a16:creationId xmlns:a16="http://schemas.microsoft.com/office/drawing/2014/main" id="{997675EC-4128-10C6-27A7-BC12A67B7EDD}"/>
              </a:ext>
            </a:extLst>
          </p:cNvPr>
          <p:cNvPicPr>
            <a:picLocks noChangeAspect="1"/>
          </p:cNvPicPr>
          <p:nvPr/>
        </p:nvPicPr>
        <p:blipFill rotWithShape="1">
          <a:blip r:embed="rId2"/>
          <a:srcRect l="-494" r="494" b="28382"/>
          <a:stretch/>
        </p:blipFill>
        <p:spPr>
          <a:xfrm>
            <a:off x="733594" y="4571666"/>
            <a:ext cx="4676606" cy="1852389"/>
          </a:xfrm>
          <a:prstGeom prst="rect">
            <a:avLst/>
          </a:prstGeom>
          <a:ln>
            <a:solidFill>
              <a:schemeClr val="accent3">
                <a:lumMod val="50000"/>
              </a:schemeClr>
            </a:solidFill>
          </a:ln>
        </p:spPr>
      </p:pic>
      <p:sp>
        <p:nvSpPr>
          <p:cNvPr id="10" name="TextBox 9">
            <a:extLst>
              <a:ext uri="{FF2B5EF4-FFF2-40B4-BE49-F238E27FC236}">
                <a16:creationId xmlns:a16="http://schemas.microsoft.com/office/drawing/2014/main" id="{F2130F63-F0AF-B0D1-603E-C980A3899277}"/>
              </a:ext>
            </a:extLst>
          </p:cNvPr>
          <p:cNvSpPr txBox="1"/>
          <p:nvPr/>
        </p:nvSpPr>
        <p:spPr>
          <a:xfrm>
            <a:off x="6350001" y="2294410"/>
            <a:ext cx="5260806" cy="2339102"/>
          </a:xfrm>
          <a:prstGeom prst="rect">
            <a:avLst/>
          </a:prstGeom>
          <a:noFill/>
        </p:spPr>
        <p:txBody>
          <a:bodyPr wrap="square" rtlCol="0">
            <a:spAutoFit/>
          </a:bodyPr>
          <a:lstStyle/>
          <a:p>
            <a:r>
              <a:rPr lang="en-IN" sz="1600" b="1" u="none" strike="noStrike" dirty="0">
                <a:effectLst/>
                <a:latin typeface="Arial" panose="020B0604020202020204" pitchFamily="34" charset="0"/>
                <a:ea typeface="Aptos" panose="020B0004020202020204" pitchFamily="34" charset="0"/>
                <a:cs typeface="Arial" panose="020B0604020202020204" pitchFamily="34" charset="0"/>
              </a:rPr>
              <a:t>HAVING</a:t>
            </a:r>
            <a:r>
              <a:rPr lang="en-IN" sz="1600" u="none" strike="noStrike" dirty="0">
                <a:effectLst/>
                <a:latin typeface="Arial" panose="020B0604020202020204" pitchFamily="34" charset="0"/>
                <a:ea typeface="Aptos" panose="020B0004020202020204" pitchFamily="34" charset="0"/>
                <a:cs typeface="Arial" panose="020B0604020202020204" pitchFamily="34" charset="0"/>
              </a:rPr>
              <a:t> clause to list products with average ratings greater than 4.</a:t>
            </a:r>
          </a:p>
          <a:p>
            <a:endParaRPr lang="en-IN" sz="1600" u="none" strike="noStrike" dirty="0">
              <a:effectLst/>
              <a:latin typeface="Arial" panose="020B0604020202020204" pitchFamily="34" charset="0"/>
              <a:ea typeface="Aptos" panose="020B0004020202020204" pitchFamily="34" charset="0"/>
              <a:cs typeface="Arial" panose="020B0604020202020204" pitchFamily="34" charset="0"/>
            </a:endParaRPr>
          </a:p>
          <a:p>
            <a:r>
              <a:rPr lang="en-IN" sz="1600" dirty="0">
                <a:latin typeface="Arial" panose="020B0604020202020204" pitchFamily="34" charset="0"/>
                <a:ea typeface="Aptos" panose="020B0004020202020204" pitchFamily="34" charset="0"/>
                <a:cs typeface="Arial" panose="020B0604020202020204" pitchFamily="34" charset="0"/>
              </a:rPr>
              <a:t> </a:t>
            </a:r>
            <a:r>
              <a:rPr lang="en-US" sz="1600" b="1" dirty="0">
                <a:solidFill>
                  <a:schemeClr val="tx1"/>
                </a:solidFill>
                <a:latin typeface="Arial" panose="020B0604020202020204" pitchFamily="34" charset="0"/>
                <a:ea typeface="Arial" panose="020B0604020202020204" pitchFamily="34" charset="0"/>
                <a:cs typeface="Arial" panose="020B0604020202020204" pitchFamily="34" charset="0"/>
              </a:rPr>
              <a:t>Insights:</a:t>
            </a:r>
            <a:r>
              <a:rPr lang="en-IN" sz="1600" dirty="0">
                <a:latin typeface="Arial" panose="020B0604020202020204" pitchFamily="34" charset="0"/>
                <a:ea typeface="Aptos" panose="020B0004020202020204" pitchFamily="34" charset="0"/>
                <a:cs typeface="Arial" panose="020B0604020202020204" pitchFamily="34" charset="0"/>
              </a:rPr>
              <a:t>  Having clause is mainly used to filter aggregated column. Here,</a:t>
            </a:r>
            <a:r>
              <a:rPr lang="en-US" sz="1600" dirty="0">
                <a:latin typeface="Arial" panose="020B0604020202020204" pitchFamily="34" charset="0"/>
                <a:ea typeface="Aptos" panose="020B0004020202020204" pitchFamily="34" charset="0"/>
                <a:cs typeface="Arial" panose="020B0604020202020204" pitchFamily="34" charset="0"/>
              </a:rPr>
              <a:t> Filters products where the average rating is greater than 4. Here, it helps identify top-rated products, which can be promoted more or recommended to customers.</a:t>
            </a:r>
            <a:endParaRPr lang="en-US" sz="1600" u="none" strike="noStrike" dirty="0">
              <a:effectLst/>
              <a:latin typeface="Arial" panose="020B0604020202020204" pitchFamily="34" charset="0"/>
              <a:ea typeface="Aptos" panose="020B0004020202020204" pitchFamily="34" charset="0"/>
              <a:cs typeface="Arial" panose="020B0604020202020204" pitchFamily="34" charset="0"/>
            </a:endParaRPr>
          </a:p>
          <a:p>
            <a:endParaRPr lang="en-US" dirty="0"/>
          </a:p>
        </p:txBody>
      </p:sp>
      <p:pic>
        <p:nvPicPr>
          <p:cNvPr id="12" name="Picture 11">
            <a:extLst>
              <a:ext uri="{FF2B5EF4-FFF2-40B4-BE49-F238E27FC236}">
                <a16:creationId xmlns:a16="http://schemas.microsoft.com/office/drawing/2014/main" id="{8D31E1E4-2CF5-7C2B-E437-DD7EF8B335BD}"/>
              </a:ext>
            </a:extLst>
          </p:cNvPr>
          <p:cNvPicPr>
            <a:picLocks noChangeAspect="1"/>
          </p:cNvPicPr>
          <p:nvPr/>
        </p:nvPicPr>
        <p:blipFill>
          <a:blip r:embed="rId3"/>
          <a:stretch>
            <a:fillRect/>
          </a:stretch>
        </p:blipFill>
        <p:spPr>
          <a:xfrm>
            <a:off x="6350001" y="4592943"/>
            <a:ext cx="4546599" cy="1831112"/>
          </a:xfrm>
          <a:prstGeom prst="rect">
            <a:avLst/>
          </a:prstGeom>
          <a:ln>
            <a:solidFill>
              <a:schemeClr val="accent3">
                <a:lumMod val="50000"/>
              </a:schemeClr>
            </a:solidFill>
          </a:ln>
        </p:spPr>
      </p:pic>
    </p:spTree>
    <p:extLst>
      <p:ext uri="{BB962C8B-B14F-4D97-AF65-F5344CB8AC3E}">
        <p14:creationId xmlns:p14="http://schemas.microsoft.com/office/powerpoint/2010/main" val="1270550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22B19-8968-04D2-993D-1C8D9532FEFE}"/>
              </a:ext>
            </a:extLst>
          </p:cNvPr>
          <p:cNvSpPr>
            <a:spLocks noGrp="1"/>
          </p:cNvSpPr>
          <p:nvPr>
            <p:ph idx="1"/>
          </p:nvPr>
        </p:nvSpPr>
        <p:spPr>
          <a:xfrm>
            <a:off x="484439" y="1600201"/>
            <a:ext cx="10602661" cy="2501900"/>
          </a:xfrm>
        </p:spPr>
        <p:txBody>
          <a:bodyPr>
            <a:normAutofit/>
          </a:bodyPr>
          <a:lstStyle/>
          <a:p>
            <a:r>
              <a:rPr lang="en-US" b="1" u="none" strike="noStrike" dirty="0">
                <a:solidFill>
                  <a:schemeClr val="tx1"/>
                </a:solidFill>
                <a:effectLst/>
                <a:latin typeface="Arial" panose="020B0604020202020204" pitchFamily="34" charset="0"/>
                <a:ea typeface="Arial" panose="020B0604020202020204" pitchFamily="34" charset="0"/>
              </a:rPr>
              <a:t>GROUP BY</a:t>
            </a:r>
            <a:r>
              <a:rPr lang="en-US" u="none" strike="noStrike" dirty="0">
                <a:solidFill>
                  <a:schemeClr val="tx1"/>
                </a:solidFill>
                <a:effectLst/>
                <a:latin typeface="Arial" panose="020B0604020202020204" pitchFamily="34" charset="0"/>
                <a:ea typeface="Arial" panose="020B0604020202020204" pitchFamily="34" charset="0"/>
              </a:rPr>
              <a:t> and </a:t>
            </a:r>
            <a:r>
              <a:rPr lang="en-US" b="1" u="none" strike="noStrike" dirty="0">
                <a:solidFill>
                  <a:schemeClr val="tx1"/>
                </a:solidFill>
                <a:effectLst/>
                <a:latin typeface="Arial" panose="020B0604020202020204" pitchFamily="34" charset="0"/>
                <a:ea typeface="Arial" panose="020B0604020202020204" pitchFamily="34" charset="0"/>
              </a:rPr>
              <a:t>ORDER BY</a:t>
            </a:r>
            <a:r>
              <a:rPr lang="en-US" u="none" strike="noStrike" dirty="0">
                <a:solidFill>
                  <a:schemeClr val="tx1"/>
                </a:solidFill>
                <a:effectLst/>
                <a:latin typeface="Arial" panose="020B0604020202020204" pitchFamily="34" charset="0"/>
                <a:ea typeface="Arial" panose="020B0604020202020204" pitchFamily="34" charset="0"/>
              </a:rPr>
              <a:t> clauses to rank products by total sales </a:t>
            </a:r>
          </a:p>
          <a:p>
            <a:pPr marL="0" indent="0">
              <a:buNone/>
            </a:pPr>
            <a:endParaRPr lang="en-US" sz="1800" u="none" strike="noStrike" dirty="0">
              <a:effectLst/>
              <a:latin typeface="Arial" panose="020B0604020202020204" pitchFamily="34" charset="0"/>
              <a:ea typeface="Arial" panose="020B0604020202020204" pitchFamily="34" charset="0"/>
            </a:endParaRPr>
          </a:p>
          <a:p>
            <a:pPr marL="0" indent="0">
              <a:buNone/>
            </a:pPr>
            <a:r>
              <a:rPr lang="en-US" dirty="0">
                <a:latin typeface="Arial" panose="020B0604020202020204" pitchFamily="34" charset="0"/>
                <a:ea typeface="Arial" panose="020B0604020202020204" pitchFamily="34" charset="0"/>
              </a:rPr>
              <a:t>              </a:t>
            </a:r>
            <a:endParaRPr lang="en-US" sz="1800" u="none" strike="noStrike" dirty="0">
              <a:effectLst/>
              <a:latin typeface="Arial" panose="020B0604020202020204" pitchFamily="34" charset="0"/>
              <a:ea typeface="Arial" panose="020B0604020202020204" pitchFamily="34" charset="0"/>
            </a:endParaRPr>
          </a:p>
          <a:p>
            <a:pPr marL="0" indent="0">
              <a:buNone/>
            </a:pPr>
            <a:r>
              <a:rPr lang="en-IN" sz="1800" dirty="0">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lang="en-US" dirty="0"/>
          </a:p>
        </p:txBody>
      </p:sp>
      <p:sp>
        <p:nvSpPr>
          <p:cNvPr id="7" name="Rectangle 4">
            <a:extLst>
              <a:ext uri="{FF2B5EF4-FFF2-40B4-BE49-F238E27FC236}">
                <a16:creationId xmlns:a16="http://schemas.microsoft.com/office/drawing/2014/main" id="{7A2942BC-CA33-4536-3CD3-137AD0C0C995}"/>
              </a:ext>
            </a:extLst>
          </p:cNvPr>
          <p:cNvSpPr>
            <a:spLocks noChangeArrowheads="1"/>
          </p:cNvSpPr>
          <p:nvPr/>
        </p:nvSpPr>
        <p:spPr bwMode="auto">
          <a:xfrm>
            <a:off x="584200" y="2493444"/>
            <a:ext cx="1097280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chemeClr val="tx1"/>
                </a:solidFill>
                <a:latin typeface="Arial" panose="020B0604020202020204" pitchFamily="34" charset="0"/>
                <a:ea typeface="Arial" panose="020B0604020202020204" pitchFamily="34" charset="0"/>
                <a:cs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a:solidFill>
                  <a:schemeClr val="tx1"/>
                </a:solidFill>
                <a:latin typeface="Arial" panose="020B0604020202020204" pitchFamily="34" charset="0"/>
                <a:ea typeface="Arial" panose="020B0604020202020204" pitchFamily="34" charset="0"/>
                <a:cs typeface="Arial" panose="020B0604020202020204" pitchFamily="34" charset="0"/>
              </a:rPr>
              <a:t>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GROUP BY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clause is used to group rows that have the same values in specified columns. It is typically used with aggregate functions. </a:t>
            </a:r>
            <a:r>
              <a:rPr lang="en-US" sz="1600" b="1" u="none" strike="noStrike" dirty="0">
                <a:effectLst/>
                <a:latin typeface="Arial" panose="020B0604020202020204" pitchFamily="34" charset="0"/>
                <a:ea typeface="Arial" panose="020B0604020202020204" pitchFamily="34" charset="0"/>
                <a:cs typeface="Arial" panose="020B0604020202020204" pitchFamily="34" charset="0"/>
              </a:rPr>
              <a:t>ORDER BY</a:t>
            </a:r>
            <a:r>
              <a:rPr lang="en-US" sz="1600" u="none" strike="noStrike" dirty="0">
                <a:effectLst/>
                <a:latin typeface="Arial" panose="020B0604020202020204" pitchFamily="34" charset="0"/>
                <a:ea typeface="Arial" panose="020B0604020202020204" pitchFamily="34" charset="0"/>
                <a:cs typeface="Arial" panose="020B0604020202020204" pitchFamily="34" charset="0"/>
              </a:rPr>
              <a:t>  clause is using for sort the results in </a:t>
            </a:r>
            <a:r>
              <a:rPr lang="en-US" sz="1600" u="none" strike="noStrike" dirty="0" err="1">
                <a:effectLst/>
                <a:latin typeface="Arial" panose="020B0604020202020204" pitchFamily="34" charset="0"/>
                <a:ea typeface="Arial" panose="020B0604020202020204" pitchFamily="34" charset="0"/>
                <a:cs typeface="Arial" panose="020B0604020202020204" pitchFamily="34" charset="0"/>
              </a:rPr>
              <a:t>Asc</a:t>
            </a:r>
            <a:r>
              <a:rPr lang="en-US" sz="1600" u="none" strike="noStrike" dirty="0">
                <a:effectLst/>
                <a:latin typeface="Arial" panose="020B0604020202020204" pitchFamily="34" charset="0"/>
                <a:ea typeface="Arial" panose="020B0604020202020204" pitchFamily="34" charset="0"/>
                <a:cs typeface="Arial" panose="020B0604020202020204" pitchFamily="34" charset="0"/>
              </a:rPr>
              <a:t> or Desc order.</a:t>
            </a:r>
          </a:p>
          <a:p>
            <a:pPr marL="0" marR="0" lvl="0" indent="0" algn="l" defTabSz="914400" rtl="0" eaLnBrk="0" fontAlgn="base" latinLnBrk="0" hangingPunct="0">
              <a:lnSpc>
                <a:spcPct val="100000"/>
              </a:lnSpc>
              <a:spcBef>
                <a:spcPct val="0"/>
              </a:spcBef>
              <a:spcAft>
                <a:spcPct val="0"/>
              </a:spcAft>
              <a:buClrTx/>
              <a:buSzTx/>
              <a:buFontTx/>
              <a:buNone/>
              <a:tabLst/>
            </a:pPr>
            <a:endParaRPr lang="en-US" sz="1600" u="none" strike="noStrike" dirty="0">
              <a:effectLst/>
              <a:latin typeface="Arial" panose="020B0604020202020204" pitchFamily="34" charset="0"/>
              <a:ea typeface="Arial" panose="020B0604020202020204" pitchFamily="34" charset="0"/>
              <a:cs typeface="Arial" panose="020B0604020202020204" pitchFamily="34" charset="0"/>
            </a:endParaRPr>
          </a:p>
          <a:p>
            <a:pPr defTabSz="914400" eaLnBrk="0" fontAlgn="base" hangingPunct="0">
              <a:spcBef>
                <a:spcPct val="0"/>
              </a:spcBef>
              <a:spcAft>
                <a:spcPct val="0"/>
              </a:spcAft>
            </a:pPr>
            <a:r>
              <a:rPr lang="en-IN" sz="1600" dirty="0">
                <a:effectLst/>
                <a:latin typeface="Arial" panose="020B0604020202020204" pitchFamily="34" charset="0"/>
                <a:ea typeface="Aptos" panose="020B0004020202020204" pitchFamily="34" charset="0"/>
                <a:cs typeface="Arial" panose="020B0604020202020204" pitchFamily="34" charset="0"/>
              </a:rPr>
              <a:t>Here, we have Grouped products by </a:t>
            </a:r>
            <a:r>
              <a:rPr lang="en-IN" sz="1600" dirty="0" err="1">
                <a:effectLst/>
                <a:latin typeface="Arial" panose="020B0604020202020204" pitchFamily="34" charset="0"/>
                <a:ea typeface="Aptos" panose="020B0004020202020204" pitchFamily="34" charset="0"/>
                <a:cs typeface="Arial" panose="020B0604020202020204" pitchFamily="34" charset="0"/>
              </a:rPr>
              <a:t>ProductID</a:t>
            </a:r>
            <a:r>
              <a:rPr lang="en-IN" sz="1600" dirty="0">
                <a:effectLst/>
                <a:latin typeface="Arial" panose="020B0604020202020204" pitchFamily="34" charset="0"/>
                <a:ea typeface="Aptos" panose="020B0004020202020204" pitchFamily="34" charset="0"/>
                <a:cs typeface="Arial" panose="020B0604020202020204" pitchFamily="34" charset="0"/>
              </a:rPr>
              <a:t>, sums total quantity sold, and orders them from highest to lowest sales</a:t>
            </a:r>
          </a:p>
          <a:p>
            <a:pPr defTabSz="914400" eaLnBrk="0" fontAlgn="base" hangingPunct="0">
              <a:spcBef>
                <a:spcPct val="0"/>
              </a:spcBef>
              <a:spcAft>
                <a:spcPct val="0"/>
              </a:spcAft>
            </a:pPr>
            <a:r>
              <a:rPr lang="en-IN" sz="1600" dirty="0">
                <a:latin typeface="Arial" panose="020B0604020202020204" pitchFamily="34" charset="0"/>
                <a:ea typeface="Aptos" panose="020B0004020202020204" pitchFamily="34" charset="0"/>
                <a:cs typeface="Arial" panose="020B0604020202020204" pitchFamily="34" charset="0"/>
              </a:rPr>
              <a:t>It helps to  identify best-selling products.</a:t>
            </a:r>
            <a:r>
              <a:rPr lang="en-IN" sz="1600" dirty="0">
                <a:effectLst/>
                <a:latin typeface="Arial" panose="020B0604020202020204" pitchFamily="34" charset="0"/>
                <a:ea typeface="Aptos" panose="020B0004020202020204" pitchFamily="34" charset="0"/>
                <a:cs typeface="Arial" panose="020B0604020202020204" pitchFamily="34" charset="0"/>
              </a:rPr>
              <a:t>.</a:t>
            </a:r>
            <a:endParaRPr lang="en-US" sz="1600" dirty="0">
              <a:effectLst/>
              <a:latin typeface="Arial" panose="020B0604020202020204" pitchFamily="34" charset="0"/>
              <a:ea typeface="Aptos" panose="020B00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sz="1600" u="none" strike="noStrike" dirty="0">
              <a:effectLst/>
              <a:latin typeface="Arial" panose="020B0604020202020204" pitchFamily="34" charset="0"/>
              <a:ea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D531952F-6044-C537-1553-41FFF5345333}"/>
              </a:ext>
            </a:extLst>
          </p:cNvPr>
          <p:cNvPicPr>
            <a:picLocks noChangeAspect="1"/>
          </p:cNvPicPr>
          <p:nvPr/>
        </p:nvPicPr>
        <p:blipFill>
          <a:blip r:embed="rId2"/>
          <a:stretch>
            <a:fillRect/>
          </a:stretch>
        </p:blipFill>
        <p:spPr>
          <a:xfrm>
            <a:off x="1915595" y="4514682"/>
            <a:ext cx="5590105" cy="2140118"/>
          </a:xfrm>
          <a:prstGeom prst="rect">
            <a:avLst/>
          </a:prstGeom>
          <a:ln>
            <a:solidFill>
              <a:schemeClr val="accent2">
                <a:lumMod val="60000"/>
                <a:lumOff val="40000"/>
              </a:schemeClr>
            </a:solidFill>
          </a:ln>
        </p:spPr>
      </p:pic>
    </p:spTree>
    <p:extLst>
      <p:ext uri="{BB962C8B-B14F-4D97-AF65-F5344CB8AC3E}">
        <p14:creationId xmlns:p14="http://schemas.microsoft.com/office/powerpoint/2010/main" val="807677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B66D6-9B06-D02F-A16B-71C2C646DF4E}"/>
              </a:ext>
            </a:extLst>
          </p:cNvPr>
          <p:cNvSpPr>
            <a:spLocks noGrp="1"/>
          </p:cNvSpPr>
          <p:nvPr>
            <p:ph type="title"/>
          </p:nvPr>
        </p:nvSpPr>
        <p:spPr/>
        <p:txBody>
          <a:bodyPr/>
          <a:lstStyle/>
          <a:p>
            <a:r>
              <a:rPr lang="en-US" b="1" dirty="0"/>
              <a:t>Identifying High-Value Customers</a:t>
            </a:r>
          </a:p>
        </p:txBody>
      </p:sp>
      <p:sp>
        <p:nvSpPr>
          <p:cNvPr id="3" name="Content Placeholder 2">
            <a:extLst>
              <a:ext uri="{FF2B5EF4-FFF2-40B4-BE49-F238E27FC236}">
                <a16:creationId xmlns:a16="http://schemas.microsoft.com/office/drawing/2014/main" id="{0C50F0B6-3B57-7BBE-471B-1292C76E5969}"/>
              </a:ext>
            </a:extLst>
          </p:cNvPr>
          <p:cNvSpPr>
            <a:spLocks noGrp="1"/>
          </p:cNvSpPr>
          <p:nvPr>
            <p:ph idx="1"/>
          </p:nvPr>
        </p:nvSpPr>
        <p:spPr>
          <a:xfrm>
            <a:off x="569843" y="2048455"/>
            <a:ext cx="10910957" cy="2143717"/>
          </a:xfrm>
        </p:spPr>
        <p:txBody>
          <a:bodyPr>
            <a:normAutofit fontScale="92500" lnSpcReduction="20000"/>
          </a:bodyPr>
          <a:lstStyle/>
          <a:p>
            <a:pPr marL="0" marR="0" indent="0">
              <a:lnSpc>
                <a:spcPct val="150000"/>
              </a:lnSpc>
              <a:spcBef>
                <a:spcPts val="1200"/>
              </a:spcBef>
              <a:spcAft>
                <a:spcPts val="200"/>
              </a:spcAft>
              <a:buNone/>
            </a:pPr>
            <a:r>
              <a:rPr lang="en-US" sz="1800" b="1" dirty="0">
                <a:solidFill>
                  <a:srgbClr val="000000"/>
                </a:solidFill>
                <a:effectLst/>
                <a:latin typeface="Arial" panose="020B0604020202020204" pitchFamily="34" charset="0"/>
              </a:rPr>
              <a:t>Scenario: Amazon Fresh wants to identify top customers based on their total spending. We will:</a:t>
            </a:r>
            <a:endParaRPr lang="en-US" sz="1800" b="1" dirty="0">
              <a:solidFill>
                <a:srgbClr val="666666"/>
              </a:solidFill>
              <a:effectLst/>
              <a:latin typeface="Arial" panose="020B0604020202020204" pitchFamily="34" charset="0"/>
            </a:endParaRPr>
          </a:p>
          <a:p>
            <a:pPr>
              <a:lnSpc>
                <a:spcPct val="150000"/>
              </a:lnSpc>
              <a:spcBef>
                <a:spcPts val="1200"/>
              </a:spcBef>
              <a:spcAft>
                <a:spcPts val="0"/>
              </a:spcAft>
            </a:pPr>
            <a:r>
              <a:rPr lang="en-US" sz="1800" b="1" u="none" strike="noStrike" dirty="0">
                <a:solidFill>
                  <a:srgbClr val="000000"/>
                </a:solidFill>
                <a:effectLst/>
                <a:latin typeface="Arial" panose="020B0604020202020204" pitchFamily="34" charset="0"/>
              </a:rPr>
              <a:t>Calculate each customer's total spending.</a:t>
            </a:r>
            <a:endParaRPr lang="en-US" sz="1800" b="1" u="none" strike="noStrike" dirty="0">
              <a:solidFill>
                <a:srgbClr val="666666"/>
              </a:solidFill>
              <a:effectLst/>
              <a:latin typeface="Arial" panose="020B0604020202020204" pitchFamily="34" charset="0"/>
            </a:endParaRPr>
          </a:p>
          <a:p>
            <a:pPr marL="0" indent="0">
              <a:buNone/>
            </a:pPr>
            <a:r>
              <a:rPr lang="en-US" b="1" dirty="0">
                <a:solidFill>
                  <a:schemeClr val="tx1"/>
                </a:solidFill>
                <a:latin typeface="Arial" panose="020B0604020202020204" pitchFamily="34" charset="0"/>
                <a:cs typeface="Arial" panose="020B0604020202020204" pitchFamily="34" charset="0"/>
              </a:rPr>
              <a:t>Procedure</a:t>
            </a:r>
            <a:r>
              <a:rPr lang="en-US" dirty="0">
                <a:solidFill>
                  <a:schemeClr val="tx1"/>
                </a:solidFill>
                <a:latin typeface="Arial" panose="020B0604020202020204" pitchFamily="34" charset="0"/>
                <a:cs typeface="Arial" panose="020B0604020202020204" pitchFamily="34" charset="0"/>
              </a:rPr>
              <a:t>: Using the function SUM: Multiplies the quantity of each product ordered Quantity by its </a:t>
            </a:r>
            <a:r>
              <a:rPr lang="en-US" dirty="0" err="1">
                <a:solidFill>
                  <a:schemeClr val="tx1"/>
                </a:solidFill>
                <a:latin typeface="Arial" panose="020B0604020202020204" pitchFamily="34" charset="0"/>
                <a:cs typeface="Arial" panose="020B0604020202020204" pitchFamily="34" charset="0"/>
              </a:rPr>
              <a:t>price.Sums</a:t>
            </a:r>
            <a:r>
              <a:rPr lang="en-US" dirty="0">
                <a:solidFill>
                  <a:schemeClr val="tx1"/>
                </a:solidFill>
                <a:latin typeface="Arial" panose="020B0604020202020204" pitchFamily="34" charset="0"/>
                <a:cs typeface="Arial" panose="020B0604020202020204" pitchFamily="34" charset="0"/>
              </a:rPr>
              <a:t> up the total spending per customer. </a:t>
            </a:r>
            <a:r>
              <a:rPr lang="en-US" b="1" dirty="0">
                <a:solidFill>
                  <a:schemeClr val="tx1"/>
                </a:solidFill>
                <a:latin typeface="Arial" panose="020B0604020202020204" pitchFamily="34" charset="0"/>
                <a:cs typeface="Arial" panose="020B0604020202020204" pitchFamily="34" charset="0"/>
              </a:rPr>
              <a:t>GROUP BY </a:t>
            </a:r>
            <a:r>
              <a:rPr lang="en-US" dirty="0" err="1">
                <a:solidFill>
                  <a:schemeClr val="tx1"/>
                </a:solidFill>
                <a:latin typeface="Arial" panose="020B0604020202020204" pitchFamily="34" charset="0"/>
                <a:cs typeface="Arial" panose="020B0604020202020204" pitchFamily="34" charset="0"/>
              </a:rPr>
              <a:t>o.CustomerID</a:t>
            </a:r>
            <a:r>
              <a:rPr lang="en-US" dirty="0">
                <a:solidFill>
                  <a:schemeClr val="tx1"/>
                </a:solidFill>
                <a:latin typeface="Arial" panose="020B0604020202020204" pitchFamily="34" charset="0"/>
                <a:cs typeface="Arial" panose="020B0604020202020204" pitchFamily="34" charset="0"/>
              </a:rPr>
              <a:t>: Groups the result by each customer to get individual total spending.</a:t>
            </a:r>
          </a:p>
          <a:p>
            <a:pPr marL="0" indent="0">
              <a:buNone/>
            </a:pPr>
            <a:r>
              <a:rPr lang="en-US" b="1" dirty="0">
                <a:solidFill>
                  <a:schemeClr val="tx1"/>
                </a:solidFill>
                <a:latin typeface="Arial" panose="020B0604020202020204" pitchFamily="34" charset="0"/>
                <a:cs typeface="Arial" panose="020B0604020202020204" pitchFamily="34" charset="0"/>
              </a:rPr>
              <a:t>Insights: </a:t>
            </a:r>
            <a:r>
              <a:rPr lang="en-US" dirty="0">
                <a:solidFill>
                  <a:schemeClr val="tx1"/>
                </a:solidFill>
                <a:latin typeface="Arial" panose="020B0604020202020204" pitchFamily="34" charset="0"/>
                <a:cs typeface="Arial" panose="020B0604020202020204" pitchFamily="34" charset="0"/>
              </a:rPr>
              <a:t>This helps to understand which customers contribute the most revenue.</a:t>
            </a:r>
          </a:p>
          <a:p>
            <a:pPr marL="0" indent="0">
              <a:buNone/>
            </a:pPr>
            <a:endParaRPr lang="en-US" dirty="0"/>
          </a:p>
        </p:txBody>
      </p:sp>
      <p:grpSp>
        <p:nvGrpSpPr>
          <p:cNvPr id="7" name="Group 6">
            <a:extLst>
              <a:ext uri="{FF2B5EF4-FFF2-40B4-BE49-F238E27FC236}">
                <a16:creationId xmlns:a16="http://schemas.microsoft.com/office/drawing/2014/main" id="{CBE95922-5853-30BD-9B02-37000AD9B205}"/>
              </a:ext>
            </a:extLst>
          </p:cNvPr>
          <p:cNvGrpSpPr/>
          <p:nvPr/>
        </p:nvGrpSpPr>
        <p:grpSpPr>
          <a:xfrm>
            <a:off x="8813801" y="963969"/>
            <a:ext cx="2286248" cy="669444"/>
            <a:chOff x="126108" y="149717"/>
            <a:chExt cx="4264244" cy="301412"/>
          </a:xfrm>
        </p:grpSpPr>
        <p:sp>
          <p:nvSpPr>
            <p:cNvPr id="8" name="Rectangle: Rounded Corners 7">
              <a:extLst>
                <a:ext uri="{FF2B5EF4-FFF2-40B4-BE49-F238E27FC236}">
                  <a16:creationId xmlns:a16="http://schemas.microsoft.com/office/drawing/2014/main" id="{5040317E-A22A-506F-C02E-6DE0EB596C96}"/>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Rectangle: Rounded Corners 4">
              <a:extLst>
                <a:ext uri="{FF2B5EF4-FFF2-40B4-BE49-F238E27FC236}">
                  <a16:creationId xmlns:a16="http://schemas.microsoft.com/office/drawing/2014/main" id="{8E27B47F-E263-200C-B592-528BC9E8B131}"/>
                </a:ext>
              </a:extLst>
            </p:cNvPr>
            <p:cNvSpPr txBox="1"/>
            <p:nvPr/>
          </p:nvSpPr>
          <p:spPr>
            <a:xfrm>
              <a:off x="126108" y="202045"/>
              <a:ext cx="4264244" cy="1750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10</a:t>
              </a:r>
            </a:p>
          </p:txBody>
        </p:sp>
      </p:grpSp>
      <p:sp>
        <p:nvSpPr>
          <p:cNvPr id="4" name="Content Placeholder 2">
            <a:extLst>
              <a:ext uri="{FF2B5EF4-FFF2-40B4-BE49-F238E27FC236}">
                <a16:creationId xmlns:a16="http://schemas.microsoft.com/office/drawing/2014/main" id="{7B86A7C7-A9D9-79FF-3995-75A88087E43A}"/>
              </a:ext>
            </a:extLst>
          </p:cNvPr>
          <p:cNvSpPr txBox="1">
            <a:spLocks/>
          </p:cNvSpPr>
          <p:nvPr/>
        </p:nvSpPr>
        <p:spPr>
          <a:xfrm>
            <a:off x="451185" y="4341502"/>
            <a:ext cx="11029615" cy="1932298"/>
          </a:xfrm>
          <a:prstGeom prst="rect">
            <a:avLst/>
          </a:prstGeom>
        </p:spPr>
        <p:txBody>
          <a:bodyPr vert="horz" lIns="91440" tIns="45720" rIns="91440" bIns="45720" rtlCol="0" anchor="ctr">
            <a:normAutofit fontScale="85000"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nSpc>
                <a:spcPct val="150000"/>
              </a:lnSpc>
              <a:spcBef>
                <a:spcPts val="0"/>
              </a:spcBef>
              <a:spcAft>
                <a:spcPts val="0"/>
              </a:spcAft>
            </a:pPr>
            <a:r>
              <a:rPr lang="en-US" sz="2100" b="1" dirty="0">
                <a:solidFill>
                  <a:srgbClr val="000000"/>
                </a:solidFill>
                <a:latin typeface="Arial" panose="020B0604020202020204" pitchFamily="34" charset="0"/>
              </a:rPr>
              <a:t>Rank customers based on their spending.</a:t>
            </a:r>
          </a:p>
          <a:p>
            <a:pPr marL="0" indent="0">
              <a:lnSpc>
                <a:spcPct val="150000"/>
              </a:lnSpc>
              <a:spcBef>
                <a:spcPts val="0"/>
              </a:spcBef>
              <a:spcAft>
                <a:spcPts val="0"/>
              </a:spcAft>
              <a:buFont typeface="Wingdings 2" panose="05020102010507070707" pitchFamily="18" charset="2"/>
              <a:buNone/>
            </a:pPr>
            <a:r>
              <a:rPr lang="en-US" b="1" dirty="0">
                <a:solidFill>
                  <a:schemeClr val="tx1"/>
                </a:solidFill>
                <a:latin typeface="Arial" panose="020B0604020202020204" pitchFamily="34" charset="0"/>
                <a:cs typeface="Arial" panose="020B0604020202020204" pitchFamily="34" charset="0"/>
              </a:rPr>
              <a:t>          </a:t>
            </a:r>
            <a:r>
              <a:rPr lang="en-US" sz="1900" b="1" dirty="0">
                <a:solidFill>
                  <a:schemeClr val="tx1"/>
                </a:solidFill>
                <a:latin typeface="Arial" panose="020B0604020202020204" pitchFamily="34" charset="0"/>
                <a:cs typeface="Arial" panose="020B0604020202020204" pitchFamily="34" charset="0"/>
              </a:rPr>
              <a:t>Procedure</a:t>
            </a:r>
            <a:r>
              <a:rPr lang="en-US" sz="1900" dirty="0">
                <a:solidFill>
                  <a:schemeClr val="tx1"/>
                </a:solidFill>
                <a:latin typeface="Arial" panose="020B0604020202020204" pitchFamily="34" charset="0"/>
              </a:rPr>
              <a:t>: </a:t>
            </a:r>
            <a:r>
              <a:rPr lang="en-US" sz="1900" dirty="0">
                <a:solidFill>
                  <a:schemeClr val="tx1"/>
                </a:solidFill>
                <a:latin typeface="Arial" panose="020B0604020202020204" pitchFamily="34" charset="0"/>
                <a:cs typeface="Arial" panose="020B0604020202020204" pitchFamily="34" charset="0"/>
              </a:rPr>
              <a:t>Calculates total spending per customer by multiplying Quantity with </a:t>
            </a:r>
            <a:r>
              <a:rPr lang="en-US" sz="1900" dirty="0" err="1">
                <a:solidFill>
                  <a:schemeClr val="tx1"/>
                </a:solidFill>
                <a:latin typeface="Arial" panose="020B0604020202020204" pitchFamily="34" charset="0"/>
                <a:cs typeface="Arial" panose="020B0604020202020204" pitchFamily="34" charset="0"/>
              </a:rPr>
              <a:t>PricePerUnit</a:t>
            </a:r>
            <a:r>
              <a:rPr lang="en-US" sz="1900" dirty="0">
                <a:solidFill>
                  <a:schemeClr val="tx1"/>
                </a:solidFill>
                <a:latin typeface="Arial" panose="020B0604020202020204" pitchFamily="34" charset="0"/>
                <a:cs typeface="Arial" panose="020B0604020202020204" pitchFamily="34" charset="0"/>
              </a:rPr>
              <a:t> from the Products table. Groups the data by </a:t>
            </a:r>
            <a:r>
              <a:rPr lang="en-US" sz="1900" dirty="0" err="1">
                <a:solidFill>
                  <a:schemeClr val="tx1"/>
                </a:solidFill>
                <a:latin typeface="Arial" panose="020B0604020202020204" pitchFamily="34" charset="0"/>
                <a:cs typeface="Arial" panose="020B0604020202020204" pitchFamily="34" charset="0"/>
              </a:rPr>
              <a:t>CustomerID</a:t>
            </a:r>
            <a:r>
              <a:rPr lang="en-US" sz="1900" dirty="0">
                <a:solidFill>
                  <a:schemeClr val="tx1"/>
                </a:solidFill>
                <a:latin typeface="Arial" panose="020B0604020202020204" pitchFamily="34" charset="0"/>
                <a:cs typeface="Arial" panose="020B0604020202020204" pitchFamily="34" charset="0"/>
              </a:rPr>
              <a:t>. Selects </a:t>
            </a:r>
            <a:r>
              <a:rPr lang="en-US" sz="1900" dirty="0" err="1">
                <a:solidFill>
                  <a:schemeClr val="tx1"/>
                </a:solidFill>
                <a:latin typeface="Arial" panose="020B0604020202020204" pitchFamily="34" charset="0"/>
                <a:cs typeface="Arial" panose="020B0604020202020204" pitchFamily="34" charset="0"/>
              </a:rPr>
              <a:t>CustomerID</a:t>
            </a:r>
            <a:r>
              <a:rPr lang="en-US" sz="1900" dirty="0">
                <a:solidFill>
                  <a:schemeClr val="tx1"/>
                </a:solidFill>
                <a:latin typeface="Arial" panose="020B0604020202020204" pitchFamily="34" charset="0"/>
                <a:cs typeface="Arial" panose="020B0604020202020204" pitchFamily="34" charset="0"/>
              </a:rPr>
              <a:t>, </a:t>
            </a:r>
            <a:r>
              <a:rPr lang="en-US" sz="1900" dirty="0" err="1">
                <a:solidFill>
                  <a:schemeClr val="tx1"/>
                </a:solidFill>
                <a:latin typeface="Arial" panose="020B0604020202020204" pitchFamily="34" charset="0"/>
                <a:cs typeface="Arial" panose="020B0604020202020204" pitchFamily="34" charset="0"/>
              </a:rPr>
              <a:t>TotalSpending</a:t>
            </a:r>
            <a:r>
              <a:rPr lang="en-US" sz="1900" dirty="0">
                <a:solidFill>
                  <a:schemeClr val="tx1"/>
                </a:solidFill>
                <a:latin typeface="Arial" panose="020B0604020202020204" pitchFamily="34" charset="0"/>
                <a:cs typeface="Arial" panose="020B0604020202020204" pitchFamily="34" charset="0"/>
              </a:rPr>
              <a:t>, and assigns ranks based on </a:t>
            </a:r>
            <a:r>
              <a:rPr lang="en-US" sz="1900" dirty="0" err="1">
                <a:solidFill>
                  <a:schemeClr val="tx1"/>
                </a:solidFill>
                <a:latin typeface="Arial" panose="020B0604020202020204" pitchFamily="34" charset="0"/>
                <a:cs typeface="Arial" panose="020B0604020202020204" pitchFamily="34" charset="0"/>
              </a:rPr>
              <a:t>TotalSpending</a:t>
            </a:r>
            <a:r>
              <a:rPr lang="en-US" sz="1900" dirty="0">
                <a:solidFill>
                  <a:schemeClr val="tx1"/>
                </a:solidFill>
                <a:latin typeface="Arial" panose="020B0604020202020204" pitchFamily="34" charset="0"/>
                <a:cs typeface="Arial" panose="020B0604020202020204" pitchFamily="34" charset="0"/>
              </a:rPr>
              <a:t> (highest spending gets Rank 1)</a:t>
            </a:r>
          </a:p>
          <a:p>
            <a:pPr marL="0" indent="0">
              <a:lnSpc>
                <a:spcPct val="150000"/>
              </a:lnSpc>
              <a:spcBef>
                <a:spcPts val="0"/>
              </a:spcBef>
              <a:spcAft>
                <a:spcPts val="0"/>
              </a:spcAft>
              <a:buFont typeface="Wingdings 2" panose="05020102010507070707" pitchFamily="18" charset="2"/>
              <a:buNone/>
            </a:pPr>
            <a:r>
              <a:rPr lang="en-US" sz="1900" b="1" dirty="0">
                <a:solidFill>
                  <a:schemeClr val="tx1"/>
                </a:solidFill>
                <a:latin typeface="Arial" panose="020B0604020202020204" pitchFamily="34" charset="0"/>
                <a:cs typeface="Arial" panose="020B0604020202020204" pitchFamily="34" charset="0"/>
              </a:rPr>
              <a:t>          Insights: </a:t>
            </a:r>
            <a:r>
              <a:rPr lang="en-US" sz="1900" dirty="0">
                <a:solidFill>
                  <a:schemeClr val="tx1"/>
                </a:solidFill>
                <a:latin typeface="Arial" panose="020B0604020202020204" pitchFamily="34" charset="0"/>
                <a:cs typeface="Arial" panose="020B0604020202020204" pitchFamily="34" charset="0"/>
              </a:rPr>
              <a:t>We can identify top customers also it Allows comparisons between top spenders and occasional buyers.</a:t>
            </a:r>
          </a:p>
          <a:p>
            <a:pPr marL="0" indent="0">
              <a:lnSpc>
                <a:spcPct val="150000"/>
              </a:lnSpc>
              <a:spcBef>
                <a:spcPts val="0"/>
              </a:spcBef>
              <a:spcAft>
                <a:spcPts val="0"/>
              </a:spcAft>
              <a:buFont typeface="Wingdings 2" panose="05020102010507070707" pitchFamily="18" charset="2"/>
              <a:buNone/>
            </a:pPr>
            <a:endParaRPr lang="en-US" sz="1900" dirty="0">
              <a:solidFill>
                <a:schemeClr val="tx1"/>
              </a:solidFill>
              <a:latin typeface="Arial" panose="020B0604020202020204" pitchFamily="34" charset="0"/>
            </a:endParaRPr>
          </a:p>
          <a:p>
            <a:endParaRPr lang="en-US" dirty="0"/>
          </a:p>
        </p:txBody>
      </p:sp>
    </p:spTree>
    <p:extLst>
      <p:ext uri="{BB962C8B-B14F-4D97-AF65-F5344CB8AC3E}">
        <p14:creationId xmlns:p14="http://schemas.microsoft.com/office/powerpoint/2010/main" val="891991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661392-A317-DBA2-8700-AC500F010451}"/>
              </a:ext>
            </a:extLst>
          </p:cNvPr>
          <p:cNvPicPr>
            <a:picLocks noChangeAspect="1"/>
          </p:cNvPicPr>
          <p:nvPr/>
        </p:nvPicPr>
        <p:blipFill>
          <a:blip r:embed="rId2"/>
          <a:stretch>
            <a:fillRect/>
          </a:stretch>
        </p:blipFill>
        <p:spPr>
          <a:xfrm>
            <a:off x="1252187" y="2349500"/>
            <a:ext cx="9643530" cy="3530600"/>
          </a:xfrm>
          <a:prstGeom prst="rect">
            <a:avLst/>
          </a:prstGeom>
        </p:spPr>
      </p:pic>
      <p:sp>
        <p:nvSpPr>
          <p:cNvPr id="6" name="TextBox 5">
            <a:extLst>
              <a:ext uri="{FF2B5EF4-FFF2-40B4-BE49-F238E27FC236}">
                <a16:creationId xmlns:a16="http://schemas.microsoft.com/office/drawing/2014/main" id="{25C741BE-1550-78BD-9911-B3B07B561FBE}"/>
              </a:ext>
            </a:extLst>
          </p:cNvPr>
          <p:cNvSpPr txBox="1"/>
          <p:nvPr/>
        </p:nvSpPr>
        <p:spPr>
          <a:xfrm>
            <a:off x="469900" y="1980168"/>
            <a:ext cx="3708400" cy="369332"/>
          </a:xfrm>
          <a:prstGeom prst="rect">
            <a:avLst/>
          </a:prstGeom>
          <a:noFill/>
        </p:spPr>
        <p:txBody>
          <a:bodyPr wrap="square" rtlCol="0">
            <a:spAutoFit/>
          </a:bodyPr>
          <a:lstStyle/>
          <a:p>
            <a:r>
              <a:rPr lang="en-US" b="1" dirty="0"/>
              <a:t>OUTPUT:</a:t>
            </a:r>
          </a:p>
        </p:txBody>
      </p:sp>
    </p:spTree>
    <p:extLst>
      <p:ext uri="{BB962C8B-B14F-4D97-AF65-F5344CB8AC3E}">
        <p14:creationId xmlns:p14="http://schemas.microsoft.com/office/powerpoint/2010/main" val="1812281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09B9368-BD6F-E53C-70A8-A1901219DA87}"/>
              </a:ext>
            </a:extLst>
          </p:cNvPr>
          <p:cNvSpPr txBox="1"/>
          <p:nvPr/>
        </p:nvSpPr>
        <p:spPr>
          <a:xfrm>
            <a:off x="526298" y="2027922"/>
            <a:ext cx="11139404" cy="2616101"/>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Identify customers who have spent more than ₹5,000 </a:t>
            </a:r>
          </a:p>
          <a:p>
            <a:pPr marL="285750" indent="-285750">
              <a:buFont typeface="Arial" panose="020B0604020202020204" pitchFamily="34" charset="0"/>
              <a:buChar char="•"/>
            </a:pPr>
            <a:endParaRPr lang="en-US" dirty="0"/>
          </a:p>
          <a:p>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Procedure:  </a:t>
            </a:r>
            <a:r>
              <a:rPr lang="en-US" dirty="0">
                <a:latin typeface="Arial" panose="020B0604020202020204" pitchFamily="34" charset="0"/>
                <a:cs typeface="Arial" panose="020B0604020202020204" pitchFamily="34" charset="0"/>
              </a:rPr>
              <a:t>To identify who have spent more than 5000, Multiplied Quantity (from </a:t>
            </a:r>
            <a:r>
              <a:rPr lang="en-US" dirty="0" err="1">
                <a:latin typeface="Arial" panose="020B0604020202020204" pitchFamily="34" charset="0"/>
                <a:cs typeface="Arial" panose="020B0604020202020204" pitchFamily="34" charset="0"/>
              </a:rPr>
              <a:t>Order_Details</a:t>
            </a:r>
            <a:r>
              <a:rPr lang="en-US" dirty="0">
                <a:latin typeface="Arial" panose="020B0604020202020204" pitchFamily="34" charset="0"/>
                <a:cs typeface="Arial" panose="020B0604020202020204" pitchFamily="34" charset="0"/>
              </a:rPr>
              <a:t>) with </a:t>
            </a:r>
            <a:r>
              <a:rPr lang="en-US" dirty="0" err="1">
                <a:latin typeface="Arial" panose="020B0604020202020204" pitchFamily="34" charset="0"/>
                <a:cs typeface="Arial" panose="020B0604020202020204" pitchFamily="34" charset="0"/>
              </a:rPr>
              <a:t>PricePerUnit</a:t>
            </a:r>
            <a:r>
              <a:rPr lang="en-US" dirty="0">
                <a:latin typeface="Arial" panose="020B0604020202020204" pitchFamily="34" charset="0"/>
                <a:cs typeface="Arial" panose="020B0604020202020204" pitchFamily="34" charset="0"/>
              </a:rPr>
              <a:t> (from Products).Sum this amount per CustomerID. Use WHERE </a:t>
            </a:r>
            <a:r>
              <a:rPr lang="en-US" dirty="0" err="1">
                <a:latin typeface="Arial" panose="020B0604020202020204" pitchFamily="34" charset="0"/>
                <a:cs typeface="Arial" panose="020B0604020202020204" pitchFamily="34" charset="0"/>
              </a:rPr>
              <a:t>TotalSpending</a:t>
            </a:r>
            <a:r>
              <a:rPr lang="en-US" dirty="0">
                <a:latin typeface="Arial" panose="020B0604020202020204" pitchFamily="34" charset="0"/>
                <a:cs typeface="Arial" panose="020B0604020202020204" pitchFamily="34" charset="0"/>
              </a:rPr>
              <a:t> &gt; 5000 to keep only those who spent more than ₹5,000.Sort the Output to see the highest spenders first.</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           Insights:  </a:t>
            </a:r>
            <a:r>
              <a:rPr lang="en-US" dirty="0">
                <a:latin typeface="Arial" panose="020B0604020202020204" pitchFamily="34" charset="0"/>
                <a:cs typeface="Arial" panose="020B0604020202020204" pitchFamily="34" charset="0"/>
              </a:rPr>
              <a:t>It helps in customer retention strategies by offering personalized benefits to develop the business.</a:t>
            </a:r>
          </a:p>
          <a:p>
            <a:endParaRPr lang="en-US" dirty="0"/>
          </a:p>
        </p:txBody>
      </p:sp>
      <p:pic>
        <p:nvPicPr>
          <p:cNvPr id="3" name="Picture 2">
            <a:extLst>
              <a:ext uri="{FF2B5EF4-FFF2-40B4-BE49-F238E27FC236}">
                <a16:creationId xmlns:a16="http://schemas.microsoft.com/office/drawing/2014/main" id="{073DAA17-6AF8-5772-76FB-0AB14DF1C8A2}"/>
              </a:ext>
            </a:extLst>
          </p:cNvPr>
          <p:cNvPicPr>
            <a:picLocks noChangeAspect="1"/>
          </p:cNvPicPr>
          <p:nvPr/>
        </p:nvPicPr>
        <p:blipFill>
          <a:blip r:embed="rId2"/>
          <a:stretch>
            <a:fillRect/>
          </a:stretch>
        </p:blipFill>
        <p:spPr>
          <a:xfrm>
            <a:off x="2087042" y="4457700"/>
            <a:ext cx="7120458" cy="2120900"/>
          </a:xfrm>
          <a:prstGeom prst="rect">
            <a:avLst/>
          </a:prstGeom>
          <a:ln>
            <a:solidFill>
              <a:schemeClr val="tx1">
                <a:lumMod val="75000"/>
                <a:lumOff val="25000"/>
              </a:schemeClr>
            </a:solidFill>
          </a:ln>
        </p:spPr>
      </p:pic>
    </p:spTree>
    <p:extLst>
      <p:ext uri="{BB962C8B-B14F-4D97-AF65-F5344CB8AC3E}">
        <p14:creationId xmlns:p14="http://schemas.microsoft.com/office/powerpoint/2010/main" val="63777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6E3EF-8DB4-02F8-0C34-07FF23D0BDE4}"/>
              </a:ext>
            </a:extLst>
          </p:cNvPr>
          <p:cNvSpPr>
            <a:spLocks noGrp="1"/>
          </p:cNvSpPr>
          <p:nvPr>
            <p:ph type="title"/>
          </p:nvPr>
        </p:nvSpPr>
        <p:spPr/>
        <p:txBody>
          <a:bodyPr/>
          <a:lstStyle/>
          <a:p>
            <a:r>
              <a:rPr lang="en-US" b="1" dirty="0"/>
              <a:t>Complex Aggregations and Joins</a:t>
            </a:r>
          </a:p>
        </p:txBody>
      </p:sp>
      <p:sp>
        <p:nvSpPr>
          <p:cNvPr id="3" name="Content Placeholder 2">
            <a:extLst>
              <a:ext uri="{FF2B5EF4-FFF2-40B4-BE49-F238E27FC236}">
                <a16:creationId xmlns:a16="http://schemas.microsoft.com/office/drawing/2014/main" id="{BF024011-5DB9-F746-0320-BC036923E757}"/>
              </a:ext>
            </a:extLst>
          </p:cNvPr>
          <p:cNvSpPr>
            <a:spLocks noGrp="1"/>
          </p:cNvSpPr>
          <p:nvPr>
            <p:ph idx="1"/>
          </p:nvPr>
        </p:nvSpPr>
        <p:spPr>
          <a:xfrm>
            <a:off x="581192" y="1892300"/>
            <a:ext cx="11029615" cy="2404509"/>
          </a:xfrm>
        </p:spPr>
        <p:txBody>
          <a:bodyPr>
            <a:normAutofit/>
          </a:bodyPr>
          <a:lstStyle/>
          <a:p>
            <a:endParaRPr lang="en-US" dirty="0"/>
          </a:p>
          <a:p>
            <a:r>
              <a:rPr lang="en-US" sz="1900" u="none" strike="noStrike" dirty="0">
                <a:effectLst/>
                <a:latin typeface="Arial" panose="020B0604020202020204" pitchFamily="34" charset="0"/>
                <a:ea typeface="Arial" panose="020B0604020202020204" pitchFamily="34" charset="0"/>
                <a:cs typeface="Arial" panose="020B0604020202020204" pitchFamily="34" charset="0"/>
              </a:rPr>
              <a:t>Join the </a:t>
            </a:r>
            <a:r>
              <a:rPr lang="en-US" sz="1900" u="none" strike="noStrike" dirty="0">
                <a:effectLst/>
                <a:latin typeface="Arial" panose="020B0604020202020204" pitchFamily="34" charset="0"/>
                <a:ea typeface="Roboto Mono" panose="00000009000000000000" pitchFamily="49" charset="0"/>
                <a:cs typeface="Arial" panose="020B0604020202020204" pitchFamily="34" charset="0"/>
              </a:rPr>
              <a:t>Orders</a:t>
            </a:r>
            <a:r>
              <a:rPr lang="en-US" sz="1900" u="none" strike="noStrike" dirty="0">
                <a:effectLst/>
                <a:latin typeface="Arial" panose="020B0604020202020204" pitchFamily="34" charset="0"/>
                <a:ea typeface="Arial" panose="020B0604020202020204" pitchFamily="34" charset="0"/>
                <a:cs typeface="Arial" panose="020B0604020202020204" pitchFamily="34" charset="0"/>
              </a:rPr>
              <a:t> and </a:t>
            </a:r>
            <a:r>
              <a:rPr lang="en-US" sz="1900" u="none" strike="noStrike" dirty="0">
                <a:effectLst/>
                <a:latin typeface="Arial" panose="020B0604020202020204" pitchFamily="34" charset="0"/>
                <a:ea typeface="Roboto Mono" panose="00000009000000000000" pitchFamily="49" charset="0"/>
                <a:cs typeface="Arial" panose="020B0604020202020204" pitchFamily="34" charset="0"/>
              </a:rPr>
              <a:t>Order_Details</a:t>
            </a:r>
            <a:r>
              <a:rPr lang="en-US" sz="1900" u="none" strike="noStrike" dirty="0">
                <a:effectLst/>
                <a:latin typeface="Arial" panose="020B0604020202020204" pitchFamily="34" charset="0"/>
                <a:ea typeface="Arial" panose="020B0604020202020204" pitchFamily="34" charset="0"/>
                <a:cs typeface="Arial" panose="020B0604020202020204" pitchFamily="34" charset="0"/>
              </a:rPr>
              <a:t> tables to calculate total revenue per order.</a:t>
            </a:r>
          </a:p>
          <a:p>
            <a:pPr marL="0" indent="0">
              <a:buNone/>
            </a:pPr>
            <a:r>
              <a:rPr lang="en-US" sz="1900" dirty="0">
                <a:latin typeface="Arial" panose="020B0604020202020204" pitchFamily="34" charset="0"/>
                <a:cs typeface="Arial" panose="020B0604020202020204" pitchFamily="34" charset="0"/>
              </a:rPr>
              <a:t>            </a:t>
            </a:r>
            <a:r>
              <a:rPr lang="en-US" sz="1900" b="1" dirty="0">
                <a:latin typeface="Arial" panose="020B0604020202020204" pitchFamily="34" charset="0"/>
                <a:cs typeface="Arial" panose="020B0604020202020204" pitchFamily="34" charset="0"/>
              </a:rPr>
              <a:t>Procedure:  </a:t>
            </a:r>
            <a:r>
              <a:rPr lang="en-US" sz="1900" dirty="0">
                <a:latin typeface="Arial" panose="020B0604020202020204" pitchFamily="34" charset="0"/>
                <a:cs typeface="Arial" panose="020B0604020202020204" pitchFamily="34" charset="0"/>
              </a:rPr>
              <a:t>Total revenue per order can be calculated using the </a:t>
            </a:r>
            <a:r>
              <a:rPr lang="en-US" sz="1900" dirty="0" err="1">
                <a:latin typeface="Arial" panose="020B0604020202020204" pitchFamily="34" charset="0"/>
                <a:cs typeface="Arial" panose="020B0604020202020204" pitchFamily="34" charset="0"/>
              </a:rPr>
              <a:t>Order_Details</a:t>
            </a:r>
            <a:r>
              <a:rPr lang="en-US" sz="1900" dirty="0">
                <a:latin typeface="Arial" panose="020B0604020202020204" pitchFamily="34" charset="0"/>
                <a:cs typeface="Arial" panose="020B0604020202020204" pitchFamily="34" charset="0"/>
              </a:rPr>
              <a:t> table by multiplying Quantity * </a:t>
            </a:r>
            <a:r>
              <a:rPr lang="en-US" sz="1900" dirty="0" err="1">
                <a:latin typeface="Arial" panose="020B0604020202020204" pitchFamily="34" charset="0"/>
                <a:cs typeface="Arial" panose="020B0604020202020204" pitchFamily="34" charset="0"/>
              </a:rPr>
              <a:t>PricePerUnit</a:t>
            </a:r>
            <a:r>
              <a:rPr lang="en-US" sz="1900" dirty="0">
                <a:latin typeface="Arial" panose="020B0604020202020204" pitchFamily="34" charset="0"/>
                <a:cs typeface="Arial" panose="020B0604020202020204" pitchFamily="34" charset="0"/>
              </a:rPr>
              <a:t> and grouping by </a:t>
            </a:r>
            <a:r>
              <a:rPr lang="en-US" sz="1900" dirty="0" err="1">
                <a:latin typeface="Arial" panose="020B0604020202020204" pitchFamily="34" charset="0"/>
                <a:cs typeface="Arial" panose="020B0604020202020204" pitchFamily="34" charset="0"/>
              </a:rPr>
              <a:t>OrderID</a:t>
            </a:r>
            <a:r>
              <a:rPr lang="en-US" sz="1900" dirty="0">
                <a:latin typeface="Arial" panose="020B0604020202020204" pitchFamily="34" charset="0"/>
                <a:cs typeface="Arial" panose="020B0604020202020204" pitchFamily="34" charset="0"/>
              </a:rPr>
              <a:t>.</a:t>
            </a:r>
            <a:endParaRPr lang="en-US" sz="1900" b="1" dirty="0">
              <a:latin typeface="Arial" panose="020B0604020202020204" pitchFamily="34" charset="0"/>
              <a:cs typeface="Arial" panose="020B0604020202020204" pitchFamily="34" charset="0"/>
            </a:endParaRPr>
          </a:p>
          <a:p>
            <a:pPr marL="0" indent="0">
              <a:buNone/>
            </a:pPr>
            <a:r>
              <a:rPr lang="en-US" sz="1900" b="1" dirty="0">
                <a:latin typeface="Arial" panose="020B0604020202020204" pitchFamily="34" charset="0"/>
                <a:cs typeface="Arial" panose="020B0604020202020204" pitchFamily="34" charset="0"/>
              </a:rPr>
              <a:t>            Insights:     </a:t>
            </a:r>
            <a:r>
              <a:rPr lang="en-US" sz="1900" dirty="0">
                <a:latin typeface="Arial" panose="020B0604020202020204" pitchFamily="34" charset="0"/>
                <a:cs typeface="Arial" panose="020B0604020202020204" pitchFamily="34" charset="0"/>
              </a:rPr>
              <a:t>We can identify peak order trends for better demand forecasting and helps in discount strategy planning for large orders.</a:t>
            </a:r>
          </a:p>
          <a:p>
            <a:pPr marL="0" indent="0">
              <a:buNone/>
            </a:pPr>
            <a:endParaRPr lang="en-US" sz="1900"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2EAEFC79-BE58-2BE4-AD94-8D96986CC62F}"/>
              </a:ext>
            </a:extLst>
          </p:cNvPr>
          <p:cNvGrpSpPr/>
          <p:nvPr/>
        </p:nvGrpSpPr>
        <p:grpSpPr>
          <a:xfrm>
            <a:off x="8813801" y="963969"/>
            <a:ext cx="2286248" cy="669444"/>
            <a:chOff x="126108" y="149717"/>
            <a:chExt cx="4264244" cy="301412"/>
          </a:xfrm>
        </p:grpSpPr>
        <p:sp>
          <p:nvSpPr>
            <p:cNvPr id="5" name="Rectangle: Rounded Corners 4">
              <a:extLst>
                <a:ext uri="{FF2B5EF4-FFF2-40B4-BE49-F238E27FC236}">
                  <a16:creationId xmlns:a16="http://schemas.microsoft.com/office/drawing/2014/main" id="{86268526-8107-7F57-34A4-32D306836E28}"/>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 name="Rectangle: Rounded Corners 4">
              <a:extLst>
                <a:ext uri="{FF2B5EF4-FFF2-40B4-BE49-F238E27FC236}">
                  <a16:creationId xmlns:a16="http://schemas.microsoft.com/office/drawing/2014/main" id="{D7ECD443-7BFE-123D-D791-462D77DE4629}"/>
                </a:ext>
              </a:extLst>
            </p:cNvPr>
            <p:cNvSpPr txBox="1"/>
            <p:nvPr/>
          </p:nvSpPr>
          <p:spPr>
            <a:xfrm>
              <a:off x="126108" y="202045"/>
              <a:ext cx="4264244" cy="1750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11</a:t>
              </a:r>
            </a:p>
          </p:txBody>
        </p:sp>
      </p:grpSp>
      <p:pic>
        <p:nvPicPr>
          <p:cNvPr id="9" name="Picture 8">
            <a:extLst>
              <a:ext uri="{FF2B5EF4-FFF2-40B4-BE49-F238E27FC236}">
                <a16:creationId xmlns:a16="http://schemas.microsoft.com/office/drawing/2014/main" id="{627EF030-2104-D511-F6A5-8CA4944D4E9F}"/>
              </a:ext>
            </a:extLst>
          </p:cNvPr>
          <p:cNvPicPr>
            <a:picLocks noChangeAspect="1"/>
          </p:cNvPicPr>
          <p:nvPr/>
        </p:nvPicPr>
        <p:blipFill>
          <a:blip r:embed="rId2"/>
          <a:stretch>
            <a:fillRect/>
          </a:stretch>
        </p:blipFill>
        <p:spPr>
          <a:xfrm>
            <a:off x="1698585" y="4473153"/>
            <a:ext cx="7721185" cy="2098246"/>
          </a:xfrm>
          <a:prstGeom prst="rect">
            <a:avLst/>
          </a:prstGeom>
          <a:ln>
            <a:solidFill>
              <a:schemeClr val="tx2">
                <a:lumMod val="75000"/>
              </a:schemeClr>
            </a:solidFill>
          </a:ln>
        </p:spPr>
      </p:pic>
    </p:spTree>
    <p:extLst>
      <p:ext uri="{BB962C8B-B14F-4D97-AF65-F5344CB8AC3E}">
        <p14:creationId xmlns:p14="http://schemas.microsoft.com/office/powerpoint/2010/main" val="2836302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6D038C5-EAC9-71D4-7918-49EE42826805}"/>
              </a:ext>
            </a:extLst>
          </p:cNvPr>
          <p:cNvSpPr txBox="1"/>
          <p:nvPr/>
        </p:nvSpPr>
        <p:spPr>
          <a:xfrm>
            <a:off x="247649" y="1725970"/>
            <a:ext cx="11264900" cy="1703030"/>
          </a:xfrm>
          <a:prstGeom prst="rect">
            <a:avLst/>
          </a:prstGeom>
          <a:noFill/>
        </p:spPr>
        <p:txBody>
          <a:bodyPr wrap="square" rtlCol="0">
            <a:spAutoFit/>
          </a:bodyPr>
          <a:lstStyle/>
          <a:p>
            <a:pPr marL="742950" marR="0" lvl="1" indent="-285750">
              <a:lnSpc>
                <a:spcPct val="150000"/>
              </a:lnSpc>
              <a:spcBef>
                <a:spcPts val="0"/>
              </a:spcBef>
              <a:spcAft>
                <a:spcPts val="0"/>
              </a:spcAft>
              <a:buFont typeface="Arial" panose="020B0604020202020204" pitchFamily="34" charset="0"/>
              <a:buChar char="•"/>
            </a:pPr>
            <a:r>
              <a:rPr lang="en-US" sz="1800" u="none" strike="noStrike" dirty="0">
                <a:effectLst/>
                <a:latin typeface="Arial" panose="020B0604020202020204" pitchFamily="34" charset="0"/>
                <a:ea typeface="Arial" panose="020B0604020202020204" pitchFamily="34" charset="0"/>
              </a:rPr>
              <a:t>Identify customers who placed the most orders in a specific time period.</a:t>
            </a:r>
          </a:p>
          <a:p>
            <a:pPr marR="0" lvl="1">
              <a:lnSpc>
                <a:spcPct val="150000"/>
              </a:lnSpc>
              <a:spcBef>
                <a:spcPts val="0"/>
              </a:spcBef>
              <a:spcAft>
                <a:spcPts val="0"/>
              </a:spcAft>
            </a:pPr>
            <a:r>
              <a:rPr lang="en-US" sz="1800" b="1" u="none" strike="noStrike" dirty="0">
                <a:effectLst/>
                <a:latin typeface="Arial" panose="020B0604020202020204" pitchFamily="34" charset="0"/>
                <a:ea typeface="Arial" panose="020B0604020202020204" pitchFamily="34" charset="0"/>
                <a:cs typeface="Arial" panose="020B0604020202020204" pitchFamily="34" charset="0"/>
              </a:rPr>
              <a:t>           Insights: </a:t>
            </a:r>
            <a:r>
              <a:rPr lang="en-US" sz="1800" u="none" strike="noStrike" dirty="0">
                <a:effectLst/>
                <a:latin typeface="Arial" panose="020B0604020202020204" pitchFamily="34" charset="0"/>
                <a:ea typeface="Arial" panose="020B0604020202020204" pitchFamily="34" charset="0"/>
                <a:cs typeface="Arial" panose="020B0604020202020204" pitchFamily="34" charset="0"/>
              </a:rPr>
              <a:t>Here, we have filtered orders based on a date range and count the number of orders per customer.</a:t>
            </a:r>
            <a:r>
              <a:rPr lang="en-US" dirty="0">
                <a:latin typeface="Arial" panose="020B0604020202020204" pitchFamily="34" charset="0"/>
                <a:cs typeface="Arial" panose="020B0604020202020204" pitchFamily="34" charset="0"/>
              </a:rPr>
              <a:t> It has given us the result that customer(Madeline Martin) has placed the most orders for the year 2025. Tracking orders over time helps identify loyal and frequent buyer</a:t>
            </a:r>
            <a:endParaRPr lang="en-US" sz="1800" u="none" strike="noStrike" dirty="0">
              <a:effectLst/>
              <a:latin typeface="Arial" panose="020B0604020202020204" pitchFamily="34" charset="0"/>
              <a:ea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D0EE41F-D725-15B6-7585-F57258216684}"/>
              </a:ext>
            </a:extLst>
          </p:cNvPr>
          <p:cNvSpPr>
            <a:spLocks noGrp="1"/>
          </p:cNvSpPr>
          <p:nvPr>
            <p:ph idx="1"/>
          </p:nvPr>
        </p:nvSpPr>
        <p:spPr>
          <a:xfrm>
            <a:off x="390072" y="3759201"/>
            <a:ext cx="11264900" cy="2699656"/>
          </a:xfrm>
        </p:spPr>
        <p:txBody>
          <a:bodyPr>
            <a:normAutofit fontScale="77500" lnSpcReduction="20000"/>
          </a:bodyPr>
          <a:lstStyle/>
          <a:p>
            <a:r>
              <a:rPr lang="en-US" sz="2100" u="none" strike="noStrike" dirty="0">
                <a:solidFill>
                  <a:schemeClr val="tx1"/>
                </a:solidFill>
                <a:effectLst/>
                <a:latin typeface="Arial" panose="020B0604020202020204" pitchFamily="34" charset="0"/>
                <a:ea typeface="Arial" panose="020B0604020202020204" pitchFamily="34" charset="0"/>
              </a:rPr>
              <a:t>Find the supplier with the most products in stock.</a:t>
            </a:r>
          </a:p>
          <a:p>
            <a:pPr marL="0" indent="0">
              <a:lnSpc>
                <a:spcPct val="160000"/>
              </a:lnSpc>
              <a:buNone/>
            </a:pPr>
            <a:r>
              <a:rPr lang="en-US" sz="1900" b="1" dirty="0">
                <a:effectLst/>
                <a:latin typeface="Arial" panose="020B0604020202020204" pitchFamily="34" charset="0"/>
                <a:ea typeface="Aptos" panose="020B0004020202020204" pitchFamily="34" charset="0"/>
                <a:cs typeface="Arial" panose="020B0604020202020204" pitchFamily="34" charset="0"/>
              </a:rPr>
              <a:t>           </a:t>
            </a:r>
            <a:r>
              <a:rPr lang="en-US" sz="2100" b="1" dirty="0">
                <a:effectLst/>
                <a:latin typeface="Arial" panose="020B0604020202020204" pitchFamily="34" charset="0"/>
                <a:ea typeface="Aptos" panose="020B0004020202020204" pitchFamily="34" charset="0"/>
                <a:cs typeface="Arial" panose="020B0604020202020204" pitchFamily="34" charset="0"/>
              </a:rPr>
              <a:t>Procedure: </a:t>
            </a:r>
            <a:r>
              <a:rPr lang="en-US" sz="2100" dirty="0">
                <a:effectLst/>
                <a:latin typeface="Arial" panose="020B0604020202020204" pitchFamily="34" charset="0"/>
                <a:ea typeface="Aptos" panose="020B0004020202020204" pitchFamily="34" charset="0"/>
                <a:cs typeface="Arial" panose="020B0604020202020204" pitchFamily="34" charset="0"/>
              </a:rPr>
              <a:t>By using the query: sum the </a:t>
            </a:r>
            <a:r>
              <a:rPr lang="en-US" sz="2100" dirty="0" err="1">
                <a:effectLst/>
                <a:latin typeface="Arial" panose="020B0604020202020204" pitchFamily="34" charset="0"/>
                <a:ea typeface="Aptos" panose="020B0004020202020204" pitchFamily="34" charset="0"/>
                <a:cs typeface="Arial" panose="020B0604020202020204" pitchFamily="34" charset="0"/>
              </a:rPr>
              <a:t>stockquantity</a:t>
            </a:r>
            <a:r>
              <a:rPr lang="en-US" sz="2100" dirty="0">
                <a:effectLst/>
                <a:latin typeface="Arial" panose="020B0604020202020204" pitchFamily="34" charset="0"/>
                <a:ea typeface="Aptos" panose="020B0004020202020204" pitchFamily="34" charset="0"/>
                <a:cs typeface="Arial" panose="020B0604020202020204" pitchFamily="34" charset="0"/>
              </a:rPr>
              <a:t> of all products supplied by each supplier. Group by </a:t>
            </a:r>
            <a:r>
              <a:rPr lang="en-US" sz="2100" dirty="0" err="1">
                <a:effectLst/>
                <a:latin typeface="Arial" panose="020B0604020202020204" pitchFamily="34" charset="0"/>
                <a:ea typeface="Aptos" panose="020B0004020202020204" pitchFamily="34" charset="0"/>
                <a:cs typeface="Arial" panose="020B0604020202020204" pitchFamily="34" charset="0"/>
              </a:rPr>
              <a:t>supplierid</a:t>
            </a:r>
            <a:r>
              <a:rPr lang="en-US" sz="2100" dirty="0">
                <a:effectLst/>
                <a:latin typeface="Arial" panose="020B0604020202020204" pitchFamily="34" charset="0"/>
                <a:ea typeface="Aptos" panose="020B0004020202020204" pitchFamily="34" charset="0"/>
                <a:cs typeface="Arial" panose="020B0604020202020204" pitchFamily="34" charset="0"/>
              </a:rPr>
              <a:t>, </a:t>
            </a:r>
            <a:r>
              <a:rPr lang="en-US" sz="2100" dirty="0" err="1">
                <a:effectLst/>
                <a:latin typeface="Arial" panose="020B0604020202020204" pitchFamily="34" charset="0"/>
                <a:ea typeface="Aptos" panose="020B0004020202020204" pitchFamily="34" charset="0"/>
                <a:cs typeface="Arial" panose="020B0604020202020204" pitchFamily="34" charset="0"/>
              </a:rPr>
              <a:t>suppliername</a:t>
            </a:r>
            <a:r>
              <a:rPr lang="en-US" sz="2100" dirty="0">
                <a:effectLst/>
                <a:latin typeface="Arial" panose="020B0604020202020204" pitchFamily="34" charset="0"/>
                <a:ea typeface="Aptos" panose="020B0004020202020204" pitchFamily="34" charset="0"/>
                <a:cs typeface="Arial" panose="020B0604020202020204" pitchFamily="34" charset="0"/>
              </a:rPr>
              <a:t> to calculate total stock for each supplier. Sort by </a:t>
            </a:r>
            <a:r>
              <a:rPr lang="en-US" sz="2100" dirty="0" err="1">
                <a:effectLst/>
                <a:latin typeface="Arial" panose="020B0604020202020204" pitchFamily="34" charset="0"/>
                <a:ea typeface="Aptos" panose="020B0004020202020204" pitchFamily="34" charset="0"/>
                <a:cs typeface="Arial" panose="020B0604020202020204" pitchFamily="34" charset="0"/>
              </a:rPr>
              <a:t>totalstock</a:t>
            </a:r>
            <a:r>
              <a:rPr lang="en-US" sz="2100" dirty="0">
                <a:effectLst/>
                <a:latin typeface="Arial" panose="020B0604020202020204" pitchFamily="34" charset="0"/>
                <a:ea typeface="Aptos" panose="020B0004020202020204" pitchFamily="34" charset="0"/>
                <a:cs typeface="Arial" panose="020B0604020202020204" pitchFamily="34" charset="0"/>
              </a:rPr>
              <a:t> DESC so the supplier with the most stock appears first. Used LIMIT 1 to get only the top supplier.</a:t>
            </a:r>
          </a:p>
          <a:p>
            <a:pPr marL="0" indent="0">
              <a:lnSpc>
                <a:spcPct val="160000"/>
              </a:lnSpc>
              <a:buNone/>
            </a:pPr>
            <a:r>
              <a:rPr lang="en-US" sz="2100" b="1" dirty="0">
                <a:latin typeface="Arial" panose="020B0604020202020204" pitchFamily="34" charset="0"/>
                <a:ea typeface="Aptos" panose="020B0004020202020204" pitchFamily="34" charset="0"/>
                <a:cs typeface="Arial" panose="020B0604020202020204" pitchFamily="34" charset="0"/>
              </a:rPr>
              <a:t>          Insights: </a:t>
            </a:r>
            <a:r>
              <a:rPr lang="en-US" sz="2100" b="1" u="none" strike="noStrike" dirty="0">
                <a:solidFill>
                  <a:schemeClr val="tx1"/>
                </a:solidFill>
                <a:effectLst/>
                <a:latin typeface="Arial" panose="020B0604020202020204" pitchFamily="34" charset="0"/>
                <a:ea typeface="Arial" panose="020B0604020202020204" pitchFamily="34" charset="0"/>
              </a:rPr>
              <a:t> </a:t>
            </a:r>
            <a:r>
              <a:rPr lang="en-US" sz="21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We have identified ” Diaz white” supplier has the highest number of products in stock. Helps identify reliable suppliers for bulk restocking. Reduces out-of-stock issues by strengthening supplier relationships.</a:t>
            </a:r>
            <a:endParaRPr lang="en-US" sz="2100" dirty="0">
              <a:effectLst/>
              <a:latin typeface="Arial" panose="020B0604020202020204" pitchFamily="34" charset="0"/>
              <a:ea typeface="Aptos" panose="020B0004020202020204" pitchFamily="34" charset="0"/>
              <a:cs typeface="Arial" panose="020B0604020202020204" pitchFamily="34" charset="0"/>
            </a:endParaRPr>
          </a:p>
          <a:p>
            <a:pPr marL="0" indent="0">
              <a:buNone/>
            </a:pPr>
            <a:endParaRPr lang="en-US" sz="19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213446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984DA-71E4-93F3-0B83-4F2ACB9D8638}"/>
              </a:ext>
            </a:extLst>
          </p:cNvPr>
          <p:cNvSpPr>
            <a:spLocks noGrp="1"/>
          </p:cNvSpPr>
          <p:nvPr>
            <p:ph type="title"/>
          </p:nvPr>
        </p:nvSpPr>
        <p:spPr/>
        <p:txBody>
          <a:bodyPr/>
          <a:lstStyle/>
          <a:p>
            <a:r>
              <a:rPr lang="en-US" b="1" dirty="0"/>
              <a:t>Normalization</a:t>
            </a:r>
          </a:p>
        </p:txBody>
      </p:sp>
      <p:grpSp>
        <p:nvGrpSpPr>
          <p:cNvPr id="4" name="Group 3">
            <a:extLst>
              <a:ext uri="{FF2B5EF4-FFF2-40B4-BE49-F238E27FC236}">
                <a16:creationId xmlns:a16="http://schemas.microsoft.com/office/drawing/2014/main" id="{42FF3B59-8A59-DC26-3A30-CC5193F75B55}"/>
              </a:ext>
            </a:extLst>
          </p:cNvPr>
          <p:cNvGrpSpPr/>
          <p:nvPr/>
        </p:nvGrpSpPr>
        <p:grpSpPr>
          <a:xfrm>
            <a:off x="8813801" y="963969"/>
            <a:ext cx="2286248" cy="669444"/>
            <a:chOff x="126108" y="149717"/>
            <a:chExt cx="4264244" cy="301412"/>
          </a:xfrm>
        </p:grpSpPr>
        <p:sp>
          <p:nvSpPr>
            <p:cNvPr id="5" name="Rectangle: Rounded Corners 4">
              <a:extLst>
                <a:ext uri="{FF2B5EF4-FFF2-40B4-BE49-F238E27FC236}">
                  <a16:creationId xmlns:a16="http://schemas.microsoft.com/office/drawing/2014/main" id="{148DEDC3-2FD2-7987-08DE-C6E1E890CFE0}"/>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Rectangle: Rounded Corners 4">
              <a:extLst>
                <a:ext uri="{FF2B5EF4-FFF2-40B4-BE49-F238E27FC236}">
                  <a16:creationId xmlns:a16="http://schemas.microsoft.com/office/drawing/2014/main" id="{E81C07CA-0A04-A966-6E5E-3923E37C742F}"/>
                </a:ext>
              </a:extLst>
            </p:cNvPr>
            <p:cNvSpPr txBox="1"/>
            <p:nvPr/>
          </p:nvSpPr>
          <p:spPr>
            <a:xfrm>
              <a:off x="126108" y="202045"/>
              <a:ext cx="4264244" cy="1750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12</a:t>
              </a:r>
            </a:p>
          </p:txBody>
        </p:sp>
      </p:grpSp>
      <p:sp>
        <p:nvSpPr>
          <p:cNvPr id="9" name="TextBox 8">
            <a:extLst>
              <a:ext uri="{FF2B5EF4-FFF2-40B4-BE49-F238E27FC236}">
                <a16:creationId xmlns:a16="http://schemas.microsoft.com/office/drawing/2014/main" id="{260144D0-6F5E-6B7F-E921-AAD6ED06A51A}"/>
              </a:ext>
            </a:extLst>
          </p:cNvPr>
          <p:cNvSpPr txBox="1"/>
          <p:nvPr/>
        </p:nvSpPr>
        <p:spPr>
          <a:xfrm>
            <a:off x="6308038" y="2240526"/>
            <a:ext cx="5400430" cy="800219"/>
          </a:xfrm>
          <a:prstGeom prst="rect">
            <a:avLst/>
          </a:prstGeom>
          <a:noFill/>
        </p:spPr>
        <p:txBody>
          <a:bodyPr wrap="square" rtlCol="0">
            <a:spAutoFit/>
          </a:bodyPr>
          <a:lstStyle/>
          <a:p>
            <a:endParaRPr lang="en-US" sz="1400" b="1" u="none" strike="noStrike" dirty="0">
              <a:effectLst/>
              <a:latin typeface="Arial" panose="020B0604020202020204" pitchFamily="34" charset="0"/>
              <a:ea typeface="Arial" panose="020B0604020202020204" pitchFamily="34" charset="0"/>
              <a:cs typeface="Arial" panose="020B0604020202020204" pitchFamily="34" charset="0"/>
            </a:endParaRPr>
          </a:p>
          <a:p>
            <a:endParaRPr lang="en-US" sz="1400" b="1" u="none" strike="noStrike" dirty="0">
              <a:effectLst/>
              <a:latin typeface="Arial" panose="020B0604020202020204" pitchFamily="34" charset="0"/>
              <a:ea typeface="Arial" panose="020B0604020202020204" pitchFamily="34" charset="0"/>
              <a:cs typeface="Arial" panose="020B0604020202020204" pitchFamily="34" charset="0"/>
            </a:endParaRPr>
          </a:p>
          <a:p>
            <a:endParaRPr lang="en-US" dirty="0"/>
          </a:p>
        </p:txBody>
      </p:sp>
      <p:sp>
        <p:nvSpPr>
          <p:cNvPr id="11" name="TextBox 10">
            <a:extLst>
              <a:ext uri="{FF2B5EF4-FFF2-40B4-BE49-F238E27FC236}">
                <a16:creationId xmlns:a16="http://schemas.microsoft.com/office/drawing/2014/main" id="{2DA37E5C-0B2B-52AF-D089-3E4DFFC278DC}"/>
              </a:ext>
            </a:extLst>
          </p:cNvPr>
          <p:cNvSpPr txBox="1"/>
          <p:nvPr/>
        </p:nvSpPr>
        <p:spPr>
          <a:xfrm>
            <a:off x="515388" y="1990989"/>
            <a:ext cx="10851307" cy="369332"/>
          </a:xfrm>
          <a:prstGeom prst="rect">
            <a:avLst/>
          </a:prstGeom>
          <a:noFill/>
        </p:spPr>
        <p:txBody>
          <a:bodyPr wrap="square" rtlCol="0">
            <a:spAutoFit/>
          </a:bodyPr>
          <a:lstStyle/>
          <a:p>
            <a:r>
              <a:rPr lang="en-US" b="1" dirty="0"/>
              <a:t>Normalization is the process of structuring a database to reduce redundancy and improve integrity.</a:t>
            </a:r>
          </a:p>
        </p:txBody>
      </p:sp>
      <p:sp>
        <p:nvSpPr>
          <p:cNvPr id="20" name="Content Placeholder 19">
            <a:extLst>
              <a:ext uri="{FF2B5EF4-FFF2-40B4-BE49-F238E27FC236}">
                <a16:creationId xmlns:a16="http://schemas.microsoft.com/office/drawing/2014/main" id="{2DC001C8-E5AA-94EB-EA02-F7113C182881}"/>
              </a:ext>
            </a:extLst>
          </p:cNvPr>
          <p:cNvSpPr>
            <a:spLocks noGrp="1"/>
          </p:cNvSpPr>
          <p:nvPr>
            <p:ph idx="1"/>
          </p:nvPr>
        </p:nvSpPr>
        <p:spPr>
          <a:xfrm>
            <a:off x="581192" y="2635354"/>
            <a:ext cx="10518857" cy="2877551"/>
          </a:xfrm>
        </p:spPr>
        <p:txBody>
          <a:bodyPr>
            <a:normAutofit fontScale="77500" lnSpcReduction="20000"/>
          </a:bodyPr>
          <a:lstStyle/>
          <a:p>
            <a:pPr marL="742950" marR="0" lvl="1" indent="-285750">
              <a:lnSpc>
                <a:spcPct val="150000"/>
              </a:lnSpc>
              <a:spcBef>
                <a:spcPts val="0"/>
              </a:spcBef>
              <a:spcAft>
                <a:spcPts val="0"/>
              </a:spcAft>
              <a:buFont typeface="Arial" panose="020B0604020202020204" pitchFamily="34" charset="0"/>
              <a:buChar char="○"/>
            </a:pPr>
            <a:r>
              <a:rPr lang="en-US" sz="23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Separate product categories and subcategories into a new table.</a:t>
            </a:r>
          </a:p>
          <a:p>
            <a:pPr marL="742950" marR="0" lvl="1" indent="-285750">
              <a:lnSpc>
                <a:spcPct val="150000"/>
              </a:lnSpc>
              <a:spcBef>
                <a:spcPts val="0"/>
              </a:spcBef>
              <a:spcAft>
                <a:spcPts val="1200"/>
              </a:spcAft>
              <a:buFont typeface="Arial" panose="020B0604020202020204" pitchFamily="34" charset="0"/>
              <a:buChar char="○"/>
            </a:pPr>
            <a:r>
              <a:rPr lang="en-US" sz="2300" u="none" strike="noStrike" dirty="0">
                <a:solidFill>
                  <a:schemeClr val="tx1"/>
                </a:solidFill>
                <a:effectLst/>
                <a:latin typeface="Arial" panose="020B0604020202020204" pitchFamily="34" charset="0"/>
                <a:ea typeface="Arial" panose="020B0604020202020204" pitchFamily="34" charset="0"/>
                <a:cs typeface="Arial" panose="020B0604020202020204" pitchFamily="34" charset="0"/>
              </a:rPr>
              <a:t>Create foreign keys to maintain relationships.</a:t>
            </a:r>
          </a:p>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lang="en-US" sz="23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Procedure: </a:t>
            </a:r>
            <a:r>
              <a:rPr lang="en-US" sz="2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Created a new table </a:t>
            </a:r>
            <a:r>
              <a:rPr lang="en-US" sz="2300" b="1" dirty="0" err="1">
                <a:solidFill>
                  <a:schemeClr val="tx1"/>
                </a:solidFill>
                <a:effectLst/>
                <a:latin typeface="Arial" panose="020B0604020202020204" pitchFamily="34" charset="0"/>
                <a:ea typeface="Times New Roman" panose="02020603050405020304" pitchFamily="18" charset="0"/>
                <a:cs typeface="Arial" panose="020B0604020202020204" pitchFamily="34" charset="0"/>
              </a:rPr>
              <a:t>ProductCategories</a:t>
            </a:r>
            <a:r>
              <a:rPr lang="en-US" sz="2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to store categories and subcategories also, removed Category and </a:t>
            </a:r>
            <a:r>
              <a:rPr lang="en-US" sz="2300" dirty="0" err="1">
                <a:solidFill>
                  <a:schemeClr val="tx1"/>
                </a:solidFill>
                <a:effectLst/>
                <a:latin typeface="Arial" panose="020B0604020202020204" pitchFamily="34" charset="0"/>
                <a:ea typeface="Times New Roman" panose="02020603050405020304" pitchFamily="18" charset="0"/>
                <a:cs typeface="Arial" panose="020B0604020202020204" pitchFamily="34" charset="0"/>
              </a:rPr>
              <a:t>SubCategory</a:t>
            </a:r>
            <a:r>
              <a:rPr lang="en-US" sz="2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from the Products table. Linked the </a:t>
            </a:r>
            <a:r>
              <a:rPr lang="en-US" sz="2300" dirty="0" err="1">
                <a:solidFill>
                  <a:schemeClr val="tx1"/>
                </a:solidFill>
                <a:effectLst/>
                <a:latin typeface="Arial" panose="020B0604020202020204" pitchFamily="34" charset="0"/>
                <a:ea typeface="Times New Roman" panose="02020603050405020304" pitchFamily="18" charset="0"/>
                <a:cs typeface="Arial" panose="020B0604020202020204" pitchFamily="34" charset="0"/>
              </a:rPr>
              <a:t>categoryID</a:t>
            </a:r>
            <a:r>
              <a:rPr lang="en-US" sz="2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into foreign key.</a:t>
            </a:r>
          </a:p>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300"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300" b="1"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     Insights: </a:t>
            </a:r>
            <a:r>
              <a:rPr lang="en-US" sz="23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Any category or subcategory update affects only one table. Searching for products based on categories is quicker. New categories can be added without modifying the Products table.</a:t>
            </a:r>
          </a:p>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300" dirty="0">
              <a:solidFill>
                <a:schemeClr val="tx1"/>
              </a:solidFill>
              <a:latin typeface="Arial" panose="020B0604020202020204" pitchFamily="34" charset="0"/>
              <a:ea typeface="Aptos" panose="020B0004020202020204" pitchFamily="34" charset="0"/>
              <a:cs typeface="Arial" panose="020B0604020202020204" pitchFamily="34" charset="0"/>
            </a:endParaRPr>
          </a:p>
          <a:p>
            <a:pPr marL="0" marR="0" indent="0">
              <a:lnSpc>
                <a:spcPct val="107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300" dirty="0">
              <a:solidFill>
                <a:schemeClr val="tx1"/>
              </a:solidFill>
              <a:effectLst/>
              <a:latin typeface="Arial" panose="020B0604020202020204" pitchFamily="34" charset="0"/>
              <a:ea typeface="Aptos" panose="020B0004020202020204" pitchFamily="34" charset="0"/>
              <a:cs typeface="Arial" panose="020B0604020202020204" pitchFamily="34" charset="0"/>
            </a:endParaRPr>
          </a:p>
          <a:p>
            <a:pPr marL="0" marR="0">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2300" dirty="0">
              <a:effectLst/>
              <a:latin typeface="Arial" panose="020B0604020202020204" pitchFamily="34" charset="0"/>
              <a:ea typeface="Aptos" panose="020B00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412382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7A179CE-0B7E-71D7-91A4-FABBD5F0BB81}"/>
              </a:ext>
            </a:extLst>
          </p:cNvPr>
          <p:cNvGrpSpPr/>
          <p:nvPr/>
        </p:nvGrpSpPr>
        <p:grpSpPr>
          <a:xfrm>
            <a:off x="8813801" y="963969"/>
            <a:ext cx="2286248" cy="669444"/>
            <a:chOff x="126108" y="149717"/>
            <a:chExt cx="4264244" cy="301412"/>
          </a:xfrm>
        </p:grpSpPr>
        <p:sp>
          <p:nvSpPr>
            <p:cNvPr id="8" name="Rectangle: Rounded Corners 7">
              <a:extLst>
                <a:ext uri="{FF2B5EF4-FFF2-40B4-BE49-F238E27FC236}">
                  <a16:creationId xmlns:a16="http://schemas.microsoft.com/office/drawing/2014/main" id="{E1BFC737-BFAB-8528-9FCF-3107B1B9AE07}"/>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Rectangle: Rounded Corners 4">
              <a:extLst>
                <a:ext uri="{FF2B5EF4-FFF2-40B4-BE49-F238E27FC236}">
                  <a16:creationId xmlns:a16="http://schemas.microsoft.com/office/drawing/2014/main" id="{9E5F3FB0-BAC5-6C23-63E7-2143F8EA2B74}"/>
                </a:ext>
              </a:extLst>
            </p:cNvPr>
            <p:cNvSpPr txBox="1"/>
            <p:nvPr/>
          </p:nvSpPr>
          <p:spPr>
            <a:xfrm>
              <a:off x="126108" y="202045"/>
              <a:ext cx="4264244" cy="1750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13</a:t>
              </a:r>
            </a:p>
          </p:txBody>
        </p:sp>
      </p:grpSp>
      <p:sp>
        <p:nvSpPr>
          <p:cNvPr id="12" name="Title 11">
            <a:extLst>
              <a:ext uri="{FF2B5EF4-FFF2-40B4-BE49-F238E27FC236}">
                <a16:creationId xmlns:a16="http://schemas.microsoft.com/office/drawing/2014/main" id="{631EC854-284F-B744-6FDB-740B046E9BB8}"/>
              </a:ext>
            </a:extLst>
          </p:cNvPr>
          <p:cNvSpPr txBox="1">
            <a:spLocks noGrp="1"/>
          </p:cNvSpPr>
          <p:nvPr>
            <p:ph type="title"/>
          </p:nvPr>
        </p:nvSpPr>
        <p:spPr>
          <a:xfrm>
            <a:off x="581025" y="1053342"/>
            <a:ext cx="11029950" cy="662746"/>
          </a:xfrm>
          <a:prstGeom prst="rect">
            <a:avLst/>
          </a:prstGeom>
          <a:noFill/>
        </p:spPr>
        <p:txBody>
          <a:bodyPr wrap="square">
            <a:spAutoFit/>
          </a:bodyPr>
          <a:lstStyle/>
          <a:p>
            <a:pPr marL="0" marR="0">
              <a:lnSpc>
                <a:spcPct val="150000"/>
              </a:lnSpc>
              <a:spcBef>
                <a:spcPts val="1200"/>
              </a:spcBef>
              <a:spcAft>
                <a:spcPts val="200"/>
              </a:spcAft>
            </a:pPr>
            <a:r>
              <a:rPr lang="en-US" dirty="0"/>
              <a:t>Subqueries and Nested Queries</a:t>
            </a:r>
          </a:p>
        </p:txBody>
      </p:sp>
      <p:sp>
        <p:nvSpPr>
          <p:cNvPr id="14" name="TextBox 13">
            <a:extLst>
              <a:ext uri="{FF2B5EF4-FFF2-40B4-BE49-F238E27FC236}">
                <a16:creationId xmlns:a16="http://schemas.microsoft.com/office/drawing/2014/main" id="{467B34C8-8C21-C60E-C608-EAA433F5254E}"/>
              </a:ext>
            </a:extLst>
          </p:cNvPr>
          <p:cNvSpPr txBox="1"/>
          <p:nvPr/>
        </p:nvSpPr>
        <p:spPr>
          <a:xfrm>
            <a:off x="581025" y="1870413"/>
            <a:ext cx="10053128"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	Identify the top 3 products based on sales revenue</a:t>
            </a:r>
          </a:p>
          <a:p>
            <a:endParaRPr lang="en-US" dirty="0">
              <a:latin typeface="Arial" panose="020B0604020202020204" pitchFamily="34" charset="0"/>
              <a:cs typeface="Arial" panose="020B0604020202020204" pitchFamily="34" charset="0"/>
            </a:endParaRPr>
          </a:p>
          <a:p>
            <a:endParaRPr lang="en-US" dirty="0"/>
          </a:p>
        </p:txBody>
      </p:sp>
      <p:sp>
        <p:nvSpPr>
          <p:cNvPr id="2" name="Rectangle 1">
            <a:extLst>
              <a:ext uri="{FF2B5EF4-FFF2-40B4-BE49-F238E27FC236}">
                <a16:creationId xmlns:a16="http://schemas.microsoft.com/office/drawing/2014/main" id="{ADF7BFAD-A9CC-73D8-738B-3E79F940F862}"/>
              </a:ext>
            </a:extLst>
          </p:cNvPr>
          <p:cNvSpPr>
            <a:spLocks noChangeArrowheads="1"/>
          </p:cNvSpPr>
          <p:nvPr/>
        </p:nvSpPr>
        <p:spPr bwMode="auto">
          <a:xfrm>
            <a:off x="631651" y="2332078"/>
            <a:ext cx="1022540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Procedure:  </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find the top 3 products based on revenue first have to calculates total revenue (Quantity * Unit Price) for each product and using the order by and group by function, picked the top 3 highest-selling products.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defTabSz="914400"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Insights: </a:t>
            </a:r>
            <a:r>
              <a:rPr lang="en-US" altLang="en-US" b="1"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We have found that top 3 selling product is </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Capital snack, society vegetable, Fish dairy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IN" sz="1800" dirty="0">
                <a:effectLst/>
                <a:latin typeface="Aptos" panose="020B0004020202020204" pitchFamily="34" charset="0"/>
                <a:ea typeface="Aptos" panose="020B0004020202020204" pitchFamily="34" charset="0"/>
                <a:cs typeface="Times New Roman" panose="02020603050405020304" pitchFamily="18" charset="0"/>
              </a:rPr>
              <a:t>which Helps to offer discounts or promotions on high-revenue items and supports forecasting demand for popular products</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6" name="Rectangle 4">
            <a:extLst>
              <a:ext uri="{FF2B5EF4-FFF2-40B4-BE49-F238E27FC236}">
                <a16:creationId xmlns:a16="http://schemas.microsoft.com/office/drawing/2014/main" id="{7E5CDB09-DB26-EE2D-0514-503A8CF6983E}"/>
              </a:ext>
            </a:extLst>
          </p:cNvPr>
          <p:cNvSpPr>
            <a:spLocks noChangeArrowheads="1"/>
          </p:cNvSpPr>
          <p:nvPr/>
        </p:nvSpPr>
        <p:spPr bwMode="auto">
          <a:xfrm>
            <a:off x="491199" y="4387422"/>
            <a:ext cx="1040522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defTabSz="914400" eaLnBrk="0" fontAlgn="base" hangingPunct="0">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Find customers who haven’t placed any orders yet.</a:t>
            </a:r>
          </a:p>
          <a:p>
            <a:pPr marL="285750" indent="-285750" defTabSz="914400" eaLnBrk="0" fontAlgn="base" hangingPunct="0">
              <a:spcBef>
                <a:spcPct val="0"/>
              </a:spcBef>
              <a:spcAft>
                <a:spcPct val="0"/>
              </a:spcAft>
              <a:buFont typeface="Arial" panose="020B0604020202020204" pitchFamily="34" charset="0"/>
              <a:buChar char="•"/>
            </a:pPr>
            <a:endParaRPr lang="en-US"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ea typeface="Aptos" panose="020B0004020202020204" pitchFamily="34" charset="0"/>
                <a:cs typeface="Arial" panose="020B0604020202020204" pitchFamily="34" charset="0"/>
              </a:rPr>
              <a:t>       Findings</a:t>
            </a:r>
            <a:r>
              <a:rPr lang="en-US" altLang="en-US" dirty="0">
                <a:latin typeface="Arial" panose="020B0604020202020204" pitchFamily="34" charset="0"/>
                <a:ea typeface="Aptos" panose="020B0004020202020204" pitchFamily="34" charset="0"/>
                <a:cs typeface="Arial" panose="020B0604020202020204" pitchFamily="34" charset="0"/>
              </a:rPr>
              <a:t>: We </a:t>
            </a:r>
            <a:r>
              <a:rPr kumimoji="0" lang="en-US" altLang="en-US" b="0" i="0" u="none" strike="noStrike" cap="none" normalizeH="0" baseline="0" dirty="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Found customers whose CustomerID does not exist in the Orders table, which means result of people(Erica Huber, William </a:t>
            </a:r>
            <a:r>
              <a:rPr kumimoji="0" lang="en-US" altLang="en-US" b="0" i="0" u="none" strike="noStrike" cap="none" normalizeH="0" baseline="0" dirty="0" err="1">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cubings</a:t>
            </a:r>
            <a:r>
              <a:rPr kumimoji="0" lang="en-US" altLang="en-US" b="0" i="0" u="none" strike="noStrike" cap="none" normalizeH="0" baseline="0" dirty="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etc</a:t>
            </a:r>
            <a:r>
              <a:rPr kumimoji="0" lang="en-US" altLang="en-US" b="0" i="0" u="none" strike="noStrike" cap="none" normalizeH="0" baseline="0" dirty="0">
                <a:ln>
                  <a:noFill/>
                </a:ln>
                <a:solidFill>
                  <a:schemeClr val="tx1"/>
                </a:solidFill>
                <a:effectLst/>
                <a:latin typeface="Arial" panose="020B0604020202020204" pitchFamily="34" charset="0"/>
                <a:ea typeface="Aptos" panose="020B0004020202020204" pitchFamily="34" charset="0"/>
                <a:cs typeface="Arial" panose="020B0604020202020204" pitchFamily="34" charset="0"/>
              </a:rPr>
              <a:t>…) who have never placed an order using the query.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Insights: </a:t>
            </a:r>
            <a:r>
              <a:rPr lang="en-US" altLang="en-US" dirty="0">
                <a:latin typeface="Arial" panose="020B0604020202020204" pitchFamily="34" charset="0"/>
                <a:cs typeface="Arial" panose="020B0604020202020204" pitchFamily="34" charset="0"/>
              </a:rPr>
              <a:t>It will useful to  target inactive customers for marketing campaigns and encourage them by giving discounts and cashbacks.</a:t>
            </a:r>
            <a:endPar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2218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C17D-91B9-C3D5-2CA8-643428C1DECA}"/>
              </a:ext>
            </a:extLst>
          </p:cNvPr>
          <p:cNvSpPr>
            <a:spLocks noGrp="1"/>
          </p:cNvSpPr>
          <p:nvPr>
            <p:ph type="title"/>
          </p:nvPr>
        </p:nvSpPr>
        <p:spPr/>
        <p:txBody>
          <a:bodyPr/>
          <a:lstStyle/>
          <a:p>
            <a:r>
              <a:rPr lang="en-US" b="1" dirty="0"/>
              <a:t>Real-World Analysis</a:t>
            </a:r>
          </a:p>
        </p:txBody>
      </p:sp>
      <p:sp>
        <p:nvSpPr>
          <p:cNvPr id="3" name="Content Placeholder 2">
            <a:extLst>
              <a:ext uri="{FF2B5EF4-FFF2-40B4-BE49-F238E27FC236}">
                <a16:creationId xmlns:a16="http://schemas.microsoft.com/office/drawing/2014/main" id="{8A24CE39-8DCF-D228-D0A1-8437885AE538}"/>
              </a:ext>
            </a:extLst>
          </p:cNvPr>
          <p:cNvSpPr>
            <a:spLocks noGrp="1"/>
          </p:cNvSpPr>
          <p:nvPr>
            <p:ph idx="1"/>
          </p:nvPr>
        </p:nvSpPr>
        <p:spPr>
          <a:xfrm>
            <a:off x="581192" y="2011448"/>
            <a:ext cx="11029616" cy="1843099"/>
          </a:xfrm>
        </p:spPr>
        <p:txBody>
          <a:bodyPr>
            <a:normAutofit fontScale="85000" lnSpcReduction="10000"/>
          </a:bodyPr>
          <a:lstStyle/>
          <a:p>
            <a:pPr marL="342900" marR="0" lvl="0" indent="-342900">
              <a:lnSpc>
                <a:spcPct val="150000"/>
              </a:lnSpc>
              <a:spcBef>
                <a:spcPts val="1200"/>
              </a:spcBef>
              <a:spcAft>
                <a:spcPts val="0"/>
              </a:spcAft>
              <a:buFont typeface="Arial" panose="020B0604020202020204" pitchFamily="34" charset="0"/>
              <a:buChar char="●"/>
            </a:pPr>
            <a:r>
              <a:rPr lang="en-US" sz="1900" u="none" strike="noStrike" dirty="0">
                <a:solidFill>
                  <a:schemeClr val="tx1"/>
                </a:solidFill>
                <a:effectLst/>
                <a:latin typeface="Arial" panose="020B0604020202020204" pitchFamily="34" charset="0"/>
                <a:ea typeface="Arial" panose="020B0604020202020204" pitchFamily="34" charset="0"/>
              </a:rPr>
              <a:t>Provide actionable insights:</a:t>
            </a:r>
          </a:p>
          <a:p>
            <a:pPr marL="742950" marR="0" lvl="1" indent="-285750">
              <a:lnSpc>
                <a:spcPct val="150000"/>
              </a:lnSpc>
              <a:spcBef>
                <a:spcPts val="0"/>
              </a:spcBef>
              <a:spcAft>
                <a:spcPts val="0"/>
              </a:spcAft>
              <a:buFont typeface="Arial" panose="020B0604020202020204" pitchFamily="34" charset="0"/>
              <a:buChar char="○"/>
            </a:pPr>
            <a:r>
              <a:rPr lang="en-US" sz="1900" u="none" strike="noStrike" dirty="0">
                <a:solidFill>
                  <a:schemeClr val="tx1"/>
                </a:solidFill>
                <a:effectLst/>
                <a:latin typeface="Arial" panose="020B0604020202020204" pitchFamily="34" charset="0"/>
                <a:ea typeface="Arial" panose="020B0604020202020204" pitchFamily="34" charset="0"/>
              </a:rPr>
              <a:t>Which cities have the highest concentration of Prime members?</a:t>
            </a:r>
          </a:p>
          <a:p>
            <a:pPr marL="457200" marR="0" lvl="1" indent="0">
              <a:lnSpc>
                <a:spcPct val="150000"/>
              </a:lnSpc>
              <a:spcBef>
                <a:spcPts val="0"/>
              </a:spcBef>
              <a:spcAft>
                <a:spcPts val="0"/>
              </a:spcAft>
              <a:buNone/>
            </a:pPr>
            <a:r>
              <a:rPr lang="en-US" sz="1900" b="1" u="none" strike="noStrike" dirty="0">
                <a:solidFill>
                  <a:schemeClr val="tx1"/>
                </a:solidFill>
                <a:effectLst/>
                <a:latin typeface="Arial" panose="020B0604020202020204" pitchFamily="34" charset="0"/>
                <a:ea typeface="Arial" panose="020B0604020202020204" pitchFamily="34" charset="0"/>
              </a:rPr>
              <a:t>Procedure </a:t>
            </a:r>
            <a:r>
              <a:rPr lang="en-US" sz="1900" u="none" strike="noStrike" dirty="0">
                <a:solidFill>
                  <a:schemeClr val="tx1"/>
                </a:solidFill>
                <a:effectLst/>
                <a:latin typeface="Arial" panose="020B0604020202020204" pitchFamily="34" charset="0"/>
                <a:ea typeface="Arial" panose="020B0604020202020204" pitchFamily="34" charset="0"/>
              </a:rPr>
              <a:t>:At first,  filters only Prime members and Groups results by city. Counts the number of Prime members in each city Sorts cities from highest to lowest concentration of Prime members.</a:t>
            </a:r>
          </a:p>
          <a:p>
            <a:pPr marL="457200" marR="0" lvl="1" indent="0">
              <a:lnSpc>
                <a:spcPct val="150000"/>
              </a:lnSpc>
              <a:spcBef>
                <a:spcPts val="0"/>
              </a:spcBef>
              <a:spcAft>
                <a:spcPts val="0"/>
              </a:spcAft>
              <a:buNone/>
            </a:pPr>
            <a:r>
              <a:rPr lang="en-US" sz="1900" b="1" u="none" strike="noStrike" dirty="0">
                <a:effectLst/>
                <a:latin typeface="Arial" panose="020B0604020202020204" pitchFamily="34" charset="0"/>
                <a:ea typeface="Arial" panose="020B0604020202020204" pitchFamily="34" charset="0"/>
              </a:rPr>
              <a:t>Insights:  </a:t>
            </a:r>
            <a:r>
              <a:rPr lang="en-US" sz="1900" u="none" strike="noStrike" dirty="0">
                <a:effectLst/>
                <a:latin typeface="Arial" panose="020B0604020202020204" pitchFamily="34" charset="0"/>
                <a:ea typeface="Arial" panose="020B0604020202020204" pitchFamily="34" charset="0"/>
              </a:rPr>
              <a:t>It will be </a:t>
            </a:r>
            <a:r>
              <a:rPr lang="en-US" sz="1900" dirty="0">
                <a:latin typeface="Arial" panose="020B0604020202020204" pitchFamily="34" charset="0"/>
                <a:ea typeface="Arial" panose="020B0604020202020204" pitchFamily="34" charset="0"/>
              </a:rPr>
              <a:t>u</a:t>
            </a:r>
            <a:r>
              <a:rPr lang="en-US" sz="1900" u="none" strike="noStrike" dirty="0">
                <a:effectLst/>
                <a:latin typeface="Arial" panose="020B0604020202020204" pitchFamily="34" charset="0"/>
                <a:ea typeface="Arial" panose="020B0604020202020204" pitchFamily="34" charset="0"/>
              </a:rPr>
              <a:t>seful for expanding delivery infrastructure in high-demand areas and for </a:t>
            </a:r>
            <a:r>
              <a:rPr lang="en-US" sz="1900" u="none" strike="noStrike" dirty="0" err="1">
                <a:effectLst/>
                <a:latin typeface="Arial" panose="020B0604020202020204" pitchFamily="34" charset="0"/>
                <a:ea typeface="Arial" panose="020B0604020202020204" pitchFamily="34" charset="0"/>
              </a:rPr>
              <a:t>advertisment</a:t>
            </a:r>
            <a:endParaRPr lang="en-US" sz="1900" u="none" strike="noStrike" dirty="0">
              <a:effectLst/>
              <a:latin typeface="Arial" panose="020B0604020202020204" pitchFamily="34" charset="0"/>
              <a:ea typeface="Arial" panose="020B0604020202020204" pitchFamily="34" charset="0"/>
            </a:endParaRPr>
          </a:p>
          <a:p>
            <a:endParaRPr lang="en-US" dirty="0"/>
          </a:p>
        </p:txBody>
      </p:sp>
      <p:grpSp>
        <p:nvGrpSpPr>
          <p:cNvPr id="8" name="Group 7">
            <a:extLst>
              <a:ext uri="{FF2B5EF4-FFF2-40B4-BE49-F238E27FC236}">
                <a16:creationId xmlns:a16="http://schemas.microsoft.com/office/drawing/2014/main" id="{BFE268A0-F7CD-D5E1-1E3A-11082FCC2B23}"/>
              </a:ext>
            </a:extLst>
          </p:cNvPr>
          <p:cNvGrpSpPr/>
          <p:nvPr/>
        </p:nvGrpSpPr>
        <p:grpSpPr>
          <a:xfrm>
            <a:off x="8813801" y="963969"/>
            <a:ext cx="2286248" cy="669444"/>
            <a:chOff x="126108" y="149717"/>
            <a:chExt cx="4264244" cy="301412"/>
          </a:xfrm>
        </p:grpSpPr>
        <p:sp>
          <p:nvSpPr>
            <p:cNvPr id="9" name="Rectangle: Rounded Corners 8">
              <a:extLst>
                <a:ext uri="{FF2B5EF4-FFF2-40B4-BE49-F238E27FC236}">
                  <a16:creationId xmlns:a16="http://schemas.microsoft.com/office/drawing/2014/main" id="{C7C601D5-CE97-B901-3B55-11A0EE007A20}"/>
                </a:ext>
              </a:extLst>
            </p:cNvPr>
            <p:cNvSpPr/>
            <p:nvPr/>
          </p:nvSpPr>
          <p:spPr>
            <a:xfrm>
              <a:off x="126108" y="149717"/>
              <a:ext cx="4145325" cy="30141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8829B1DC-EE1D-084B-4EFD-6FF12C672162}"/>
                </a:ext>
              </a:extLst>
            </p:cNvPr>
            <p:cNvSpPr txBox="1"/>
            <p:nvPr/>
          </p:nvSpPr>
          <p:spPr>
            <a:xfrm>
              <a:off x="126108" y="202045"/>
              <a:ext cx="4264244" cy="17501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2400" b="1" kern="1200" dirty="0">
                  <a:latin typeface="Arial" panose="020B0604020202020204" pitchFamily="34" charset="0"/>
                  <a:cs typeface="Arial" panose="020B0604020202020204" pitchFamily="34" charset="0"/>
                </a:rPr>
                <a:t>Task :  14</a:t>
              </a:r>
            </a:p>
          </p:txBody>
        </p:sp>
      </p:grpSp>
      <p:pic>
        <p:nvPicPr>
          <p:cNvPr id="5" name="Picture 4">
            <a:extLst>
              <a:ext uri="{FF2B5EF4-FFF2-40B4-BE49-F238E27FC236}">
                <a16:creationId xmlns:a16="http://schemas.microsoft.com/office/drawing/2014/main" id="{3857389F-EEF7-BC84-B115-71EBB1596486}"/>
              </a:ext>
            </a:extLst>
          </p:cNvPr>
          <p:cNvPicPr>
            <a:picLocks noChangeAspect="1"/>
          </p:cNvPicPr>
          <p:nvPr/>
        </p:nvPicPr>
        <p:blipFill>
          <a:blip r:embed="rId2"/>
          <a:stretch>
            <a:fillRect/>
          </a:stretch>
        </p:blipFill>
        <p:spPr>
          <a:xfrm>
            <a:off x="2076308" y="4417557"/>
            <a:ext cx="6737493" cy="2313442"/>
          </a:xfrm>
          <a:prstGeom prst="rect">
            <a:avLst/>
          </a:prstGeom>
        </p:spPr>
      </p:pic>
    </p:spTree>
    <p:extLst>
      <p:ext uri="{BB962C8B-B14F-4D97-AF65-F5344CB8AC3E}">
        <p14:creationId xmlns:p14="http://schemas.microsoft.com/office/powerpoint/2010/main" val="2880027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6E56435-0B5B-216F-DC34-ADE557322370}"/>
              </a:ext>
            </a:extLst>
          </p:cNvPr>
          <p:cNvSpPr txBox="1"/>
          <p:nvPr/>
        </p:nvSpPr>
        <p:spPr>
          <a:xfrm>
            <a:off x="286754" y="2138293"/>
            <a:ext cx="10452295" cy="456535"/>
          </a:xfrm>
          <a:prstGeom prst="rect">
            <a:avLst/>
          </a:prstGeom>
          <a:noFill/>
        </p:spPr>
        <p:txBody>
          <a:bodyPr wrap="square">
            <a:spAutoFit/>
          </a:bodyPr>
          <a:lstStyle/>
          <a:p>
            <a:pPr marL="742950" marR="0" lvl="1" indent="-285750">
              <a:lnSpc>
                <a:spcPct val="150000"/>
              </a:lnSpc>
              <a:spcBef>
                <a:spcPts val="0"/>
              </a:spcBef>
              <a:spcAft>
                <a:spcPts val="1200"/>
              </a:spcAft>
              <a:buFont typeface="Arial" panose="020B0604020202020204" pitchFamily="34" charset="0"/>
              <a:buChar char="○"/>
            </a:pPr>
            <a:r>
              <a:rPr lang="en-US" sz="1800" u="none" strike="noStrike" dirty="0">
                <a:effectLst/>
                <a:latin typeface="Arial" panose="020B0604020202020204" pitchFamily="34" charset="0"/>
                <a:ea typeface="Arial" panose="020B0604020202020204" pitchFamily="34" charset="0"/>
              </a:rPr>
              <a:t>What are the top 3 most frequently ordered categories?</a:t>
            </a:r>
          </a:p>
        </p:txBody>
      </p:sp>
      <p:sp>
        <p:nvSpPr>
          <p:cNvPr id="8" name="TextBox 7">
            <a:extLst>
              <a:ext uri="{FF2B5EF4-FFF2-40B4-BE49-F238E27FC236}">
                <a16:creationId xmlns:a16="http://schemas.microsoft.com/office/drawing/2014/main" id="{4654A28D-22CE-5B51-1259-F32A5A13FEF3}"/>
              </a:ext>
            </a:extLst>
          </p:cNvPr>
          <p:cNvSpPr txBox="1"/>
          <p:nvPr/>
        </p:nvSpPr>
        <p:spPr>
          <a:xfrm>
            <a:off x="977934" y="2616200"/>
            <a:ext cx="10670974" cy="1754326"/>
          </a:xfrm>
          <a:prstGeom prst="rect">
            <a:avLst/>
          </a:prstGeom>
          <a:noFill/>
        </p:spPr>
        <p:txBody>
          <a:bodyPr wrap="square" rtlCol="0">
            <a:spAutoFit/>
          </a:bodyPr>
          <a:lstStyle/>
          <a:p>
            <a:r>
              <a:rPr lang="en-US" sz="1800" b="1" dirty="0">
                <a:effectLst/>
                <a:latin typeface="Arial" panose="020B0604020202020204" pitchFamily="34" charset="0"/>
                <a:ea typeface="Times New Roman" panose="02020603050405020304" pitchFamily="18" charset="0"/>
                <a:cs typeface="Arial" panose="020B0604020202020204" pitchFamily="34" charset="0"/>
              </a:rPr>
              <a:t>Procedure: </a:t>
            </a:r>
            <a:r>
              <a:rPr lang="en-US" sz="1800" dirty="0">
                <a:effectLst/>
                <a:latin typeface="Arial" panose="020B0604020202020204" pitchFamily="34" charset="0"/>
                <a:ea typeface="Times New Roman" panose="02020603050405020304" pitchFamily="18" charset="0"/>
                <a:cs typeface="Arial" panose="020B0604020202020204" pitchFamily="34" charset="0"/>
              </a:rPr>
              <a:t>To find the top 3 category need to Joins </a:t>
            </a:r>
            <a:r>
              <a:rPr lang="en-US" sz="1800" dirty="0" err="1">
                <a:effectLst/>
                <a:latin typeface="Arial" panose="020B0604020202020204" pitchFamily="34" charset="0"/>
                <a:ea typeface="Times New Roman" panose="02020603050405020304" pitchFamily="18" charset="0"/>
                <a:cs typeface="Arial" panose="020B0604020202020204" pitchFamily="34" charset="0"/>
              </a:rPr>
              <a:t>order_details</a:t>
            </a:r>
            <a:r>
              <a:rPr lang="en-US" sz="1800" dirty="0">
                <a:effectLst/>
                <a:latin typeface="Arial" panose="020B0604020202020204" pitchFamily="34" charset="0"/>
                <a:ea typeface="Times New Roman" panose="02020603050405020304" pitchFamily="18" charset="0"/>
                <a:cs typeface="Arial" panose="020B0604020202020204" pitchFamily="34" charset="0"/>
              </a:rPr>
              <a:t>, Products, and Categories to get category names. Counts the number of times a category appears in orders and Groups by category name. Orders the result in descending order Limits the output to the top 3 categories.</a:t>
            </a:r>
          </a:p>
          <a:p>
            <a:endParaRPr lang="en-US" dirty="0">
              <a:latin typeface="Arial" panose="020B0604020202020204" pitchFamily="34" charset="0"/>
              <a:ea typeface="Times New Roman" panose="02020603050405020304" pitchFamily="18" charset="0"/>
              <a:cs typeface="Arial" panose="020B0604020202020204" pitchFamily="34" charset="0"/>
            </a:endParaRPr>
          </a:p>
          <a:p>
            <a:r>
              <a:rPr lang="en-US" sz="1800" b="1" dirty="0">
                <a:effectLst/>
                <a:latin typeface="Arial" panose="020B0604020202020204" pitchFamily="34" charset="0"/>
                <a:ea typeface="Times New Roman" panose="02020603050405020304" pitchFamily="18" charset="0"/>
                <a:cs typeface="Arial" panose="020B0604020202020204" pitchFamily="34" charset="0"/>
              </a:rPr>
              <a:t>Insights:  </a:t>
            </a:r>
            <a:r>
              <a:rPr lang="en-US" sz="1800" dirty="0">
                <a:effectLst/>
                <a:latin typeface="Arial" panose="020B0604020202020204" pitchFamily="34" charset="0"/>
                <a:ea typeface="Times New Roman" panose="02020603050405020304" pitchFamily="18" charset="0"/>
                <a:cs typeface="Arial" panose="020B0604020202020204" pitchFamily="34" charset="0"/>
              </a:rPr>
              <a:t>Top 3 </a:t>
            </a:r>
            <a:r>
              <a:rPr lang="en-US" dirty="0">
                <a:latin typeface="Arial" panose="020B0604020202020204" pitchFamily="34" charset="0"/>
                <a:ea typeface="Times New Roman" panose="02020603050405020304" pitchFamily="18" charset="0"/>
                <a:cs typeface="Arial" panose="020B0604020202020204" pitchFamily="34" charset="0"/>
              </a:rPr>
              <a:t>frequently ordered categories are</a:t>
            </a:r>
            <a:r>
              <a:rPr lang="en-US" b="1" dirty="0">
                <a:latin typeface="Arial" panose="020B0604020202020204" pitchFamily="34" charset="0"/>
                <a:ea typeface="Times New Roman" panose="02020603050405020304" pitchFamily="18" charset="0"/>
                <a:cs typeface="Arial" panose="020B0604020202020204" pitchFamily="34" charset="0"/>
              </a:rPr>
              <a:t> </a:t>
            </a:r>
            <a:r>
              <a:rPr lang="en-US" sz="1800" dirty="0">
                <a:effectLst/>
                <a:latin typeface="Arial" panose="020B0604020202020204" pitchFamily="34" charset="0"/>
                <a:ea typeface="Times New Roman" panose="02020603050405020304" pitchFamily="18" charset="0"/>
                <a:cs typeface="Arial" panose="020B0604020202020204" pitchFamily="34" charset="0"/>
              </a:rPr>
              <a:t>Meat , fruits and snacks.</a:t>
            </a:r>
            <a:r>
              <a:rPr lang="en-US" dirty="0">
                <a:latin typeface="Arial" panose="020B0604020202020204" pitchFamily="34" charset="0"/>
                <a:ea typeface="Times New Roman" panose="02020603050405020304" pitchFamily="18" charset="0"/>
                <a:cs typeface="Arial" panose="020B0604020202020204" pitchFamily="34" charset="0"/>
              </a:rPr>
              <a:t> We can analyze the trend for future inventory planning. </a:t>
            </a:r>
            <a:endParaRPr lang="en-US" dirty="0"/>
          </a:p>
        </p:txBody>
      </p:sp>
      <p:pic>
        <p:nvPicPr>
          <p:cNvPr id="3" name="Picture 2">
            <a:extLst>
              <a:ext uri="{FF2B5EF4-FFF2-40B4-BE49-F238E27FC236}">
                <a16:creationId xmlns:a16="http://schemas.microsoft.com/office/drawing/2014/main" id="{65574F09-E716-522D-96FD-A264E2969480}"/>
              </a:ext>
            </a:extLst>
          </p:cNvPr>
          <p:cNvPicPr>
            <a:picLocks noChangeAspect="1"/>
          </p:cNvPicPr>
          <p:nvPr/>
        </p:nvPicPr>
        <p:blipFill>
          <a:blip r:embed="rId2"/>
          <a:stretch>
            <a:fillRect/>
          </a:stretch>
        </p:blipFill>
        <p:spPr>
          <a:xfrm>
            <a:off x="2272800" y="4533900"/>
            <a:ext cx="7163800" cy="2006876"/>
          </a:xfrm>
          <a:prstGeom prst="rect">
            <a:avLst/>
          </a:prstGeom>
          <a:ln>
            <a:solidFill>
              <a:schemeClr val="tx1">
                <a:lumMod val="75000"/>
                <a:lumOff val="25000"/>
              </a:schemeClr>
            </a:solidFill>
          </a:ln>
        </p:spPr>
      </p:pic>
    </p:spTree>
    <p:extLst>
      <p:ext uri="{BB962C8B-B14F-4D97-AF65-F5344CB8AC3E}">
        <p14:creationId xmlns:p14="http://schemas.microsoft.com/office/powerpoint/2010/main" val="272110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endParaRPr lang="en-US" dirty="0">
              <a:solidFill>
                <a:schemeClr val="bg2"/>
              </a:solidFill>
            </a:endParaRPr>
          </a:p>
          <a:p>
            <a:endParaRPr lang="en-US"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2625104658"/>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2.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design</Template>
  <TotalTime>2063</TotalTime>
  <Words>1996</Words>
  <Application>Microsoft Office PowerPoint</Application>
  <PresentationFormat>Widescreen</PresentationFormat>
  <Paragraphs>167</Paragraphs>
  <Slides>23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Aptos</vt:lpstr>
      <vt:lpstr>Arial</vt:lpstr>
      <vt:lpstr>Baskerville Old Face</vt:lpstr>
      <vt:lpstr>Calibri</vt:lpstr>
      <vt:lpstr>Gill Sans MT</vt:lpstr>
      <vt:lpstr>Roboto Mono</vt:lpstr>
      <vt:lpstr>Times New Roman</vt:lpstr>
      <vt:lpstr>Wingdings 2</vt:lpstr>
      <vt:lpstr>Custom</vt:lpstr>
      <vt:lpstr>Amazon Fresh Analytics  </vt:lpstr>
      <vt:lpstr>TABLE OF CONTENT:</vt:lpstr>
      <vt:lpstr>Problem Statement:</vt:lpstr>
      <vt:lpstr>Data Modeling and Basic Queries</vt:lpstr>
      <vt:lpstr>PowerPoint Presentation</vt:lpstr>
      <vt:lpstr>PowerPoint Presentation</vt:lpstr>
      <vt:lpstr>PowerPoint Presentation</vt:lpstr>
      <vt:lpstr>• Data Manipulation Language (DML)</vt:lpstr>
      <vt:lpstr>PowerPoint Presentation</vt:lpstr>
      <vt:lpstr>PowerPoint Presentation</vt:lpstr>
      <vt:lpstr>SQL Constraints and Operators</vt:lpstr>
      <vt:lpstr>Clauses and Aggregations</vt:lpstr>
      <vt:lpstr>PowerPoint Presentation</vt:lpstr>
      <vt:lpstr>Identifying High-Value Customers</vt:lpstr>
      <vt:lpstr>PowerPoint Presentation</vt:lpstr>
      <vt:lpstr>PowerPoint Presentation</vt:lpstr>
      <vt:lpstr>Complex Aggregations and Joins</vt:lpstr>
      <vt:lpstr>PowerPoint Presentation</vt:lpstr>
      <vt:lpstr>Normalization</vt:lpstr>
      <vt:lpstr>Subqueries and Nested Queries</vt:lpstr>
      <vt:lpstr>Real-World Analysis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Fresh Analytics</dc:title>
  <dc:creator>Seneka Ravi</dc:creator>
  <cp:lastModifiedBy>Seneka Ravi</cp:lastModifiedBy>
  <cp:revision>11</cp:revision>
  <dcterms:created xsi:type="dcterms:W3CDTF">2025-03-16T14:59:42Z</dcterms:created>
  <dcterms:modified xsi:type="dcterms:W3CDTF">2025-03-31T19:56:59Z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