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7" r:id="rId5"/>
    <p:sldId id="258" r:id="rId6"/>
    <p:sldId id="260" r:id="rId7"/>
    <p:sldId id="273" r:id="rId8"/>
    <p:sldId id="262" r:id="rId9"/>
    <p:sldId id="282" r:id="rId10"/>
    <p:sldId id="275" r:id="rId11"/>
    <p:sldId id="279" r:id="rId12"/>
    <p:sldId id="276" r:id="rId13"/>
    <p:sldId id="287" r:id="rId14"/>
    <p:sldId id="286" r:id="rId15"/>
    <p:sldId id="280" r:id="rId16"/>
    <p:sldId id="288" r:id="rId17"/>
    <p:sldId id="267"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249" autoAdjust="0"/>
  </p:normalViewPr>
  <p:slideViewPr>
    <p:cSldViewPr snapToGrid="0">
      <p:cViewPr varScale="1">
        <p:scale>
          <a:sx n="85" d="100"/>
          <a:sy n="85" d="100"/>
        </p:scale>
        <p:origin x="138" y="60"/>
      </p:cViewPr>
      <p:guideLst/>
    </p:cSldViewPr>
  </p:slideViewPr>
  <p:outlineViewPr>
    <p:cViewPr>
      <p:scale>
        <a:sx n="33" d="100"/>
        <a:sy n="33" d="100"/>
      </p:scale>
      <p:origin x="0" y="-63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5716D-39C9-48C4-A3EB-B88E4515427D}" type="datetimeFigureOut">
              <a:rPr lang="en-US" smtClean="0"/>
              <a:t>8/28/2025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C6D3C-9EB0-4F2C-9026-3887D1CDB44E}" type="slidenum">
              <a:rPr lang="en-US" smtClean="0"/>
              <a:t>‹#›</a:t>
            </a:fld>
            <a:endParaRPr lang="en-US" dirty="0"/>
          </a:p>
        </p:txBody>
      </p:sp>
    </p:spTree>
    <p:extLst>
      <p:ext uri="{BB962C8B-B14F-4D97-AF65-F5344CB8AC3E}">
        <p14:creationId xmlns:p14="http://schemas.microsoft.com/office/powerpoint/2010/main" val="243776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0C6D3C-9EB0-4F2C-9026-3887D1CDB44E}" type="slidenum">
              <a:rPr lang="en-US" smtClean="0"/>
              <a:t>11</a:t>
            </a:fld>
            <a:endParaRPr lang="en-US" dirty="0"/>
          </a:p>
        </p:txBody>
      </p:sp>
    </p:spTree>
    <p:extLst>
      <p:ext uri="{BB962C8B-B14F-4D97-AF65-F5344CB8AC3E}">
        <p14:creationId xmlns:p14="http://schemas.microsoft.com/office/powerpoint/2010/main" val="4294911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612000" tIns="0" anchor="ctr"/>
          <a:lstStyle>
            <a:lvl1pPr marL="0" indent="0" algn="l">
              <a:lnSpc>
                <a:spcPct val="100000"/>
              </a:lnSpc>
              <a:buNone/>
              <a:defRPr sz="1200" i="1">
                <a:solidFill>
                  <a:schemeClr val="bg1">
                    <a:lumMod val="75000"/>
                  </a:schemeClr>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p:nvPr>
        </p:nvSpPr>
        <p:spPr>
          <a:xfrm>
            <a:off x="2520000" y="0"/>
            <a:ext cx="9672000" cy="6857999"/>
          </a:xfrm>
          <a:solidFill>
            <a:schemeClr val="tx2">
              <a:alpha val="70000"/>
            </a:schemeClr>
          </a:solidFill>
        </p:spPr>
        <p:txBody>
          <a:bodyPr lIns="1116000" rIns="180000" anchor="ctr"/>
          <a:lstStyle>
            <a:lvl1pPr algn="l">
              <a:defRPr sz="5000" cap="all" baseline="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5C97F3D-57FA-4E82-9EEC-E93088055A15}"/>
              </a:ext>
            </a:extLst>
          </p:cNvPr>
          <p:cNvSpPr>
            <a:spLocks noGrp="1"/>
          </p:cNvSpPr>
          <p:nvPr>
            <p:ph type="subTitle" idx="1"/>
          </p:nvPr>
        </p:nvSpPr>
        <p:spPr>
          <a:xfrm>
            <a:off x="3600000" y="4276447"/>
            <a:ext cx="5161550" cy="620016"/>
          </a:xfrm>
          <a:gradFill>
            <a:gsLst>
              <a:gs pos="0">
                <a:schemeClr val="tx2"/>
              </a:gs>
              <a:gs pos="100000">
                <a:schemeClr val="accent2"/>
              </a:gs>
            </a:gsLst>
            <a:lin ang="14400000" scaled="0"/>
          </a:gradFill>
        </p:spPr>
        <p:txBody>
          <a:bodyPr lIns="144000" anchor="ctr"/>
          <a:lstStyle>
            <a:lvl1pPr marL="0" indent="0" algn="l">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Footer Placeholder 6">
            <a:extLst>
              <a:ext uri="{FF2B5EF4-FFF2-40B4-BE49-F238E27FC236}">
                <a16:creationId xmlns:a16="http://schemas.microsoft.com/office/drawing/2014/main" id="{E31775C8-C7F0-4EC5-A9C0-53AE3A0C5F7B}"/>
              </a:ext>
            </a:extLst>
          </p:cNvPr>
          <p:cNvSpPr>
            <a:spLocks noGrp="1"/>
          </p:cNvSpPr>
          <p:nvPr>
            <p:ph type="ftr" sz="quarter" idx="10"/>
          </p:nvPr>
        </p:nvSpPr>
        <p:spPr>
          <a:xfrm>
            <a:off x="3600000" y="6262080"/>
            <a:ext cx="7560000" cy="360000"/>
          </a:xfrm>
        </p:spPr>
        <p:txBody>
          <a:bodyPr/>
          <a:lstStyle/>
          <a:p>
            <a:endParaRPr lang="en-US" dirty="0"/>
          </a:p>
        </p:txBody>
      </p:sp>
      <p:sp>
        <p:nvSpPr>
          <p:cNvPr id="8" name="Slide Number Placeholder 7">
            <a:extLst>
              <a:ext uri="{FF2B5EF4-FFF2-40B4-BE49-F238E27FC236}">
                <a16:creationId xmlns:a16="http://schemas.microsoft.com/office/drawing/2014/main" id="{9E8B0AE2-DA19-49E2-AC81-5272385D304C}"/>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214234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75689F-8B6B-4484-8064-90B4D8FB7C72}"/>
              </a:ext>
            </a:extLst>
          </p:cNvPr>
          <p:cNvSpPr>
            <a:spLocks noGrp="1"/>
          </p:cNvSpPr>
          <p:nvPr>
            <p:ph type="body" sz="quarter" idx="13" hasCustomPrompt="1"/>
          </p:nvPr>
        </p:nvSpPr>
        <p:spPr>
          <a:xfrm>
            <a:off x="1147343" y="2731933"/>
            <a:ext cx="6903253" cy="3350673"/>
          </a:xfrm>
          <a:gradFill>
            <a:gsLst>
              <a:gs pos="0">
                <a:schemeClr val="tx2"/>
              </a:gs>
              <a:gs pos="100000">
                <a:schemeClr val="accent2"/>
              </a:gs>
            </a:gsLst>
            <a:lin ang="14400000" scaled="0"/>
          </a:gradFill>
        </p:spPr>
        <p:txBody>
          <a:bodyPr lIns="576000" tIns="1872000" rIns="576000"/>
          <a:lstStyle>
            <a:lvl1pPr marL="0" indent="0">
              <a:lnSpc>
                <a:spcPts val="2000"/>
              </a:lnSpc>
              <a:buNone/>
              <a:defRPr>
                <a:solidFill>
                  <a:schemeClr val="bg1"/>
                </a:solidFill>
              </a:defRPr>
            </a:lvl1pPr>
          </a:lstStyle>
          <a:p>
            <a:pPr lvl="0"/>
            <a:r>
              <a:rPr lang="en-US" dirty="0"/>
              <a:t>Describe Your Big Idea</a:t>
            </a:r>
          </a:p>
        </p:txBody>
      </p:sp>
      <p:sp>
        <p:nvSpPr>
          <p:cNvPr id="21" name="Picture Placeholder 20">
            <a:extLst>
              <a:ext uri="{FF2B5EF4-FFF2-40B4-BE49-F238E27FC236}">
                <a16:creationId xmlns:a16="http://schemas.microsoft.com/office/drawing/2014/main" id="{C57B9832-0120-4094-8C27-082E3533C5DC}"/>
              </a:ext>
            </a:extLst>
          </p:cNvPr>
          <p:cNvSpPr>
            <a:spLocks noGrp="1"/>
          </p:cNvSpPr>
          <p:nvPr>
            <p:ph type="pic" sz="quarter" idx="12" hasCustomPrompt="1"/>
          </p:nvPr>
        </p:nvSpPr>
        <p:spPr>
          <a:xfrm>
            <a:off x="0" y="0"/>
            <a:ext cx="12012000" cy="6858000"/>
          </a:xfrm>
          <a:custGeom>
            <a:avLst/>
            <a:gdLst>
              <a:gd name="connsiteX0" fmla="*/ 0 w 12012000"/>
              <a:gd name="connsiteY0" fmla="*/ 0 h 6858000"/>
              <a:gd name="connsiteX1" fmla="*/ 8592000 w 12012000"/>
              <a:gd name="connsiteY1" fmla="*/ 0 h 6858000"/>
              <a:gd name="connsiteX2" fmla="*/ 8592000 w 12012000"/>
              <a:gd name="connsiteY2" fmla="*/ 180000 h 6858000"/>
              <a:gd name="connsiteX3" fmla="*/ 12012000 w 12012000"/>
              <a:gd name="connsiteY3" fmla="*/ 180000 h 6858000"/>
              <a:gd name="connsiteX4" fmla="*/ 12012000 w 12012000"/>
              <a:gd name="connsiteY4" fmla="*/ 6678000 h 6858000"/>
              <a:gd name="connsiteX5" fmla="*/ 8592000 w 12012000"/>
              <a:gd name="connsiteY5" fmla="*/ 6678000 h 6858000"/>
              <a:gd name="connsiteX6" fmla="*/ 8592000 w 12012000"/>
              <a:gd name="connsiteY6" fmla="*/ 6858000 h 6858000"/>
              <a:gd name="connsiteX7" fmla="*/ 0 w 1201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2000" h="6858000">
                <a:moveTo>
                  <a:pt x="0" y="0"/>
                </a:moveTo>
                <a:lnTo>
                  <a:pt x="8592000" y="0"/>
                </a:lnTo>
                <a:lnTo>
                  <a:pt x="8592000" y="180000"/>
                </a:lnTo>
                <a:lnTo>
                  <a:pt x="12012000" y="180000"/>
                </a:lnTo>
                <a:lnTo>
                  <a:pt x="12012000" y="6678000"/>
                </a:lnTo>
                <a:lnTo>
                  <a:pt x="8592000" y="6678000"/>
                </a:lnTo>
                <a:lnTo>
                  <a:pt x="8592000" y="6858000"/>
                </a:lnTo>
                <a:lnTo>
                  <a:pt x="0" y="6858000"/>
                </a:lnTo>
                <a:close/>
              </a:path>
            </a:pathLst>
          </a:custGeom>
          <a:noFill/>
        </p:spPr>
        <p:txBody>
          <a:bodyPr wrap="square" lIns="0" tIns="0" rIns="612000" anchor="ctr">
            <a:noAutofit/>
          </a:bodyPr>
          <a:lstStyle>
            <a:lvl1pPr marL="0" indent="0" algn="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a:xfrm>
            <a:off x="683999" y="6262080"/>
            <a:ext cx="6190934" cy="360000"/>
          </a:xfrm>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tx2"/>
          </a:solidFill>
        </p:spPr>
        <p:txBody>
          <a:bodyPr/>
          <a:lstStyle>
            <a:lvl1pPr>
              <a:defRPr>
                <a:solidFill>
                  <a:schemeClr val="bg1"/>
                </a:solidFill>
              </a:defRPr>
            </a:lvl1pPr>
          </a:lstStyle>
          <a:p>
            <a:fld id="{EECC7194-A4D0-457B-9D3E-53681723AFF7}" type="slidenum">
              <a:rPr lang="en-US" smtClean="0"/>
              <a:pPr/>
              <a:t>‹#›</a:t>
            </a:fld>
            <a:endParaRPr lang="en-US" dirty="0"/>
          </a:p>
        </p:txBody>
      </p:sp>
      <p:sp>
        <p:nvSpPr>
          <p:cNvPr id="12" name="Title 11">
            <a:extLst>
              <a:ext uri="{FF2B5EF4-FFF2-40B4-BE49-F238E27FC236}">
                <a16:creationId xmlns:a16="http://schemas.microsoft.com/office/drawing/2014/main" id="{EAF90A48-1BFB-4A19-9A1C-2851879F9E8F}"/>
              </a:ext>
            </a:extLst>
          </p:cNvPr>
          <p:cNvSpPr>
            <a:spLocks noGrp="1"/>
          </p:cNvSpPr>
          <p:nvPr>
            <p:ph type="title"/>
          </p:nvPr>
        </p:nvSpPr>
        <p:spPr>
          <a:xfrm>
            <a:off x="1749778" y="3096087"/>
            <a:ext cx="5455750" cy="1008000"/>
          </a:xfrm>
        </p:spPr>
        <p:txBody>
          <a:bodyPr/>
          <a:lstStyle>
            <a:lvl1pPr>
              <a:defRPr sz="4000" cap="all" baseline="0">
                <a:solidFill>
                  <a:schemeClr val="bg1"/>
                </a:solidFill>
              </a:defRPr>
            </a:lvl1pPr>
          </a:lstStyle>
          <a:p>
            <a:r>
              <a:rPr lang="en-US"/>
              <a:t>Click to edit Master title style</a:t>
            </a:r>
            <a:endParaRPr lang="en-US" dirty="0"/>
          </a:p>
        </p:txBody>
      </p:sp>
      <p:sp>
        <p:nvSpPr>
          <p:cNvPr id="19" name="Freeform: Shape 18">
            <a:extLst>
              <a:ext uri="{FF2B5EF4-FFF2-40B4-BE49-F238E27FC236}">
                <a16:creationId xmlns:a16="http://schemas.microsoft.com/office/drawing/2014/main" id="{C9E79024-4B2E-43B0-8607-196181AB731F}"/>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3659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 X Number &amp; Icon">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49F266E5-40A6-4643-B9AC-B38F27256371}"/>
              </a:ext>
            </a:extLst>
          </p:cNvPr>
          <p:cNvSpPr>
            <a:spLocks noGrp="1"/>
          </p:cNvSpPr>
          <p:nvPr>
            <p:ph type="body" sz="quarter" idx="13" hasCustomPrompt="1"/>
          </p:nvPr>
        </p:nvSpPr>
        <p:spPr>
          <a:xfrm>
            <a:off x="6842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1" name="Text Placeholder 10">
            <a:extLst>
              <a:ext uri="{FF2B5EF4-FFF2-40B4-BE49-F238E27FC236}">
                <a16:creationId xmlns:a16="http://schemas.microsoft.com/office/drawing/2014/main" id="{1CB790CB-E4F5-4B61-A03E-1CA0C32E3F17}"/>
              </a:ext>
            </a:extLst>
          </p:cNvPr>
          <p:cNvSpPr>
            <a:spLocks noGrp="1"/>
          </p:cNvSpPr>
          <p:nvPr>
            <p:ph type="body" sz="quarter" idx="14" hasCustomPrompt="1"/>
          </p:nvPr>
        </p:nvSpPr>
        <p:spPr>
          <a:xfrm>
            <a:off x="5104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2" name="Text Placeholder 4">
            <a:extLst>
              <a:ext uri="{FF2B5EF4-FFF2-40B4-BE49-F238E27FC236}">
                <a16:creationId xmlns:a16="http://schemas.microsoft.com/office/drawing/2014/main" id="{B570684C-B743-402E-8778-A65199577106}"/>
              </a:ext>
            </a:extLst>
          </p:cNvPr>
          <p:cNvSpPr>
            <a:spLocks noGrp="1"/>
          </p:cNvSpPr>
          <p:nvPr>
            <p:ph type="body" sz="quarter" idx="15" hasCustomPrompt="1"/>
          </p:nvPr>
        </p:nvSpPr>
        <p:spPr>
          <a:xfrm>
            <a:off x="29710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3" name="Text Placeholder 10">
            <a:extLst>
              <a:ext uri="{FF2B5EF4-FFF2-40B4-BE49-F238E27FC236}">
                <a16:creationId xmlns:a16="http://schemas.microsoft.com/office/drawing/2014/main" id="{FCEC7149-9A00-4CA4-B800-1BFD6EBEB88D}"/>
              </a:ext>
            </a:extLst>
          </p:cNvPr>
          <p:cNvSpPr>
            <a:spLocks noGrp="1"/>
          </p:cNvSpPr>
          <p:nvPr>
            <p:ph type="body" sz="quarter" idx="16" hasCustomPrompt="1"/>
          </p:nvPr>
        </p:nvSpPr>
        <p:spPr>
          <a:xfrm>
            <a:off x="27972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4" name="Text Placeholder 4">
            <a:extLst>
              <a:ext uri="{FF2B5EF4-FFF2-40B4-BE49-F238E27FC236}">
                <a16:creationId xmlns:a16="http://schemas.microsoft.com/office/drawing/2014/main" id="{0374F0E2-36BA-43B5-8799-77AA3367DF47}"/>
              </a:ext>
            </a:extLst>
          </p:cNvPr>
          <p:cNvSpPr>
            <a:spLocks noGrp="1"/>
          </p:cNvSpPr>
          <p:nvPr>
            <p:ph type="body" sz="quarter" idx="17" hasCustomPrompt="1"/>
          </p:nvPr>
        </p:nvSpPr>
        <p:spPr>
          <a:xfrm>
            <a:off x="5269707"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5" name="Text Placeholder 10">
            <a:extLst>
              <a:ext uri="{FF2B5EF4-FFF2-40B4-BE49-F238E27FC236}">
                <a16:creationId xmlns:a16="http://schemas.microsoft.com/office/drawing/2014/main" id="{1BA12174-6A24-4E61-8D58-B3B42C31BE1A}"/>
              </a:ext>
            </a:extLst>
          </p:cNvPr>
          <p:cNvSpPr>
            <a:spLocks noGrp="1"/>
          </p:cNvSpPr>
          <p:nvPr>
            <p:ph type="body" sz="quarter" idx="18" hasCustomPrompt="1"/>
          </p:nvPr>
        </p:nvSpPr>
        <p:spPr>
          <a:xfrm>
            <a:off x="5096056"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4">
            <a:extLst>
              <a:ext uri="{FF2B5EF4-FFF2-40B4-BE49-F238E27FC236}">
                <a16:creationId xmlns:a16="http://schemas.microsoft.com/office/drawing/2014/main" id="{D3A67B21-0E8B-4922-94F9-20492309C4DA}"/>
              </a:ext>
            </a:extLst>
          </p:cNvPr>
          <p:cNvSpPr>
            <a:spLocks noGrp="1"/>
          </p:cNvSpPr>
          <p:nvPr>
            <p:ph type="body" sz="quarter" idx="19" hasCustomPrompt="1"/>
          </p:nvPr>
        </p:nvSpPr>
        <p:spPr>
          <a:xfrm>
            <a:off x="7544613"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7" name="Text Placeholder 10">
            <a:extLst>
              <a:ext uri="{FF2B5EF4-FFF2-40B4-BE49-F238E27FC236}">
                <a16:creationId xmlns:a16="http://schemas.microsoft.com/office/drawing/2014/main" id="{D801C20C-82D2-465E-8D45-DF1A57E04525}"/>
              </a:ext>
            </a:extLst>
          </p:cNvPr>
          <p:cNvSpPr>
            <a:spLocks noGrp="1"/>
          </p:cNvSpPr>
          <p:nvPr>
            <p:ph type="body" sz="quarter" idx="20" hasCustomPrompt="1"/>
          </p:nvPr>
        </p:nvSpPr>
        <p:spPr>
          <a:xfrm>
            <a:off x="7370855"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4">
            <a:extLst>
              <a:ext uri="{FF2B5EF4-FFF2-40B4-BE49-F238E27FC236}">
                <a16:creationId xmlns:a16="http://schemas.microsoft.com/office/drawing/2014/main" id="{62BAD45E-2039-4F8D-9CFC-42BFA3756AD1}"/>
              </a:ext>
            </a:extLst>
          </p:cNvPr>
          <p:cNvSpPr>
            <a:spLocks noGrp="1"/>
          </p:cNvSpPr>
          <p:nvPr>
            <p:ph type="body" sz="quarter" idx="21" hasCustomPrompt="1"/>
          </p:nvPr>
        </p:nvSpPr>
        <p:spPr>
          <a:xfrm>
            <a:off x="9831412" y="3079573"/>
            <a:ext cx="1652587" cy="435600"/>
          </a:xfrm>
          <a:solidFill>
            <a:schemeClr val="tx2">
              <a:alpha val="70000"/>
            </a:schemeClr>
          </a:solidFill>
        </p:spPr>
        <p:txBody>
          <a:bodyPr anchor="ctr"/>
          <a:lstStyle>
            <a:lvl1pPr marL="0" indent="0" algn="ctr">
              <a:buNone/>
              <a:defRPr sz="2400" b="1" cap="all"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9" name="Text Placeholder 10">
            <a:extLst>
              <a:ext uri="{FF2B5EF4-FFF2-40B4-BE49-F238E27FC236}">
                <a16:creationId xmlns:a16="http://schemas.microsoft.com/office/drawing/2014/main" id="{64A78879-6338-4F3B-864E-8FF4E08C0066}"/>
              </a:ext>
            </a:extLst>
          </p:cNvPr>
          <p:cNvSpPr>
            <a:spLocks noGrp="1"/>
          </p:cNvSpPr>
          <p:nvPr>
            <p:ph type="body" sz="quarter" idx="22" hasCustomPrompt="1"/>
          </p:nvPr>
        </p:nvSpPr>
        <p:spPr>
          <a:xfrm>
            <a:off x="9657654" y="3799847"/>
            <a:ext cx="1999889" cy="846137"/>
          </a:xfrm>
        </p:spPr>
        <p:txBody>
          <a:bodyPr/>
          <a:lstStyle>
            <a:lvl1pPr marL="0" indent="0" algn="ctr">
              <a:buNone/>
              <a:defRPr>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Subtitle 2">
            <a:extLst>
              <a:ext uri="{FF2B5EF4-FFF2-40B4-BE49-F238E27FC236}">
                <a16:creationId xmlns:a16="http://schemas.microsoft.com/office/drawing/2014/main" id="{80118439-B306-4F20-9200-1C429EADC7EE}"/>
              </a:ext>
            </a:extLst>
          </p:cNvPr>
          <p:cNvSpPr>
            <a:spLocks noGrp="1"/>
          </p:cNvSpPr>
          <p:nvPr>
            <p:ph type="subTitle" idx="1" hasCustomPrompt="1"/>
          </p:nvPr>
        </p:nvSpPr>
        <p:spPr>
          <a:xfrm>
            <a:off x="5101000" y="5271502"/>
            <a:ext cx="1990001" cy="620016"/>
          </a:xfrm>
          <a:gradFill>
            <a:gsLst>
              <a:gs pos="0">
                <a:schemeClr val="tx2"/>
              </a:gs>
              <a:gs pos="100000">
                <a:schemeClr val="accent2"/>
              </a:gs>
            </a:gsLst>
            <a:lin ang="14400000" scaled="0"/>
          </a:gradFill>
        </p:spPr>
        <p:txBody>
          <a:bodyPr lIns="0" anchor="ctr"/>
          <a:lstStyle>
            <a:lvl1pPr marL="0" indent="0" algn="ctr">
              <a:buNone/>
              <a:defRPr sz="2400" b="1" i="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Outcome</a:t>
            </a:r>
          </a:p>
        </p:txBody>
      </p:sp>
      <p:sp>
        <p:nvSpPr>
          <p:cNvPr id="26" name="Picture Placeholder 25">
            <a:extLst>
              <a:ext uri="{FF2B5EF4-FFF2-40B4-BE49-F238E27FC236}">
                <a16:creationId xmlns:a16="http://schemas.microsoft.com/office/drawing/2014/main" id="{99B7E7F2-DF6B-4441-B0B1-7E87E29BA3A7}"/>
              </a:ext>
            </a:extLst>
          </p:cNvPr>
          <p:cNvSpPr>
            <a:spLocks noGrp="1"/>
          </p:cNvSpPr>
          <p:nvPr>
            <p:ph type="pic" sz="quarter" idx="23" hasCustomPrompt="1"/>
          </p:nvPr>
        </p:nvSpPr>
        <p:spPr>
          <a:xfrm>
            <a:off x="10985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7" name="Picture Placeholder 25">
            <a:extLst>
              <a:ext uri="{FF2B5EF4-FFF2-40B4-BE49-F238E27FC236}">
                <a16:creationId xmlns:a16="http://schemas.microsoft.com/office/drawing/2014/main" id="{ED41522A-FBAF-4E5D-B592-F13855964E8B}"/>
              </a:ext>
            </a:extLst>
          </p:cNvPr>
          <p:cNvSpPr>
            <a:spLocks noGrp="1"/>
          </p:cNvSpPr>
          <p:nvPr>
            <p:ph type="pic" sz="quarter" idx="24" hasCustomPrompt="1"/>
          </p:nvPr>
        </p:nvSpPr>
        <p:spPr>
          <a:xfrm>
            <a:off x="33853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8" name="Picture Placeholder 25">
            <a:extLst>
              <a:ext uri="{FF2B5EF4-FFF2-40B4-BE49-F238E27FC236}">
                <a16:creationId xmlns:a16="http://schemas.microsoft.com/office/drawing/2014/main" id="{AA51069C-E1DC-44A0-A6A0-2A4AB0DD4D70}"/>
              </a:ext>
            </a:extLst>
          </p:cNvPr>
          <p:cNvSpPr>
            <a:spLocks noGrp="1"/>
          </p:cNvSpPr>
          <p:nvPr>
            <p:ph type="pic" sz="quarter" idx="25" hasCustomPrompt="1"/>
          </p:nvPr>
        </p:nvSpPr>
        <p:spPr>
          <a:xfrm>
            <a:off x="5684044"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29" name="Picture Placeholder 25">
            <a:extLst>
              <a:ext uri="{FF2B5EF4-FFF2-40B4-BE49-F238E27FC236}">
                <a16:creationId xmlns:a16="http://schemas.microsoft.com/office/drawing/2014/main" id="{42F6437E-5478-451F-9BE3-E8160EA43516}"/>
              </a:ext>
            </a:extLst>
          </p:cNvPr>
          <p:cNvSpPr>
            <a:spLocks noGrp="1"/>
          </p:cNvSpPr>
          <p:nvPr>
            <p:ph type="pic" sz="quarter" idx="26" hasCustomPrompt="1"/>
          </p:nvPr>
        </p:nvSpPr>
        <p:spPr>
          <a:xfrm>
            <a:off x="7958950" y="2217585"/>
            <a:ext cx="823913" cy="823913"/>
          </a:xfrm>
        </p:spPr>
        <p:txBody>
          <a:bodyPr anchor="ctr"/>
          <a:lstStyle>
            <a:lvl1pPr marL="0" indent="0" algn="ctr">
              <a:buNone/>
              <a:defRPr sz="1050" i="1">
                <a:solidFill>
                  <a:schemeClr val="bg1"/>
                </a:solidFill>
              </a:defRPr>
            </a:lvl1pPr>
          </a:lstStyle>
          <a:p>
            <a:r>
              <a:rPr lang="en-US" dirty="0"/>
              <a:t>Icon</a:t>
            </a:r>
          </a:p>
        </p:txBody>
      </p:sp>
      <p:sp>
        <p:nvSpPr>
          <p:cNvPr id="30" name="Picture Placeholder 25">
            <a:extLst>
              <a:ext uri="{FF2B5EF4-FFF2-40B4-BE49-F238E27FC236}">
                <a16:creationId xmlns:a16="http://schemas.microsoft.com/office/drawing/2014/main" id="{25127DFD-53A7-41A8-B591-AEEC12038026}"/>
              </a:ext>
            </a:extLst>
          </p:cNvPr>
          <p:cNvSpPr>
            <a:spLocks noGrp="1"/>
          </p:cNvSpPr>
          <p:nvPr>
            <p:ph type="pic" sz="quarter" idx="27" hasCustomPrompt="1"/>
          </p:nvPr>
        </p:nvSpPr>
        <p:spPr>
          <a:xfrm>
            <a:off x="10245749" y="2217585"/>
            <a:ext cx="823913" cy="823913"/>
          </a:xfrm>
        </p:spPr>
        <p:txBody>
          <a:bodyPr anchor="ctr"/>
          <a:lstStyle>
            <a:lvl1pPr marL="0" indent="0" algn="ctr">
              <a:buNone/>
              <a:defRPr sz="1050" i="1">
                <a:solidFill>
                  <a:schemeClr val="bg1"/>
                </a:solidFill>
              </a:defRPr>
            </a:lvl1pPr>
          </a:lstStyle>
          <a:p>
            <a:r>
              <a:rPr lang="en-US" dirty="0"/>
              <a:t>Icon</a:t>
            </a:r>
          </a:p>
        </p:txBody>
      </p:sp>
    </p:spTree>
    <p:extLst>
      <p:ext uri="{BB962C8B-B14F-4D97-AF65-F5344CB8AC3E}">
        <p14:creationId xmlns:p14="http://schemas.microsoft.com/office/powerpoint/2010/main" val="389258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0 40 Vertical Spli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76D43D-0DDD-4BAD-8213-BDBF75C30A0C}"/>
              </a:ext>
              <a:ext uri="{C183D7F6-B498-43B3-948B-1728B52AA6E4}">
                <adec:decorative xmlns:adec="http://schemas.microsoft.com/office/drawing/2017/decorative" val="1"/>
              </a:ext>
            </a:extLst>
          </p:cNvPr>
          <p:cNvSpPr/>
          <p:nvPr userDrawn="1"/>
        </p:nvSpPr>
        <p:spPr>
          <a:xfrm>
            <a:off x="676118" y="4338116"/>
            <a:ext cx="1083976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Text Placeholder 3">
            <a:extLst>
              <a:ext uri="{FF2B5EF4-FFF2-40B4-BE49-F238E27FC236}">
                <a16:creationId xmlns:a16="http://schemas.microsoft.com/office/drawing/2014/main" id="{A6D3ACF3-E1F5-4332-9836-C8E6C46591BB}"/>
              </a:ext>
            </a:extLst>
          </p:cNvPr>
          <p:cNvSpPr txBox="1">
            <a:spLocks/>
          </p:cNvSpPr>
          <p:nvPr userDrawn="1"/>
        </p:nvSpPr>
        <p:spPr>
          <a:xfrm>
            <a:off x="0" y="-436"/>
            <a:ext cx="12192000" cy="43438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0BDF8FE7-66F4-4586-B49B-61E115ED291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6" name="Footer Placeholder 5">
            <a:extLst>
              <a:ext uri="{FF2B5EF4-FFF2-40B4-BE49-F238E27FC236}">
                <a16:creationId xmlns:a16="http://schemas.microsoft.com/office/drawing/2014/main" id="{AEB5B890-F885-418C-9812-59970CAC6BCD}"/>
              </a:ext>
            </a:extLst>
          </p:cNvPr>
          <p:cNvSpPr>
            <a:spLocks noGrp="1"/>
          </p:cNvSpPr>
          <p:nvPr>
            <p:ph type="ftr" sz="quarter" idx="10"/>
          </p:nvPr>
        </p:nvSpPr>
        <p:spPr/>
        <p:txBody>
          <a:bodyPr/>
          <a:lstStyle/>
          <a:p>
            <a:endParaRPr lang="en-US" noProof="0" dirty="0"/>
          </a:p>
        </p:txBody>
      </p:sp>
      <p:sp>
        <p:nvSpPr>
          <p:cNvPr id="7" name="Slide Number Placeholder 6">
            <a:extLst>
              <a:ext uri="{FF2B5EF4-FFF2-40B4-BE49-F238E27FC236}">
                <a16:creationId xmlns:a16="http://schemas.microsoft.com/office/drawing/2014/main" id="{50521507-88DE-417D-8076-D9152E1E1409}"/>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4" name="Text Placeholder 3">
            <a:extLst>
              <a:ext uri="{FF2B5EF4-FFF2-40B4-BE49-F238E27FC236}">
                <a16:creationId xmlns:a16="http://schemas.microsoft.com/office/drawing/2014/main" id="{1DFC7DDD-6F93-45F8-AFD6-95AA051FE809}"/>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1" name="Freeform: Shape 20">
            <a:extLst>
              <a:ext uri="{FF2B5EF4-FFF2-40B4-BE49-F238E27FC236}">
                <a16:creationId xmlns:a16="http://schemas.microsoft.com/office/drawing/2014/main" id="{D1CD6042-5DF4-4624-BC32-25F68745304A}"/>
              </a:ext>
            </a:extLst>
          </p:cNvPr>
          <p:cNvSpPr/>
          <p:nvPr userDrawn="1"/>
        </p:nvSpPr>
        <p:spPr>
          <a:xfrm rot="5400000">
            <a:off x="8220300" y="371700"/>
            <a:ext cx="4343400" cy="3600000"/>
          </a:xfrm>
          <a:custGeom>
            <a:avLst/>
            <a:gdLst>
              <a:gd name="connsiteX0" fmla="*/ 0 w 4343400"/>
              <a:gd name="connsiteY0" fmla="*/ 3600000 h 3600000"/>
              <a:gd name="connsiteX1" fmla="*/ 0 w 4343400"/>
              <a:gd name="connsiteY1" fmla="*/ 0 h 3600000"/>
              <a:gd name="connsiteX2" fmla="*/ 180000 w 4343400"/>
              <a:gd name="connsiteY2" fmla="*/ 0 h 3600000"/>
              <a:gd name="connsiteX3" fmla="*/ 4343400 w 4343400"/>
              <a:gd name="connsiteY3" fmla="*/ 0 h 3600000"/>
              <a:gd name="connsiteX4" fmla="*/ 4343400 w 4343400"/>
              <a:gd name="connsiteY4" fmla="*/ 180000 h 3600000"/>
              <a:gd name="connsiteX5" fmla="*/ 180000 w 4343400"/>
              <a:gd name="connsiteY5" fmla="*/ 180000 h 3600000"/>
              <a:gd name="connsiteX6" fmla="*/ 180000 w 43434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3400" h="3600000">
                <a:moveTo>
                  <a:pt x="0" y="3600000"/>
                </a:moveTo>
                <a:lnTo>
                  <a:pt x="0" y="0"/>
                </a:lnTo>
                <a:lnTo>
                  <a:pt x="180000" y="0"/>
                </a:lnTo>
                <a:lnTo>
                  <a:pt x="4343400" y="0"/>
                </a:lnTo>
                <a:lnTo>
                  <a:pt x="43434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9" name="Freeform: Shape 18">
            <a:extLst>
              <a:ext uri="{FF2B5EF4-FFF2-40B4-BE49-F238E27FC236}">
                <a16:creationId xmlns:a16="http://schemas.microsoft.com/office/drawing/2014/main" id="{6294759C-286C-4281-B194-581C766EEF28}"/>
              </a:ext>
            </a:extLst>
          </p:cNvPr>
          <p:cNvSpPr/>
          <p:nvPr userDrawn="1"/>
        </p:nvSpPr>
        <p:spPr>
          <a:xfrm rot="5400000">
            <a:off x="9134700" y="3800700"/>
            <a:ext cx="2514600" cy="3600000"/>
          </a:xfrm>
          <a:custGeom>
            <a:avLst/>
            <a:gdLst>
              <a:gd name="connsiteX0" fmla="*/ 0 w 2514600"/>
              <a:gd name="connsiteY0" fmla="*/ 180000 h 3600000"/>
              <a:gd name="connsiteX1" fmla="*/ 0 w 2514600"/>
              <a:gd name="connsiteY1" fmla="*/ 0 h 3600000"/>
              <a:gd name="connsiteX2" fmla="*/ 2334600 w 2514600"/>
              <a:gd name="connsiteY2" fmla="*/ 0 h 3600000"/>
              <a:gd name="connsiteX3" fmla="*/ 2514600 w 2514600"/>
              <a:gd name="connsiteY3" fmla="*/ 0 h 3600000"/>
              <a:gd name="connsiteX4" fmla="*/ 2514600 w 2514600"/>
              <a:gd name="connsiteY4" fmla="*/ 180000 h 3600000"/>
              <a:gd name="connsiteX5" fmla="*/ 2514600 w 2514600"/>
              <a:gd name="connsiteY5" fmla="*/ 3600000 h 3600000"/>
              <a:gd name="connsiteX6" fmla="*/ 2334600 w 2514600"/>
              <a:gd name="connsiteY6" fmla="*/ 3600000 h 3600000"/>
              <a:gd name="connsiteX7" fmla="*/ 2334600 w 25146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3600000">
                <a:moveTo>
                  <a:pt x="0" y="180000"/>
                </a:moveTo>
                <a:lnTo>
                  <a:pt x="0" y="0"/>
                </a:lnTo>
                <a:lnTo>
                  <a:pt x="2334600" y="0"/>
                </a:lnTo>
                <a:lnTo>
                  <a:pt x="2514600" y="0"/>
                </a:lnTo>
                <a:lnTo>
                  <a:pt x="2514600" y="180000"/>
                </a:lnTo>
                <a:lnTo>
                  <a:pt x="2514600" y="3600000"/>
                </a:lnTo>
                <a:lnTo>
                  <a:pt x="2334600" y="3600000"/>
                </a:lnTo>
                <a:lnTo>
                  <a:pt x="23346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57894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 x Content Block with Icon">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E6622698-E93D-4214-8C21-38DBE58C2E3F}"/>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22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9" name="Freeform: Shape 8">
            <a:extLst>
              <a:ext uri="{FF2B5EF4-FFF2-40B4-BE49-F238E27FC236}">
                <a16:creationId xmlns:a16="http://schemas.microsoft.com/office/drawing/2014/main" id="{1706BC54-FE11-4237-96CC-8DA267DB5D7C}"/>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47058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47058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31291"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31291"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592000" y="2186444"/>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592000" y="1775806"/>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9" name="Text Placeholder 4">
            <a:extLst>
              <a:ext uri="{FF2B5EF4-FFF2-40B4-BE49-F238E27FC236}">
                <a16:creationId xmlns:a16="http://schemas.microsoft.com/office/drawing/2014/main" id="{3E6D854C-C76F-49BA-9E74-F438CA8EA9E2}"/>
              </a:ext>
            </a:extLst>
          </p:cNvPr>
          <p:cNvSpPr>
            <a:spLocks noGrp="1"/>
          </p:cNvSpPr>
          <p:nvPr>
            <p:ph type="body" sz="quarter" idx="19" hasCustomPrompt="1"/>
          </p:nvPr>
        </p:nvSpPr>
        <p:spPr>
          <a:xfrm>
            <a:off x="147058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0" name="Text Placeholder 12">
            <a:extLst>
              <a:ext uri="{FF2B5EF4-FFF2-40B4-BE49-F238E27FC236}">
                <a16:creationId xmlns:a16="http://schemas.microsoft.com/office/drawing/2014/main" id="{AD447D7D-C1F4-4AD4-AE22-EB8E7F1C419E}"/>
              </a:ext>
            </a:extLst>
          </p:cNvPr>
          <p:cNvSpPr>
            <a:spLocks noGrp="1"/>
          </p:cNvSpPr>
          <p:nvPr>
            <p:ph type="body" sz="quarter" idx="20" hasCustomPrompt="1"/>
          </p:nvPr>
        </p:nvSpPr>
        <p:spPr>
          <a:xfrm>
            <a:off x="147058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1" name="Text Placeholder 4">
            <a:extLst>
              <a:ext uri="{FF2B5EF4-FFF2-40B4-BE49-F238E27FC236}">
                <a16:creationId xmlns:a16="http://schemas.microsoft.com/office/drawing/2014/main" id="{849DF703-38D0-4214-9432-83570E10EFED}"/>
              </a:ext>
            </a:extLst>
          </p:cNvPr>
          <p:cNvSpPr>
            <a:spLocks noGrp="1"/>
          </p:cNvSpPr>
          <p:nvPr>
            <p:ph type="body" sz="quarter" idx="21" hasCustomPrompt="1"/>
          </p:nvPr>
        </p:nvSpPr>
        <p:spPr>
          <a:xfrm>
            <a:off x="5031291"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Text Placeholder 12">
            <a:extLst>
              <a:ext uri="{FF2B5EF4-FFF2-40B4-BE49-F238E27FC236}">
                <a16:creationId xmlns:a16="http://schemas.microsoft.com/office/drawing/2014/main" id="{F9EB6572-1A9F-4672-8E42-A4E15451CA20}"/>
              </a:ext>
            </a:extLst>
          </p:cNvPr>
          <p:cNvSpPr>
            <a:spLocks noGrp="1"/>
          </p:cNvSpPr>
          <p:nvPr>
            <p:ph type="body" sz="quarter" idx="22" hasCustomPrompt="1"/>
          </p:nvPr>
        </p:nvSpPr>
        <p:spPr>
          <a:xfrm>
            <a:off x="5031291"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3" name="Text Placeholder 4">
            <a:extLst>
              <a:ext uri="{FF2B5EF4-FFF2-40B4-BE49-F238E27FC236}">
                <a16:creationId xmlns:a16="http://schemas.microsoft.com/office/drawing/2014/main" id="{0740EB70-455C-47FF-9A9A-0D78D202ED03}"/>
              </a:ext>
            </a:extLst>
          </p:cNvPr>
          <p:cNvSpPr>
            <a:spLocks noGrp="1"/>
          </p:cNvSpPr>
          <p:nvPr>
            <p:ph type="body" sz="quarter" idx="23" hasCustomPrompt="1"/>
          </p:nvPr>
        </p:nvSpPr>
        <p:spPr>
          <a:xfrm>
            <a:off x="8592000" y="4335857"/>
            <a:ext cx="2812282" cy="1242556"/>
          </a:xfrm>
        </p:spPr>
        <p:txBody>
          <a:bodyPr/>
          <a:lstStyle>
            <a:lvl1pPr marL="0" inden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4" name="Text Placeholder 12">
            <a:extLst>
              <a:ext uri="{FF2B5EF4-FFF2-40B4-BE49-F238E27FC236}">
                <a16:creationId xmlns:a16="http://schemas.microsoft.com/office/drawing/2014/main" id="{CD9A5773-4F50-4631-9B7A-0A2D83E5DC28}"/>
              </a:ext>
            </a:extLst>
          </p:cNvPr>
          <p:cNvSpPr>
            <a:spLocks noGrp="1"/>
          </p:cNvSpPr>
          <p:nvPr>
            <p:ph type="body" sz="quarter" idx="24" hasCustomPrompt="1"/>
          </p:nvPr>
        </p:nvSpPr>
        <p:spPr>
          <a:xfrm>
            <a:off x="8592000" y="3925219"/>
            <a:ext cx="2812282" cy="297888"/>
          </a:xfrm>
        </p:spPr>
        <p:txBody>
          <a:bodyP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Tree>
    <p:extLst>
      <p:ext uri="{BB962C8B-B14F-4D97-AF65-F5344CB8AC3E}">
        <p14:creationId xmlns:p14="http://schemas.microsoft.com/office/powerpoint/2010/main" val="3875987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 x Content Block with Ic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45350A6A-6F84-47F4-AE00-8295D96D08C8}"/>
              </a:ext>
            </a:extLst>
          </p:cNvPr>
          <p:cNvSpPr/>
          <p:nvPr userDrawn="1"/>
        </p:nvSpPr>
        <p:spPr>
          <a:xfrm rot="5400000">
            <a:off x="8677500" y="3343500"/>
            <a:ext cx="3429000" cy="3600000"/>
          </a:xfrm>
          <a:custGeom>
            <a:avLst/>
            <a:gdLst>
              <a:gd name="connsiteX0" fmla="*/ 0 w 3429000"/>
              <a:gd name="connsiteY0" fmla="*/ 180000 h 3600000"/>
              <a:gd name="connsiteX1" fmla="*/ 0 w 3429000"/>
              <a:gd name="connsiteY1" fmla="*/ 0 h 3600000"/>
              <a:gd name="connsiteX2" fmla="*/ 3249000 w 3429000"/>
              <a:gd name="connsiteY2" fmla="*/ 0 h 3600000"/>
              <a:gd name="connsiteX3" fmla="*/ 3429000 w 3429000"/>
              <a:gd name="connsiteY3" fmla="*/ 0 h 3600000"/>
              <a:gd name="connsiteX4" fmla="*/ 3429000 w 3429000"/>
              <a:gd name="connsiteY4" fmla="*/ 180000 h 3600000"/>
              <a:gd name="connsiteX5" fmla="*/ 3429000 w 3429000"/>
              <a:gd name="connsiteY5" fmla="*/ 3600000 h 3600000"/>
              <a:gd name="connsiteX6" fmla="*/ 3249000 w 3429000"/>
              <a:gd name="connsiteY6" fmla="*/ 3600000 h 3600000"/>
              <a:gd name="connsiteX7" fmla="*/ 3249000 w 34290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0" h="3600000">
                <a:moveTo>
                  <a:pt x="0" y="180000"/>
                </a:moveTo>
                <a:lnTo>
                  <a:pt x="0" y="0"/>
                </a:lnTo>
                <a:lnTo>
                  <a:pt x="3249000" y="0"/>
                </a:lnTo>
                <a:lnTo>
                  <a:pt x="3429000" y="0"/>
                </a:lnTo>
                <a:lnTo>
                  <a:pt x="3429000" y="180000"/>
                </a:lnTo>
                <a:lnTo>
                  <a:pt x="3429000" y="3600000"/>
                </a:lnTo>
                <a:lnTo>
                  <a:pt x="3249000" y="3600000"/>
                </a:lnTo>
                <a:lnTo>
                  <a:pt x="32490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3429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682863"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682863"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4445432"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4445432"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208000"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208000" y="3068555"/>
            <a:ext cx="3276000" cy="360445"/>
          </a:xfrm>
          <a:solidFill>
            <a:schemeClr val="tx2"/>
          </a:solidFill>
        </p:spPr>
        <p:txBody>
          <a:bodyPr lIns="108000" anchor="ctr"/>
          <a:lstStyle>
            <a:lvl1pPr marL="0" indent="0">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908907"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71476"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434044" y="2005142"/>
            <a:ext cx="823913" cy="823913"/>
          </a:xfrm>
        </p:spPr>
        <p:txBody>
          <a:bodyPr anchor="ctr"/>
          <a:lstStyle>
            <a:lvl1pPr marL="0" indent="0" algn="ctr">
              <a:buNone/>
              <a:defRPr sz="1050" i="1">
                <a:solidFill>
                  <a:schemeClr val="bg1"/>
                </a:solidFill>
              </a:defRPr>
            </a:lvl1pPr>
          </a:lstStyle>
          <a:p>
            <a:r>
              <a:rPr lang="en-US" noProof="0" dirty="0"/>
              <a:t>Icon</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26" name="Freeform: Shape 25">
            <a:extLst>
              <a:ext uri="{FF2B5EF4-FFF2-40B4-BE49-F238E27FC236}">
                <a16:creationId xmlns:a16="http://schemas.microsoft.com/office/drawing/2014/main" id="{AEA98CFA-B2A7-4BCC-B1DC-01CFAD2DD65E}"/>
              </a:ext>
            </a:extLst>
          </p:cNvPr>
          <p:cNvSpPr/>
          <p:nvPr userDrawn="1"/>
        </p:nvSpPr>
        <p:spPr>
          <a:xfrm rot="5400000">
            <a:off x="8677500" y="-85500"/>
            <a:ext cx="3429000" cy="3600000"/>
          </a:xfrm>
          <a:custGeom>
            <a:avLst/>
            <a:gdLst>
              <a:gd name="connsiteX0" fmla="*/ 0 w 3429000"/>
              <a:gd name="connsiteY0" fmla="*/ 3600000 h 3600000"/>
              <a:gd name="connsiteX1" fmla="*/ 0 w 3429000"/>
              <a:gd name="connsiteY1" fmla="*/ 0 h 3600000"/>
              <a:gd name="connsiteX2" fmla="*/ 180000 w 3429000"/>
              <a:gd name="connsiteY2" fmla="*/ 0 h 3600000"/>
              <a:gd name="connsiteX3" fmla="*/ 3429000 w 3429000"/>
              <a:gd name="connsiteY3" fmla="*/ 0 h 3600000"/>
              <a:gd name="connsiteX4" fmla="*/ 3429000 w 3429000"/>
              <a:gd name="connsiteY4" fmla="*/ 180000 h 3600000"/>
              <a:gd name="connsiteX5" fmla="*/ 180000 w 3429000"/>
              <a:gd name="connsiteY5" fmla="*/ 180000 h 3600000"/>
              <a:gd name="connsiteX6" fmla="*/ 180000 w 34290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00" h="3600000">
                <a:moveTo>
                  <a:pt x="0" y="3600000"/>
                </a:moveTo>
                <a:lnTo>
                  <a:pt x="0" y="0"/>
                </a:lnTo>
                <a:lnTo>
                  <a:pt x="180000" y="0"/>
                </a:lnTo>
                <a:lnTo>
                  <a:pt x="3429000" y="0"/>
                </a:lnTo>
                <a:lnTo>
                  <a:pt x="34290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214259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Only - Dark">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E752CBEE-7696-40FC-AB0E-8790B179D18C}"/>
              </a:ext>
            </a:extLst>
          </p:cNvPr>
          <p:cNvSpPr/>
          <p:nvPr userDrawn="1"/>
        </p:nvSpPr>
        <p:spPr>
          <a:xfrm rot="5400000">
            <a:off x="8188485" y="2854485"/>
            <a:ext cx="4407031" cy="3600000"/>
          </a:xfrm>
          <a:custGeom>
            <a:avLst/>
            <a:gdLst>
              <a:gd name="connsiteX0" fmla="*/ 0 w 4407031"/>
              <a:gd name="connsiteY0" fmla="*/ 180000 h 3600000"/>
              <a:gd name="connsiteX1" fmla="*/ 0 w 4407031"/>
              <a:gd name="connsiteY1" fmla="*/ 0 h 3600000"/>
              <a:gd name="connsiteX2" fmla="*/ 4227031 w 4407031"/>
              <a:gd name="connsiteY2" fmla="*/ 0 h 3600000"/>
              <a:gd name="connsiteX3" fmla="*/ 4407031 w 4407031"/>
              <a:gd name="connsiteY3" fmla="*/ 0 h 3600000"/>
              <a:gd name="connsiteX4" fmla="*/ 4407031 w 4407031"/>
              <a:gd name="connsiteY4" fmla="*/ 180000 h 3600000"/>
              <a:gd name="connsiteX5" fmla="*/ 4407031 w 4407031"/>
              <a:gd name="connsiteY5" fmla="*/ 3600000 h 3600000"/>
              <a:gd name="connsiteX6" fmla="*/ 4227031 w 4407031"/>
              <a:gd name="connsiteY6" fmla="*/ 3600000 h 3600000"/>
              <a:gd name="connsiteX7" fmla="*/ 4227031 w 4407031"/>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7031" h="3600000">
                <a:moveTo>
                  <a:pt x="0" y="180000"/>
                </a:moveTo>
                <a:lnTo>
                  <a:pt x="0" y="0"/>
                </a:lnTo>
                <a:lnTo>
                  <a:pt x="4227031" y="0"/>
                </a:lnTo>
                <a:lnTo>
                  <a:pt x="4407031" y="0"/>
                </a:lnTo>
                <a:lnTo>
                  <a:pt x="4407031" y="180000"/>
                </a:lnTo>
                <a:lnTo>
                  <a:pt x="4407031" y="3600000"/>
                </a:lnTo>
                <a:lnTo>
                  <a:pt x="4227031" y="3600000"/>
                </a:lnTo>
                <a:lnTo>
                  <a:pt x="4227031"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2451405"/>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p:spPr>
        <p:txBody>
          <a:bodyPr/>
          <a:lstStyle>
            <a:lvl1pPr>
              <a:defRPr>
                <a:solidFill>
                  <a:schemeClr val="bg1"/>
                </a:solidFill>
              </a:defRPr>
            </a:lvl1pPr>
          </a:lstStyle>
          <a:p>
            <a:r>
              <a:rPr lang="en-US" noProof="0"/>
              <a:t>Click to edit Master title style</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noProof="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26" name="Freeform: Shape 25">
            <a:extLst>
              <a:ext uri="{FF2B5EF4-FFF2-40B4-BE49-F238E27FC236}">
                <a16:creationId xmlns:a16="http://schemas.microsoft.com/office/drawing/2014/main" id="{89445125-53D2-43B3-8ABC-C88E463BE7DD}"/>
              </a:ext>
            </a:extLst>
          </p:cNvPr>
          <p:cNvSpPr/>
          <p:nvPr userDrawn="1"/>
        </p:nvSpPr>
        <p:spPr>
          <a:xfrm rot="5400000">
            <a:off x="9166516" y="-574515"/>
            <a:ext cx="2450969" cy="3600000"/>
          </a:xfrm>
          <a:custGeom>
            <a:avLst/>
            <a:gdLst>
              <a:gd name="connsiteX0" fmla="*/ 0 w 2450969"/>
              <a:gd name="connsiteY0" fmla="*/ 3600000 h 3600000"/>
              <a:gd name="connsiteX1" fmla="*/ 0 w 2450969"/>
              <a:gd name="connsiteY1" fmla="*/ 0 h 3600000"/>
              <a:gd name="connsiteX2" fmla="*/ 180000 w 2450969"/>
              <a:gd name="connsiteY2" fmla="*/ 0 h 3600000"/>
              <a:gd name="connsiteX3" fmla="*/ 2450969 w 2450969"/>
              <a:gd name="connsiteY3" fmla="*/ 0 h 3600000"/>
              <a:gd name="connsiteX4" fmla="*/ 2450969 w 2450969"/>
              <a:gd name="connsiteY4" fmla="*/ 180000 h 3600000"/>
              <a:gd name="connsiteX5" fmla="*/ 180000 w 2450969"/>
              <a:gd name="connsiteY5" fmla="*/ 180000 h 3600000"/>
              <a:gd name="connsiteX6" fmla="*/ 180000 w 2450969"/>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969" h="3600000">
                <a:moveTo>
                  <a:pt x="0" y="3600000"/>
                </a:moveTo>
                <a:lnTo>
                  <a:pt x="0" y="0"/>
                </a:lnTo>
                <a:lnTo>
                  <a:pt x="180000" y="0"/>
                </a:lnTo>
                <a:lnTo>
                  <a:pt x="2450969" y="0"/>
                </a:lnTo>
                <a:lnTo>
                  <a:pt x="2450969"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9759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Only - Full Photo">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p:spPr>
        <p:txBody>
          <a:bodyPr/>
          <a:lstStyle>
            <a:lvl1pPr>
              <a:defRPr cap="all" baseline="0">
                <a:solidFill>
                  <a:schemeClr val="bg1"/>
                </a:solidFill>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3">
            <a:extLst>
              <a:ext uri="{FF2B5EF4-FFF2-40B4-BE49-F238E27FC236}">
                <a16:creationId xmlns:a16="http://schemas.microsoft.com/office/drawing/2014/main" id="{0A18EF7D-14D0-4362-B8BD-722D3D54D429}"/>
              </a:ext>
            </a:extLst>
          </p:cNvPr>
          <p:cNvSpPr>
            <a:spLocks noGrp="1"/>
          </p:cNvSpPr>
          <p:nvPr>
            <p:ph type="body" sz="quarter" idx="13" hasCustomPrompt="1"/>
          </p:nvPr>
        </p:nvSpPr>
        <p:spPr>
          <a:xfrm>
            <a:off x="684213" y="1405643"/>
            <a:ext cx="7559675" cy="360000"/>
          </a:xfrm>
        </p:spPr>
        <p:txBody>
          <a:bodyPr/>
          <a:lstStyle>
            <a:lvl1pPr marL="0" indent="0">
              <a:buNone/>
              <a:defRPr sz="2200">
                <a:solidFill>
                  <a:schemeClr val="bg1"/>
                </a:solidFill>
                <a:latin typeface="+mj-lt"/>
              </a:defRPr>
            </a:lvl1pPr>
          </a:lstStyle>
          <a:p>
            <a:pPr lvl="0"/>
            <a:r>
              <a:rPr lang="en-US" dirty="0"/>
              <a:t>SUBTITLE</a:t>
            </a:r>
          </a:p>
        </p:txBody>
      </p:sp>
    </p:spTree>
    <p:extLst>
      <p:ext uri="{BB962C8B-B14F-4D97-AF65-F5344CB8AC3E}">
        <p14:creationId xmlns:p14="http://schemas.microsoft.com/office/powerpoint/2010/main" val="2039369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Only - Ligh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7FF01B-795B-4F5D-87AF-6CAA8DD5D48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3" name="Title 2">
            <a:extLst>
              <a:ext uri="{FF2B5EF4-FFF2-40B4-BE49-F238E27FC236}">
                <a16:creationId xmlns:a16="http://schemas.microsoft.com/office/drawing/2014/main" id="{72F32FC1-1FF6-4874-9835-EB1A90F7E9F5}"/>
              </a:ext>
            </a:extLst>
          </p:cNvPr>
          <p:cNvSpPr>
            <a:spLocks noGrp="1"/>
          </p:cNvSpPr>
          <p:nvPr>
            <p:ph type="title"/>
          </p:nvPr>
        </p:nvSpPr>
        <p:spPr/>
        <p:txBody>
          <a:bodyPr/>
          <a:lstStyle/>
          <a:p>
            <a:r>
              <a:rPr lang="en-US"/>
              <a:t>Click to edit Master title style</a:t>
            </a:r>
          </a:p>
        </p:txBody>
      </p:sp>
      <p:sp>
        <p:nvSpPr>
          <p:cNvPr id="10" name="Freeform: Shape 9">
            <a:extLst>
              <a:ext uri="{FF2B5EF4-FFF2-40B4-BE49-F238E27FC236}">
                <a16:creationId xmlns:a16="http://schemas.microsoft.com/office/drawing/2014/main" id="{83039E70-36A3-46C1-B30E-CA4CC0B36C5D}"/>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7738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6858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p>
        </p:txBody>
      </p:sp>
      <p:sp>
        <p:nvSpPr>
          <p:cNvPr id="19" name="Freeform: Shape 18">
            <a:extLst>
              <a:ext uri="{FF2B5EF4-FFF2-40B4-BE49-F238E27FC236}">
                <a16:creationId xmlns:a16="http://schemas.microsoft.com/office/drawing/2014/main" id="{78907576-77BD-4FD0-A9FE-48D249CB435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noProof="0"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noProof="0" smtClean="0"/>
              <a:pPr/>
              <a:t>‹#›</a:t>
            </a:fld>
            <a:endParaRPr lang="en-US" noProof="0"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303794"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303794"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66363"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66363"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828931"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828931" y="3005055"/>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867711"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30280"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392848" y="1648853"/>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22" name="Text Placeholder 4">
            <a:extLst>
              <a:ext uri="{FF2B5EF4-FFF2-40B4-BE49-F238E27FC236}">
                <a16:creationId xmlns:a16="http://schemas.microsoft.com/office/drawing/2014/main" id="{FE407FE5-15DF-40F7-B14C-0A04CC30CD66}"/>
              </a:ext>
            </a:extLst>
          </p:cNvPr>
          <p:cNvSpPr>
            <a:spLocks noGrp="1"/>
          </p:cNvSpPr>
          <p:nvPr>
            <p:ph type="body" sz="quarter" idx="26" hasCustomPrompt="1"/>
          </p:nvPr>
        </p:nvSpPr>
        <p:spPr>
          <a:xfrm>
            <a:off x="1303794"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3" name="Text Placeholder 12">
            <a:extLst>
              <a:ext uri="{FF2B5EF4-FFF2-40B4-BE49-F238E27FC236}">
                <a16:creationId xmlns:a16="http://schemas.microsoft.com/office/drawing/2014/main" id="{7DD73F77-2E6A-450D-B4AF-8643D8AE1ECE}"/>
              </a:ext>
            </a:extLst>
          </p:cNvPr>
          <p:cNvSpPr>
            <a:spLocks noGrp="1"/>
          </p:cNvSpPr>
          <p:nvPr>
            <p:ph type="body" sz="quarter" idx="27" hasCustomPrompt="1"/>
          </p:nvPr>
        </p:nvSpPr>
        <p:spPr>
          <a:xfrm>
            <a:off x="1303794"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4" name="Text Placeholder 4">
            <a:extLst>
              <a:ext uri="{FF2B5EF4-FFF2-40B4-BE49-F238E27FC236}">
                <a16:creationId xmlns:a16="http://schemas.microsoft.com/office/drawing/2014/main" id="{7F1CAED2-2A78-4780-A303-060C24C56526}"/>
              </a:ext>
            </a:extLst>
          </p:cNvPr>
          <p:cNvSpPr>
            <a:spLocks noGrp="1"/>
          </p:cNvSpPr>
          <p:nvPr>
            <p:ph type="body" sz="quarter" idx="28" hasCustomPrompt="1"/>
          </p:nvPr>
        </p:nvSpPr>
        <p:spPr>
          <a:xfrm>
            <a:off x="5066363"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7" name="Text Placeholder 12">
            <a:extLst>
              <a:ext uri="{FF2B5EF4-FFF2-40B4-BE49-F238E27FC236}">
                <a16:creationId xmlns:a16="http://schemas.microsoft.com/office/drawing/2014/main" id="{4E77CA0B-49F8-4EE9-84A7-AB28FD1CC1ED}"/>
              </a:ext>
            </a:extLst>
          </p:cNvPr>
          <p:cNvSpPr>
            <a:spLocks noGrp="1"/>
          </p:cNvSpPr>
          <p:nvPr>
            <p:ph type="body" sz="quarter" idx="29" hasCustomPrompt="1"/>
          </p:nvPr>
        </p:nvSpPr>
        <p:spPr>
          <a:xfrm>
            <a:off x="5066363"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8" name="Text Placeholder 4">
            <a:extLst>
              <a:ext uri="{FF2B5EF4-FFF2-40B4-BE49-F238E27FC236}">
                <a16:creationId xmlns:a16="http://schemas.microsoft.com/office/drawing/2014/main" id="{5D4F2294-CE3A-4705-BCB3-C5DAFA373C25}"/>
              </a:ext>
            </a:extLst>
          </p:cNvPr>
          <p:cNvSpPr>
            <a:spLocks noGrp="1"/>
          </p:cNvSpPr>
          <p:nvPr>
            <p:ph type="body" sz="quarter" idx="30" hasCustomPrompt="1"/>
          </p:nvPr>
        </p:nvSpPr>
        <p:spPr>
          <a:xfrm>
            <a:off x="8828931"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32" name="Text Placeholder 12">
            <a:extLst>
              <a:ext uri="{FF2B5EF4-FFF2-40B4-BE49-F238E27FC236}">
                <a16:creationId xmlns:a16="http://schemas.microsoft.com/office/drawing/2014/main" id="{7B49F9AF-7698-444D-8D12-FA0B6A713E03}"/>
              </a:ext>
            </a:extLst>
          </p:cNvPr>
          <p:cNvSpPr>
            <a:spLocks noGrp="1"/>
          </p:cNvSpPr>
          <p:nvPr>
            <p:ph type="body" sz="quarter" idx="31" hasCustomPrompt="1"/>
          </p:nvPr>
        </p:nvSpPr>
        <p:spPr>
          <a:xfrm>
            <a:off x="8828931" y="5334150"/>
            <a:ext cx="2034138" cy="360445"/>
          </a:xfrm>
          <a:solidFill>
            <a:schemeClr val="tx2"/>
          </a:solidFill>
        </p:spPr>
        <p:txBody>
          <a:bodyPr lIns="0" anchor="ctr"/>
          <a:lstStyle>
            <a:lvl1pPr marL="0" indent="0" algn="ctr">
              <a:buNone/>
              <a:defRPr sz="1800" b="0" cap="none" baseline="0">
                <a:solidFill>
                  <a:schemeClr val="accent1"/>
                </a:solidFill>
                <a:latin typeface="+mj-lt"/>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33" name="Picture Placeholder 25">
            <a:extLst>
              <a:ext uri="{FF2B5EF4-FFF2-40B4-BE49-F238E27FC236}">
                <a16:creationId xmlns:a16="http://schemas.microsoft.com/office/drawing/2014/main" id="{6057C2E9-1501-4819-B77D-23A0268DB0F1}"/>
              </a:ext>
            </a:extLst>
          </p:cNvPr>
          <p:cNvSpPr>
            <a:spLocks noGrp="1"/>
          </p:cNvSpPr>
          <p:nvPr>
            <p:ph type="pic" sz="quarter" idx="32" hasCustomPrompt="1"/>
          </p:nvPr>
        </p:nvSpPr>
        <p:spPr>
          <a:xfrm>
            <a:off x="1867711"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4" name="Picture Placeholder 25">
            <a:extLst>
              <a:ext uri="{FF2B5EF4-FFF2-40B4-BE49-F238E27FC236}">
                <a16:creationId xmlns:a16="http://schemas.microsoft.com/office/drawing/2014/main" id="{C77B8544-1CEE-4ED4-89E8-ED042673804D}"/>
              </a:ext>
            </a:extLst>
          </p:cNvPr>
          <p:cNvSpPr>
            <a:spLocks noGrp="1"/>
          </p:cNvSpPr>
          <p:nvPr>
            <p:ph type="pic" sz="quarter" idx="33" hasCustomPrompt="1"/>
          </p:nvPr>
        </p:nvSpPr>
        <p:spPr>
          <a:xfrm>
            <a:off x="5630280"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5" name="Picture Placeholder 25">
            <a:extLst>
              <a:ext uri="{FF2B5EF4-FFF2-40B4-BE49-F238E27FC236}">
                <a16:creationId xmlns:a16="http://schemas.microsoft.com/office/drawing/2014/main" id="{E1131D92-0382-469E-A358-A2EC5FDCCF32}"/>
              </a:ext>
            </a:extLst>
          </p:cNvPr>
          <p:cNvSpPr>
            <a:spLocks noGrp="1"/>
          </p:cNvSpPr>
          <p:nvPr>
            <p:ph type="pic" sz="quarter" idx="34" hasCustomPrompt="1"/>
          </p:nvPr>
        </p:nvSpPr>
        <p:spPr>
          <a:xfrm>
            <a:off x="9392848" y="3977948"/>
            <a:ext cx="906304" cy="1206290"/>
          </a:xfrm>
        </p:spPr>
        <p:txBody>
          <a:bodyPr anchor="ctr"/>
          <a:lstStyle>
            <a:lvl1pPr marL="0" indent="0" algn="ctr">
              <a:buNone/>
              <a:defRPr sz="1050" i="1">
                <a:solidFill>
                  <a:schemeClr val="bg1"/>
                </a:solidFill>
              </a:defRPr>
            </a:lvl1pPr>
          </a:lstStyle>
          <a:p>
            <a:r>
              <a:rPr lang="en-US" noProof="0" dirty="0"/>
              <a:t>Icon</a:t>
            </a:r>
          </a:p>
        </p:txBody>
      </p:sp>
      <p:sp>
        <p:nvSpPr>
          <p:cNvPr id="3" name="Title 2">
            <a:extLst>
              <a:ext uri="{FF2B5EF4-FFF2-40B4-BE49-F238E27FC236}">
                <a16:creationId xmlns:a16="http://schemas.microsoft.com/office/drawing/2014/main" id="{7C0EBF36-B9CA-4962-B198-27B56B54E58C}"/>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39219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sted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hasCustomPrompt="1"/>
          </p:nvPr>
        </p:nvSpPr>
        <p:spPr>
          <a:xfrm>
            <a:off x="2095500" y="1992933"/>
            <a:ext cx="9388499" cy="1095375"/>
          </a:xfrm>
        </p:spPr>
        <p:txBody>
          <a:bodyPr/>
          <a:lstStyle>
            <a:lvl1pPr marL="0" indent="0">
              <a:buNone/>
              <a:defRPr/>
            </a:lvl1pPr>
          </a:lstStyle>
          <a:p>
            <a:pPr lvl="0"/>
            <a:r>
              <a:rPr lang="en-US" dirty="0"/>
              <a:t>Description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
        <p:nvSpPr>
          <p:cNvPr id="11" name="Picture Placeholder 10">
            <a:extLst>
              <a:ext uri="{FF2B5EF4-FFF2-40B4-BE49-F238E27FC236}">
                <a16:creationId xmlns:a16="http://schemas.microsoft.com/office/drawing/2014/main" id="{A98EA298-DD21-4B69-8125-094245EDF713}"/>
              </a:ext>
            </a:extLst>
          </p:cNvPr>
          <p:cNvSpPr>
            <a:spLocks noGrp="1"/>
          </p:cNvSpPr>
          <p:nvPr>
            <p:ph type="pic" sz="quarter" idx="13" hasCustomPrompt="1"/>
          </p:nvPr>
        </p:nvSpPr>
        <p:spPr>
          <a:xfrm>
            <a:off x="684213" y="19929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2" name="Picture Placeholder 10">
            <a:extLst>
              <a:ext uri="{FF2B5EF4-FFF2-40B4-BE49-F238E27FC236}">
                <a16:creationId xmlns:a16="http://schemas.microsoft.com/office/drawing/2014/main" id="{4C93EFCC-1E62-4200-9E96-2476EE2581BF}"/>
              </a:ext>
            </a:extLst>
          </p:cNvPr>
          <p:cNvSpPr>
            <a:spLocks noGrp="1"/>
          </p:cNvSpPr>
          <p:nvPr>
            <p:ph type="pic" sz="quarter" idx="14" hasCustomPrompt="1"/>
          </p:nvPr>
        </p:nvSpPr>
        <p:spPr>
          <a:xfrm>
            <a:off x="684213" y="34311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3" name="Picture Placeholder 10">
            <a:extLst>
              <a:ext uri="{FF2B5EF4-FFF2-40B4-BE49-F238E27FC236}">
                <a16:creationId xmlns:a16="http://schemas.microsoft.com/office/drawing/2014/main" id="{8741D874-BD81-4469-AA1C-32517FD7C37B}"/>
              </a:ext>
            </a:extLst>
          </p:cNvPr>
          <p:cNvSpPr>
            <a:spLocks noGrp="1"/>
          </p:cNvSpPr>
          <p:nvPr>
            <p:ph type="pic" sz="quarter" idx="15" hasCustomPrompt="1"/>
          </p:nvPr>
        </p:nvSpPr>
        <p:spPr>
          <a:xfrm>
            <a:off x="684213" y="4869334"/>
            <a:ext cx="1095375" cy="1095375"/>
          </a:xfrm>
        </p:spPr>
        <p:txBody>
          <a:bodyPr anchor="ctr"/>
          <a:lstStyle>
            <a:lvl1pPr marL="0" indent="0" algn="ctr">
              <a:buNone/>
              <a:defRPr sz="1050" i="1"/>
            </a:lvl1pPr>
          </a:lstStyle>
          <a:p>
            <a:r>
              <a:rPr lang="en-US" dirty="0"/>
              <a:t>Place</a:t>
            </a:r>
            <a:br>
              <a:rPr lang="en-US" dirty="0"/>
            </a:br>
            <a:r>
              <a:rPr lang="en-US" dirty="0"/>
              <a:t>Your Image / Logo Here</a:t>
            </a:r>
          </a:p>
        </p:txBody>
      </p:sp>
      <p:sp>
        <p:nvSpPr>
          <p:cNvPr id="14" name="Content Placeholder 2">
            <a:extLst>
              <a:ext uri="{FF2B5EF4-FFF2-40B4-BE49-F238E27FC236}">
                <a16:creationId xmlns:a16="http://schemas.microsoft.com/office/drawing/2014/main" id="{CFB0B599-DDEF-43E9-A07F-FC328C595BCE}"/>
              </a:ext>
            </a:extLst>
          </p:cNvPr>
          <p:cNvSpPr>
            <a:spLocks noGrp="1"/>
          </p:cNvSpPr>
          <p:nvPr>
            <p:ph idx="16" hasCustomPrompt="1"/>
          </p:nvPr>
        </p:nvSpPr>
        <p:spPr>
          <a:xfrm>
            <a:off x="2095500" y="3422739"/>
            <a:ext cx="9388499" cy="1095375"/>
          </a:xfrm>
        </p:spPr>
        <p:txBody>
          <a:bodyPr/>
          <a:lstStyle>
            <a:lvl1pPr marL="0" indent="0">
              <a:buNone/>
              <a:defRPr/>
            </a:lvl1pPr>
          </a:lstStyle>
          <a:p>
            <a:pPr lvl="0"/>
            <a:r>
              <a:rPr lang="en-US" dirty="0"/>
              <a:t>Description Here</a:t>
            </a:r>
          </a:p>
        </p:txBody>
      </p:sp>
      <p:sp>
        <p:nvSpPr>
          <p:cNvPr id="15" name="Content Placeholder 2">
            <a:extLst>
              <a:ext uri="{FF2B5EF4-FFF2-40B4-BE49-F238E27FC236}">
                <a16:creationId xmlns:a16="http://schemas.microsoft.com/office/drawing/2014/main" id="{63FF0857-6431-48DC-BE82-9A93C55CEFB4}"/>
              </a:ext>
            </a:extLst>
          </p:cNvPr>
          <p:cNvSpPr>
            <a:spLocks noGrp="1"/>
          </p:cNvSpPr>
          <p:nvPr>
            <p:ph idx="17" hasCustomPrompt="1"/>
          </p:nvPr>
        </p:nvSpPr>
        <p:spPr>
          <a:xfrm>
            <a:off x="2095500" y="4867850"/>
            <a:ext cx="9388499" cy="1095375"/>
          </a:xfrm>
        </p:spPr>
        <p:txBody>
          <a:bodyPr/>
          <a:lstStyle>
            <a:lvl1pPr marL="0" indent="0">
              <a:buNone/>
              <a:defRPr/>
            </a:lvl1pPr>
          </a:lstStyle>
          <a:p>
            <a:pPr lvl="0"/>
            <a:r>
              <a:rPr lang="en-US" dirty="0"/>
              <a:t>Description Here</a:t>
            </a:r>
          </a:p>
        </p:txBody>
      </p:sp>
    </p:spTree>
    <p:extLst>
      <p:ext uri="{BB962C8B-B14F-4D97-AF65-F5344CB8AC3E}">
        <p14:creationId xmlns:p14="http://schemas.microsoft.com/office/powerpoint/2010/main" val="211947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3">
            <a:extLst>
              <a:ext uri="{FF2B5EF4-FFF2-40B4-BE49-F238E27FC236}">
                <a16:creationId xmlns:a16="http://schemas.microsoft.com/office/drawing/2014/main" id="{4FA555C0-B108-4047-8AFF-82E05F073446}"/>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tx1"/>
                </a:solidFill>
                <a:latin typeface="+mj-lt"/>
              </a:defRPr>
            </a:lvl1pPr>
          </a:lstStyle>
          <a:p>
            <a:pPr lvl="0"/>
            <a:r>
              <a:rPr lang="en-US" dirty="0"/>
              <a:t>SUBTITLE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3041740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0" tIns="0" rIns="612000" anchor="ctr"/>
          <a:lstStyle>
            <a:lvl1pPr marL="0" indent="0" algn="r">
              <a:lnSpc>
                <a:spcPct val="100000"/>
              </a:lnSpc>
              <a:buNone/>
              <a:defRPr sz="1200" i="1">
                <a:solidFill>
                  <a:schemeClr val="bg1">
                    <a:lumMod val="75000"/>
                  </a:schemeClr>
                </a:solidFill>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hasCustomPrompt="1"/>
          </p:nvPr>
        </p:nvSpPr>
        <p:spPr>
          <a:xfrm>
            <a:off x="0" y="0"/>
            <a:ext cx="9672000" cy="6857999"/>
          </a:xfrm>
          <a:solidFill>
            <a:schemeClr val="tx2">
              <a:alpha val="70000"/>
            </a:schemeClr>
          </a:solidFill>
        </p:spPr>
        <p:txBody>
          <a:bodyPr lIns="1116000" rIns="180000" bIns="756000" anchor="ctr"/>
          <a:lstStyle>
            <a:lvl1pPr algn="l">
              <a:lnSpc>
                <a:spcPct val="65000"/>
              </a:lnSpc>
              <a:defRPr sz="8800" cap="all" baseline="0">
                <a:solidFill>
                  <a:schemeClr val="bg1"/>
                </a:solidFill>
              </a:defRPr>
            </a:lvl1pPr>
          </a:lstStyle>
          <a:p>
            <a:r>
              <a:rPr lang="en-US" dirty="0"/>
              <a:t>Thank </a:t>
            </a:r>
            <a:br>
              <a:rPr lang="en-US" dirty="0"/>
            </a:br>
            <a:r>
              <a:rPr lang="en-US" dirty="0"/>
              <a:t>you</a:t>
            </a:r>
          </a:p>
        </p:txBody>
      </p:sp>
      <p:sp>
        <p:nvSpPr>
          <p:cNvPr id="6" name="Text Placeholder 5">
            <a:extLst>
              <a:ext uri="{FF2B5EF4-FFF2-40B4-BE49-F238E27FC236}">
                <a16:creationId xmlns:a16="http://schemas.microsoft.com/office/drawing/2014/main" id="{D49FD1A9-E34B-4888-90DE-493861AD75C6}"/>
              </a:ext>
            </a:extLst>
          </p:cNvPr>
          <p:cNvSpPr>
            <a:spLocks noGrp="1"/>
          </p:cNvSpPr>
          <p:nvPr>
            <p:ph type="body" sz="quarter" idx="13" hasCustomPrompt="1"/>
          </p:nvPr>
        </p:nvSpPr>
        <p:spPr>
          <a:xfrm>
            <a:off x="1917700" y="4508500"/>
            <a:ext cx="3314700" cy="330200"/>
          </a:xfrm>
        </p:spPr>
        <p:txBody>
          <a:bodyPr anchor="t"/>
          <a:lstStyle>
            <a:lvl1pPr marL="0" indent="0">
              <a:buNone/>
              <a:defRPr sz="2000">
                <a:solidFill>
                  <a:schemeClr val="accent1"/>
                </a:solidFill>
                <a:latin typeface="+mj-lt"/>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Full Name</a:t>
            </a:r>
          </a:p>
        </p:txBody>
      </p:sp>
      <p:sp>
        <p:nvSpPr>
          <p:cNvPr id="9" name="Text Placeholder 5">
            <a:extLst>
              <a:ext uri="{FF2B5EF4-FFF2-40B4-BE49-F238E27FC236}">
                <a16:creationId xmlns:a16="http://schemas.microsoft.com/office/drawing/2014/main" id="{3452AC72-D893-4C1A-83BD-9930164D8935}"/>
              </a:ext>
            </a:extLst>
          </p:cNvPr>
          <p:cNvSpPr>
            <a:spLocks noGrp="1"/>
          </p:cNvSpPr>
          <p:nvPr>
            <p:ph type="body" sz="quarter" idx="14" hasCustomPrompt="1"/>
          </p:nvPr>
        </p:nvSpPr>
        <p:spPr>
          <a:xfrm>
            <a:off x="1917700" y="5180023"/>
            <a:ext cx="3314700" cy="205029"/>
          </a:xfrm>
          <a:ln>
            <a:noFill/>
          </a:ln>
        </p:spPr>
        <p:txBody>
          <a:bodyPr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Email</a:t>
            </a:r>
          </a:p>
        </p:txBody>
      </p:sp>
      <p:sp>
        <p:nvSpPr>
          <p:cNvPr id="10" name="Text Placeholder 5">
            <a:extLst>
              <a:ext uri="{FF2B5EF4-FFF2-40B4-BE49-F238E27FC236}">
                <a16:creationId xmlns:a16="http://schemas.microsoft.com/office/drawing/2014/main" id="{D2EEC149-F1BE-4C36-A789-5BF73B40A212}"/>
              </a:ext>
            </a:extLst>
          </p:cNvPr>
          <p:cNvSpPr>
            <a:spLocks noGrp="1"/>
          </p:cNvSpPr>
          <p:nvPr>
            <p:ph type="body" sz="quarter" idx="15" hasCustomPrompt="1"/>
          </p:nvPr>
        </p:nvSpPr>
        <p:spPr>
          <a:xfrm>
            <a:off x="1917700" y="5683561"/>
            <a:ext cx="3314700" cy="205029"/>
          </a:xfrm>
          <a:ln>
            <a:noFill/>
          </a:ln>
        </p:spPr>
        <p:txBody>
          <a:bodyPr anchor="t"/>
          <a:lstStyle>
            <a:lvl1pPr marL="0" indent="0">
              <a:buNone/>
              <a:defRPr sz="160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Phone</a:t>
            </a:r>
          </a:p>
        </p:txBody>
      </p:sp>
      <p:sp>
        <p:nvSpPr>
          <p:cNvPr id="11" name="Text Placeholder 5">
            <a:extLst>
              <a:ext uri="{FF2B5EF4-FFF2-40B4-BE49-F238E27FC236}">
                <a16:creationId xmlns:a16="http://schemas.microsoft.com/office/drawing/2014/main" id="{ECC256E6-6AE8-4950-838C-BE638FB47968}"/>
              </a:ext>
            </a:extLst>
          </p:cNvPr>
          <p:cNvSpPr>
            <a:spLocks noGrp="1"/>
          </p:cNvSpPr>
          <p:nvPr>
            <p:ph type="body" sz="quarter" idx="16" hasCustomPrompt="1"/>
          </p:nvPr>
        </p:nvSpPr>
        <p:spPr>
          <a:xfrm>
            <a:off x="1917700" y="4821910"/>
            <a:ext cx="3314700" cy="205029"/>
          </a:xfrm>
        </p:spPr>
        <p:txBody>
          <a:bodyPr anchor="t"/>
          <a:lstStyle>
            <a:lvl1pPr marL="0" indent="0">
              <a:buNone/>
              <a:defRPr sz="1000" i="0">
                <a:solidFill>
                  <a:schemeClr val="bg1"/>
                </a:solidFill>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POSITION</a:t>
            </a:r>
          </a:p>
        </p:txBody>
      </p:sp>
    </p:spTree>
    <p:extLst>
      <p:ext uri="{BB962C8B-B14F-4D97-AF65-F5344CB8AC3E}">
        <p14:creationId xmlns:p14="http://schemas.microsoft.com/office/powerpoint/2010/main" val="318579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A5246D-ECE9-473C-953D-D56C3F7B32F8}"/>
              </a:ext>
            </a:extLst>
          </p:cNvPr>
          <p:cNvSpPr>
            <a:spLocks noGrp="1"/>
          </p:cNvSpPr>
          <p:nvPr>
            <p:ph type="title"/>
          </p:nvPr>
        </p:nvSpPr>
        <p:spPr>
          <a:xfrm>
            <a:off x="684000" y="808186"/>
            <a:ext cx="7560000" cy="370166"/>
          </a:xfrm>
          <a:prstGeom prst="rect">
            <a:avLst/>
          </a:prstGeom>
        </p:spPr>
        <p:txBody>
          <a:bodyPr vert="horz" lIns="0" tIns="0" rIns="0" bIns="0" rtlCol="0" anchor="t">
            <a:no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65D946F0-677D-45B4-83B9-FD3BD3FFCA3C}"/>
              </a:ext>
            </a:extLst>
          </p:cNvPr>
          <p:cNvSpPr>
            <a:spLocks noGrp="1"/>
          </p:cNvSpPr>
          <p:nvPr>
            <p:ph type="body" idx="1"/>
          </p:nvPr>
        </p:nvSpPr>
        <p:spPr>
          <a:xfrm>
            <a:off x="684000" y="1825625"/>
            <a:ext cx="10800000" cy="43200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Footer Placeholder 4">
            <a:extLst>
              <a:ext uri="{FF2B5EF4-FFF2-40B4-BE49-F238E27FC236}">
                <a16:creationId xmlns:a16="http://schemas.microsoft.com/office/drawing/2014/main" id="{1445BE21-FA72-48F5-9A53-134902BF63DC}"/>
              </a:ext>
            </a:extLst>
          </p:cNvPr>
          <p:cNvSpPr>
            <a:spLocks noGrp="1"/>
          </p:cNvSpPr>
          <p:nvPr>
            <p:ph type="ftr" sz="quarter" idx="3"/>
          </p:nvPr>
        </p:nvSpPr>
        <p:spPr>
          <a:xfrm>
            <a:off x="288000" y="6192000"/>
            <a:ext cx="7560000" cy="360000"/>
          </a:xfrm>
          <a:prstGeom prst="rect">
            <a:avLst/>
          </a:prstGeom>
        </p:spPr>
        <p:txBody>
          <a:bodyPr vert="horz" lIns="0" tIns="0" rIns="0" bIns="0" rtlCol="0" anchor="b"/>
          <a:lstStyle>
            <a:lvl1pPr algn="l">
              <a:defRPr sz="8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70F79B29-5421-49A7-A511-D916B66A8890}"/>
              </a:ext>
            </a:extLst>
          </p:cNvPr>
          <p:cNvSpPr>
            <a:spLocks noGrp="1"/>
          </p:cNvSpPr>
          <p:nvPr>
            <p:ph type="sldNum" sz="quarter" idx="4"/>
          </p:nvPr>
        </p:nvSpPr>
        <p:spPr>
          <a:xfrm>
            <a:off x="11575764" y="6241764"/>
            <a:ext cx="270474" cy="270474"/>
          </a:xfrm>
          <a:prstGeom prst="ellipse">
            <a:avLst/>
          </a:prstGeom>
          <a:solidFill>
            <a:schemeClr val="accent1"/>
          </a:solidFill>
        </p:spPr>
        <p:txBody>
          <a:bodyPr vert="horz" lIns="0" tIns="0" rIns="0" bIns="0" rtlCol="0" anchor="ctr"/>
          <a:lstStyle>
            <a:lvl1pPr algn="ctr">
              <a:defRPr sz="1000">
                <a:solidFill>
                  <a:schemeClr val="tx2"/>
                </a:solidFill>
              </a:defRPr>
            </a:lvl1pPr>
          </a:lstStyle>
          <a:p>
            <a:fld id="{EECC7194-A4D0-457B-9D3E-53681723AFF7}" type="slidenum">
              <a:rPr lang="en-US" noProof="0" smtClean="0"/>
              <a:pPr/>
              <a:t>‹#›</a:t>
            </a:fld>
            <a:endParaRPr lang="en-US" noProof="0" dirty="0"/>
          </a:p>
        </p:txBody>
      </p:sp>
    </p:spTree>
    <p:extLst>
      <p:ext uri="{BB962C8B-B14F-4D97-AF65-F5344CB8AC3E}">
        <p14:creationId xmlns:p14="http://schemas.microsoft.com/office/powerpoint/2010/main" val="3278925284"/>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50" r:id="rId12"/>
    <p:sldLayoutId id="2147483669" r:id="rId13"/>
  </p:sldLayoutIdLst>
  <p:hf hdr="0" ftr="0" dt="0"/>
  <p:txStyles>
    <p:titleStyle>
      <a:lvl1pPr algn="l" defTabSz="914400" rtl="0" eaLnBrk="1" latinLnBrk="0" hangingPunct="1">
        <a:lnSpc>
          <a:spcPct val="90000"/>
        </a:lnSpc>
        <a:spcBef>
          <a:spcPct val="0"/>
        </a:spcBef>
        <a:buNone/>
        <a:defRPr sz="3200" b="1" kern="1200" cap="all" spc="-150" baseline="0">
          <a:solidFill>
            <a:schemeClr val="accent2"/>
          </a:solidFill>
          <a:latin typeface="+mj-lt"/>
          <a:ea typeface="+mj-ea"/>
          <a:cs typeface="+mj-cs"/>
        </a:defRPr>
      </a:lvl1pPr>
    </p:titleStyle>
    <p:body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3.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8.xml"/><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5.xml"/><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jpeg"/><Relationship Id="rId1" Type="http://schemas.openxmlformats.org/officeDocument/2006/relationships/slideLayout" Target="../slideLayouts/slideLayout8.xml"/><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jpeg"/><Relationship Id="rId1" Type="http://schemas.openxmlformats.org/officeDocument/2006/relationships/slideLayout" Target="../slideLayouts/slideLayout3.xml"/><Relationship Id="rId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jpeg"/><Relationship Id="rId1" Type="http://schemas.openxmlformats.org/officeDocument/2006/relationships/slideLayout" Target="../slideLayouts/slideLayout5.xml"/><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jpeg"/><Relationship Id="rId1" Type="http://schemas.openxmlformats.org/officeDocument/2006/relationships/slideLayout" Target="../slideLayouts/slideLayout3.xml"/><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jpeg"/><Relationship Id="rId1" Type="http://schemas.openxmlformats.org/officeDocument/2006/relationships/slideLayout" Target="../slideLayouts/slideLayout3.xml"/><Relationship Id="rId4" Type="http://schemas.openxmlformats.org/officeDocument/2006/relationships/image" Target="../media/image25.svg"/></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27.sv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alpha val="80000"/>
          </a:schemeClr>
        </a:solidFill>
        <a:effectLst/>
      </p:bgPr>
    </p:bg>
    <p:spTree>
      <p:nvGrpSpPr>
        <p:cNvPr id="1" name=""/>
        <p:cNvGrpSpPr/>
        <p:nvPr/>
      </p:nvGrpSpPr>
      <p:grpSpPr>
        <a:xfrm>
          <a:off x="0" y="0"/>
          <a:ext cx="0" cy="0"/>
          <a:chOff x="0" y="0"/>
          <a:chExt cx="0" cy="0"/>
        </a:xfrm>
      </p:grpSpPr>
      <p:pic>
        <p:nvPicPr>
          <p:cNvPr id="14" name="Picture Placeholder 13" descr="Doctor pointing on a large display">
            <a:extLst>
              <a:ext uri="{FF2B5EF4-FFF2-40B4-BE49-F238E27FC236}">
                <a16:creationId xmlns:a16="http://schemas.microsoft.com/office/drawing/2014/main" id="{8F02F647-7DBC-4618-AFF3-8CED69C5CDEF}"/>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p:spPr>
      </p:pic>
      <p:sp>
        <p:nvSpPr>
          <p:cNvPr id="3" name="Title 2">
            <a:extLst>
              <a:ext uri="{FF2B5EF4-FFF2-40B4-BE49-F238E27FC236}">
                <a16:creationId xmlns:a16="http://schemas.microsoft.com/office/drawing/2014/main" id="{B8D8E648-93B0-47FF-A306-492EFF7FC499}"/>
              </a:ext>
            </a:extLst>
          </p:cNvPr>
          <p:cNvSpPr>
            <a:spLocks noGrp="1"/>
          </p:cNvSpPr>
          <p:nvPr>
            <p:ph type="ctrTitle"/>
          </p:nvPr>
        </p:nvSpPr>
        <p:spPr/>
        <p:txBody>
          <a:bodyPr/>
          <a:lstStyle/>
          <a:p>
            <a:pPr>
              <a:lnSpc>
                <a:spcPct val="110000"/>
              </a:lnSpc>
            </a:pPr>
            <a:r>
              <a:rPr lang="en-US" sz="4000" dirty="0"/>
              <a:t>Hospital Patient Flow &amp;</a:t>
            </a:r>
            <a:br>
              <a:rPr lang="en-US" sz="4000" dirty="0"/>
            </a:br>
            <a:r>
              <a:rPr lang="en-US" sz="4000" dirty="0"/>
              <a:t>Medical Services Analytics</a:t>
            </a:r>
          </a:p>
        </p:txBody>
      </p:sp>
      <p:sp>
        <p:nvSpPr>
          <p:cNvPr id="4" name="Subtitle 3">
            <a:extLst>
              <a:ext uri="{FF2B5EF4-FFF2-40B4-BE49-F238E27FC236}">
                <a16:creationId xmlns:a16="http://schemas.microsoft.com/office/drawing/2014/main" id="{64857D70-F12B-4E1B-99F8-92DAD4349846}"/>
              </a:ext>
            </a:extLst>
          </p:cNvPr>
          <p:cNvSpPr>
            <a:spLocks noGrp="1"/>
          </p:cNvSpPr>
          <p:nvPr>
            <p:ph type="subTitle" idx="1"/>
          </p:nvPr>
        </p:nvSpPr>
        <p:spPr>
          <a:xfrm>
            <a:off x="3599999" y="4276447"/>
            <a:ext cx="3492000" cy="620016"/>
          </a:xfrm>
          <a:gradFill>
            <a:gsLst>
              <a:gs pos="8000">
                <a:schemeClr val="tx2"/>
              </a:gs>
              <a:gs pos="100000">
                <a:schemeClr val="accent2"/>
              </a:gs>
            </a:gsLst>
            <a:lin ang="14400000" scaled="0"/>
          </a:gradFill>
        </p:spPr>
        <p:txBody>
          <a:bodyPr/>
          <a:lstStyle/>
          <a:p>
            <a:r>
              <a:rPr lang="en-US" dirty="0"/>
              <a:t>Healthcare Analytics</a:t>
            </a:r>
          </a:p>
        </p:txBody>
      </p:sp>
      <p:sp>
        <p:nvSpPr>
          <p:cNvPr id="5" name="object 7" descr="Beige rectangle">
            <a:extLst>
              <a:ext uri="{FF2B5EF4-FFF2-40B4-BE49-F238E27FC236}">
                <a16:creationId xmlns:a16="http://schemas.microsoft.com/office/drawing/2014/main" id="{C85C272F-FCB2-478D-9E03-EC734D1AB6C0}"/>
              </a:ext>
            </a:extLst>
          </p:cNvPr>
          <p:cNvSpPr/>
          <p:nvPr/>
        </p:nvSpPr>
        <p:spPr bwMode="white">
          <a:xfrm>
            <a:off x="3687084" y="3441536"/>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15" name="Rectangle 14">
            <a:extLst>
              <a:ext uri="{FF2B5EF4-FFF2-40B4-BE49-F238E27FC236}">
                <a16:creationId xmlns:a16="http://schemas.microsoft.com/office/drawing/2014/main" id="{DA136CB0-4ED9-43FA-81D5-6D3225795A7D}"/>
              </a:ext>
              <a:ext uri="{C183D7F6-B498-43B3-948B-1728B52AA6E4}">
                <adec:decorative xmlns:adec="http://schemas.microsoft.com/office/drawing/2017/decorative" val="1"/>
              </a:ext>
            </a:extLst>
          </p:cNvPr>
          <p:cNvSpPr/>
          <p:nvPr/>
        </p:nvSpPr>
        <p:spPr>
          <a:xfrm>
            <a:off x="3903024" y="4896463"/>
            <a:ext cx="2885950"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Medical with solid fill">
            <a:extLst>
              <a:ext uri="{FF2B5EF4-FFF2-40B4-BE49-F238E27FC236}">
                <a16:creationId xmlns:a16="http://schemas.microsoft.com/office/drawing/2014/main" id="{5164DEB4-DCDC-C31E-27AC-A27C0B2A47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16216" y="2777739"/>
            <a:ext cx="783783" cy="783783"/>
          </a:xfrm>
          <a:prstGeom prst="rect">
            <a:avLst/>
          </a:prstGeom>
        </p:spPr>
      </p:pic>
    </p:spTree>
    <p:extLst>
      <p:ext uri="{BB962C8B-B14F-4D97-AF65-F5344CB8AC3E}">
        <p14:creationId xmlns:p14="http://schemas.microsoft.com/office/powerpoint/2010/main" val="850593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8" name="Picture Placeholder 27" descr="Woman walking through a door">
            <a:extLst>
              <a:ext uri="{FF2B5EF4-FFF2-40B4-BE49-F238E27FC236}">
                <a16:creationId xmlns:a16="http://schemas.microsoft.com/office/drawing/2014/main" id="{86D7D4AC-BE7B-45B9-AF4A-E2AF1B6C796D}"/>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a:stretch/>
        </p:blipFill>
        <p:spPr>
          <a:xfrm>
            <a:off x="0" y="0"/>
            <a:ext cx="12012000" cy="6858000"/>
          </a:xfrm>
        </p:spPr>
      </p:pic>
      <p:sp>
        <p:nvSpPr>
          <p:cNvPr id="15" name="Rectangle 14">
            <a:extLst>
              <a:ext uri="{FF2B5EF4-FFF2-40B4-BE49-F238E27FC236}">
                <a16:creationId xmlns:a16="http://schemas.microsoft.com/office/drawing/2014/main" id="{DD509E5E-F68C-4F2B-8EC7-4325958603E7}"/>
              </a:ext>
              <a:ext uri="{C183D7F6-B498-43B3-948B-1728B52AA6E4}">
                <adec:decorative xmlns:adec="http://schemas.microsoft.com/office/drawing/2017/decorative" val="1"/>
              </a:ext>
            </a:extLst>
          </p:cNvPr>
          <p:cNvSpPr/>
          <p:nvPr/>
        </p:nvSpPr>
        <p:spPr>
          <a:xfrm>
            <a:off x="0" y="-65854"/>
            <a:ext cx="12191999" cy="6858000"/>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bject 7" descr="Beige rectangle">
            <a:extLst>
              <a:ext uri="{FF2B5EF4-FFF2-40B4-BE49-F238E27FC236}">
                <a16:creationId xmlns:a16="http://schemas.microsoft.com/office/drawing/2014/main" id="{400AB11A-4D5E-4CDE-BB60-C8578F59C3E0}"/>
              </a:ext>
            </a:extLst>
          </p:cNvPr>
          <p:cNvSpPr/>
          <p:nvPr/>
        </p:nvSpPr>
        <p:spPr bwMode="white">
          <a:xfrm>
            <a:off x="1793360" y="4332687"/>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36" name="Group 35" descr="Icon Lightbulb">
            <a:extLst>
              <a:ext uri="{FF2B5EF4-FFF2-40B4-BE49-F238E27FC236}">
                <a16:creationId xmlns:a16="http://schemas.microsoft.com/office/drawing/2014/main" id="{840CA54E-FBB9-4848-A45D-E086AA4A5012}"/>
              </a:ext>
            </a:extLst>
          </p:cNvPr>
          <p:cNvGrpSpPr>
            <a:grpSpLocks noChangeAspect="1"/>
          </p:cNvGrpSpPr>
          <p:nvPr/>
        </p:nvGrpSpPr>
        <p:grpSpPr>
          <a:xfrm>
            <a:off x="1985345" y="3363146"/>
            <a:ext cx="362015" cy="584795"/>
            <a:chOff x="1684741" y="3186732"/>
            <a:chExt cx="530027" cy="856197"/>
          </a:xfrm>
        </p:grpSpPr>
        <p:sp>
          <p:nvSpPr>
            <p:cNvPr id="32" name="Freeform: Shape 31">
              <a:extLst>
                <a:ext uri="{FF2B5EF4-FFF2-40B4-BE49-F238E27FC236}">
                  <a16:creationId xmlns:a16="http://schemas.microsoft.com/office/drawing/2014/main" id="{B8ABB65B-B8A5-4C0E-BE4C-E88A7BB3E8A2}"/>
                </a:ext>
              </a:extLst>
            </p:cNvPr>
            <p:cNvSpPr/>
            <p:nvPr/>
          </p:nvSpPr>
          <p:spPr>
            <a:xfrm>
              <a:off x="1817248" y="3777916"/>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D71DD07A-CE80-41D5-AEEB-65192AD34639}"/>
                </a:ext>
              </a:extLst>
            </p:cNvPr>
            <p:cNvSpPr/>
            <p:nvPr/>
          </p:nvSpPr>
          <p:spPr>
            <a:xfrm>
              <a:off x="1817248" y="3879844"/>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solidFill>
              <a:schemeClr val="accent1"/>
            </a:solidFill>
            <a:ln w="10120"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0522D638-DE3D-438D-8C73-954C32D8CB63}"/>
                </a:ext>
              </a:extLst>
            </p:cNvPr>
            <p:cNvSpPr/>
            <p:nvPr/>
          </p:nvSpPr>
          <p:spPr>
            <a:xfrm>
              <a:off x="1883501" y="3981772"/>
              <a:ext cx="132507" cy="61157"/>
            </a:xfrm>
            <a:custGeom>
              <a:avLst/>
              <a:gdLst>
                <a:gd name="connsiteX0" fmla="*/ 0 w 132506"/>
                <a:gd name="connsiteY0" fmla="*/ 0 h 61156"/>
                <a:gd name="connsiteX1" fmla="*/ 66253 w 132506"/>
                <a:gd name="connsiteY1" fmla="*/ 61157 h 61156"/>
                <a:gd name="connsiteX2" fmla="*/ 132507 w 132506"/>
                <a:gd name="connsiteY2" fmla="*/ 0 h 61156"/>
                <a:gd name="connsiteX3" fmla="*/ 0 w 132506"/>
                <a:gd name="connsiteY3" fmla="*/ 0 h 61156"/>
              </a:gdLst>
              <a:ahLst/>
              <a:cxnLst>
                <a:cxn ang="0">
                  <a:pos x="connsiteX0" y="connsiteY0"/>
                </a:cxn>
                <a:cxn ang="0">
                  <a:pos x="connsiteX1" y="connsiteY1"/>
                </a:cxn>
                <a:cxn ang="0">
                  <a:pos x="connsiteX2" y="connsiteY2"/>
                </a:cxn>
                <a:cxn ang="0">
                  <a:pos x="connsiteX3" y="connsiteY3"/>
                </a:cxn>
              </a:cxnLst>
              <a:rect l="l" t="t" r="r" b="b"/>
              <a:pathLst>
                <a:path w="132506" h="61156">
                  <a:moveTo>
                    <a:pt x="0" y="0"/>
                  </a:moveTo>
                  <a:cubicBezTo>
                    <a:pt x="3058" y="34656"/>
                    <a:pt x="31598" y="61157"/>
                    <a:pt x="66253" y="61157"/>
                  </a:cubicBezTo>
                  <a:cubicBezTo>
                    <a:pt x="100909" y="61157"/>
                    <a:pt x="129449" y="34656"/>
                    <a:pt x="132507" y="0"/>
                  </a:cubicBezTo>
                  <a:lnTo>
                    <a:pt x="0" y="0"/>
                  </a:lnTo>
                  <a:close/>
                </a:path>
              </a:pathLst>
            </a:custGeom>
            <a:solidFill>
              <a:schemeClr val="accent1"/>
            </a:solidFill>
            <a:ln w="10120"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01AB190E-B14D-440E-9910-B22D8C998B54}"/>
                </a:ext>
              </a:extLst>
            </p:cNvPr>
            <p:cNvSpPr/>
            <p:nvPr/>
          </p:nvSpPr>
          <p:spPr>
            <a:xfrm>
              <a:off x="1684741" y="3186732"/>
              <a:ext cx="530027" cy="550412"/>
            </a:xfrm>
            <a:custGeom>
              <a:avLst/>
              <a:gdLst>
                <a:gd name="connsiteX0" fmla="*/ 265013 w 530026"/>
                <a:gd name="connsiteY0" fmla="*/ 0 h 550412"/>
                <a:gd name="connsiteX1" fmla="*/ 265013 w 530026"/>
                <a:gd name="connsiteY1" fmla="*/ 0 h 550412"/>
                <a:gd name="connsiteX2" fmla="*/ 265013 w 530026"/>
                <a:gd name="connsiteY2" fmla="*/ 0 h 550412"/>
                <a:gd name="connsiteX3" fmla="*/ 0 w 530026"/>
                <a:gd name="connsiteY3" fmla="*/ 261956 h 550412"/>
                <a:gd name="connsiteX4" fmla="*/ 0 w 530026"/>
                <a:gd name="connsiteY4" fmla="*/ 271129 h 550412"/>
                <a:gd name="connsiteX5" fmla="*/ 18347 w 530026"/>
                <a:gd name="connsiteY5" fmla="*/ 362864 h 550412"/>
                <a:gd name="connsiteX6" fmla="*/ 64215 w 530026"/>
                <a:gd name="connsiteY6" fmla="*/ 438291 h 550412"/>
                <a:gd name="connsiteX7" fmla="*/ 126391 w 530026"/>
                <a:gd name="connsiteY7" fmla="*/ 539200 h 550412"/>
                <a:gd name="connsiteX8" fmla="*/ 144738 w 530026"/>
                <a:gd name="connsiteY8" fmla="*/ 550412 h 550412"/>
                <a:gd name="connsiteX9" fmla="*/ 385289 w 530026"/>
                <a:gd name="connsiteY9" fmla="*/ 550412 h 550412"/>
                <a:gd name="connsiteX10" fmla="*/ 403636 w 530026"/>
                <a:gd name="connsiteY10" fmla="*/ 539200 h 550412"/>
                <a:gd name="connsiteX11" fmla="*/ 465812 w 530026"/>
                <a:gd name="connsiteY11" fmla="*/ 438291 h 550412"/>
                <a:gd name="connsiteX12" fmla="*/ 511680 w 530026"/>
                <a:gd name="connsiteY12" fmla="*/ 362864 h 550412"/>
                <a:gd name="connsiteX13" fmla="*/ 530027 w 530026"/>
                <a:gd name="connsiteY13" fmla="*/ 271129 h 550412"/>
                <a:gd name="connsiteX14" fmla="*/ 530027 w 530026"/>
                <a:gd name="connsiteY14" fmla="*/ 261956 h 550412"/>
                <a:gd name="connsiteX15" fmla="*/ 265013 w 530026"/>
                <a:gd name="connsiteY15" fmla="*/ 0 h 550412"/>
                <a:gd name="connsiteX16" fmla="*/ 468870 w 530026"/>
                <a:gd name="connsiteY16" fmla="*/ 270110 h 550412"/>
                <a:gd name="connsiteX17" fmla="*/ 454600 w 530026"/>
                <a:gd name="connsiteY17" fmla="*/ 341460 h 550412"/>
                <a:gd name="connsiteX18" fmla="*/ 419944 w 530026"/>
                <a:gd name="connsiteY18" fmla="*/ 397520 h 550412"/>
                <a:gd name="connsiteX19" fmla="*/ 360826 w 530026"/>
                <a:gd name="connsiteY19" fmla="*/ 489256 h 550412"/>
                <a:gd name="connsiteX20" fmla="*/ 265013 w 530026"/>
                <a:gd name="connsiteY20" fmla="*/ 489256 h 550412"/>
                <a:gd name="connsiteX21" fmla="*/ 170220 w 530026"/>
                <a:gd name="connsiteY21" fmla="*/ 489256 h 550412"/>
                <a:gd name="connsiteX22" fmla="*/ 111102 w 530026"/>
                <a:gd name="connsiteY22" fmla="*/ 397520 h 550412"/>
                <a:gd name="connsiteX23" fmla="*/ 76446 w 530026"/>
                <a:gd name="connsiteY23" fmla="*/ 341460 h 550412"/>
                <a:gd name="connsiteX24" fmla="*/ 62176 w 530026"/>
                <a:gd name="connsiteY24" fmla="*/ 270110 h 550412"/>
                <a:gd name="connsiteX25" fmla="*/ 62176 w 530026"/>
                <a:gd name="connsiteY25" fmla="*/ 261956 h 550412"/>
                <a:gd name="connsiteX26" fmla="*/ 266033 w 530026"/>
                <a:gd name="connsiteY26" fmla="*/ 60138 h 550412"/>
                <a:gd name="connsiteX27" fmla="*/ 266033 w 530026"/>
                <a:gd name="connsiteY27" fmla="*/ 60138 h 550412"/>
                <a:gd name="connsiteX28" fmla="*/ 266033 w 530026"/>
                <a:gd name="connsiteY28" fmla="*/ 60138 h 550412"/>
                <a:gd name="connsiteX29" fmla="*/ 266033 w 530026"/>
                <a:gd name="connsiteY29" fmla="*/ 60138 h 550412"/>
                <a:gd name="connsiteX30" fmla="*/ 266033 w 530026"/>
                <a:gd name="connsiteY30" fmla="*/ 60138 h 550412"/>
                <a:gd name="connsiteX31" fmla="*/ 266033 w 530026"/>
                <a:gd name="connsiteY31" fmla="*/ 60138 h 550412"/>
                <a:gd name="connsiteX32" fmla="*/ 266033 w 530026"/>
                <a:gd name="connsiteY32" fmla="*/ 60138 h 550412"/>
                <a:gd name="connsiteX33" fmla="*/ 469889 w 530026"/>
                <a:gd name="connsiteY33" fmla="*/ 261956 h 550412"/>
                <a:gd name="connsiteX34" fmla="*/ 469889 w 530026"/>
                <a:gd name="connsiteY34" fmla="*/ 270110 h 55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0026" h="550412">
                  <a:moveTo>
                    <a:pt x="265013" y="0"/>
                  </a:moveTo>
                  <a:cubicBezTo>
                    <a:pt x="265013" y="0"/>
                    <a:pt x="265013" y="0"/>
                    <a:pt x="265013" y="0"/>
                  </a:cubicBezTo>
                  <a:cubicBezTo>
                    <a:pt x="265013" y="0"/>
                    <a:pt x="265013" y="0"/>
                    <a:pt x="265013" y="0"/>
                  </a:cubicBezTo>
                  <a:cubicBezTo>
                    <a:pt x="120275" y="1019"/>
                    <a:pt x="3058" y="117217"/>
                    <a:pt x="0" y="261956"/>
                  </a:cubicBezTo>
                  <a:lnTo>
                    <a:pt x="0" y="271129"/>
                  </a:lnTo>
                  <a:cubicBezTo>
                    <a:pt x="1019" y="302727"/>
                    <a:pt x="7135" y="333305"/>
                    <a:pt x="18347" y="362864"/>
                  </a:cubicBezTo>
                  <a:cubicBezTo>
                    <a:pt x="29559" y="390385"/>
                    <a:pt x="44848" y="415867"/>
                    <a:pt x="64215" y="438291"/>
                  </a:cubicBezTo>
                  <a:cubicBezTo>
                    <a:pt x="88678" y="464793"/>
                    <a:pt x="115179" y="516776"/>
                    <a:pt x="126391" y="539200"/>
                  </a:cubicBezTo>
                  <a:cubicBezTo>
                    <a:pt x="129449" y="546335"/>
                    <a:pt x="136584" y="550412"/>
                    <a:pt x="144738" y="550412"/>
                  </a:cubicBezTo>
                  <a:lnTo>
                    <a:pt x="385289" y="550412"/>
                  </a:lnTo>
                  <a:cubicBezTo>
                    <a:pt x="393443" y="550412"/>
                    <a:pt x="400578" y="546335"/>
                    <a:pt x="403636" y="539200"/>
                  </a:cubicBezTo>
                  <a:cubicBezTo>
                    <a:pt x="414848" y="516776"/>
                    <a:pt x="441349" y="464793"/>
                    <a:pt x="465812" y="438291"/>
                  </a:cubicBezTo>
                  <a:cubicBezTo>
                    <a:pt x="485178" y="415867"/>
                    <a:pt x="501487" y="390385"/>
                    <a:pt x="511680" y="362864"/>
                  </a:cubicBezTo>
                  <a:cubicBezTo>
                    <a:pt x="522892" y="333305"/>
                    <a:pt x="529008" y="302727"/>
                    <a:pt x="530027" y="271129"/>
                  </a:cubicBezTo>
                  <a:lnTo>
                    <a:pt x="530027" y="261956"/>
                  </a:lnTo>
                  <a:cubicBezTo>
                    <a:pt x="526969" y="117217"/>
                    <a:pt x="409752" y="1019"/>
                    <a:pt x="265013" y="0"/>
                  </a:cubicBezTo>
                  <a:close/>
                  <a:moveTo>
                    <a:pt x="468870" y="270110"/>
                  </a:moveTo>
                  <a:cubicBezTo>
                    <a:pt x="467851" y="294573"/>
                    <a:pt x="462754" y="319035"/>
                    <a:pt x="454600" y="341460"/>
                  </a:cubicBezTo>
                  <a:cubicBezTo>
                    <a:pt x="446446" y="361845"/>
                    <a:pt x="435234" y="381212"/>
                    <a:pt x="419944" y="397520"/>
                  </a:cubicBezTo>
                  <a:cubicBezTo>
                    <a:pt x="396501" y="426060"/>
                    <a:pt x="376115" y="456638"/>
                    <a:pt x="360826" y="489256"/>
                  </a:cubicBezTo>
                  <a:lnTo>
                    <a:pt x="265013" y="489256"/>
                  </a:lnTo>
                  <a:lnTo>
                    <a:pt x="170220" y="489256"/>
                  </a:lnTo>
                  <a:cubicBezTo>
                    <a:pt x="153912" y="456638"/>
                    <a:pt x="133526" y="426060"/>
                    <a:pt x="111102" y="397520"/>
                  </a:cubicBezTo>
                  <a:cubicBezTo>
                    <a:pt x="96832" y="381212"/>
                    <a:pt x="84600" y="361845"/>
                    <a:pt x="76446" y="341460"/>
                  </a:cubicBezTo>
                  <a:cubicBezTo>
                    <a:pt x="67273" y="319035"/>
                    <a:pt x="63196" y="294573"/>
                    <a:pt x="62176" y="270110"/>
                  </a:cubicBezTo>
                  <a:lnTo>
                    <a:pt x="62176" y="261956"/>
                  </a:lnTo>
                  <a:cubicBezTo>
                    <a:pt x="64215" y="150854"/>
                    <a:pt x="154931" y="61157"/>
                    <a:pt x="266033" y="60138"/>
                  </a:cubicBezTo>
                  <a:lnTo>
                    <a:pt x="266033" y="60138"/>
                  </a:lnTo>
                  <a:lnTo>
                    <a:pt x="266033" y="60138"/>
                  </a:lnTo>
                  <a:cubicBezTo>
                    <a:pt x="266033" y="60138"/>
                    <a:pt x="266033" y="60138"/>
                    <a:pt x="266033" y="60138"/>
                  </a:cubicBezTo>
                  <a:cubicBezTo>
                    <a:pt x="266033" y="60138"/>
                    <a:pt x="266033" y="60138"/>
                    <a:pt x="266033" y="60138"/>
                  </a:cubicBezTo>
                  <a:lnTo>
                    <a:pt x="266033" y="60138"/>
                  </a:lnTo>
                  <a:lnTo>
                    <a:pt x="266033" y="60138"/>
                  </a:lnTo>
                  <a:cubicBezTo>
                    <a:pt x="377134" y="61157"/>
                    <a:pt x="467851" y="149835"/>
                    <a:pt x="469889" y="261956"/>
                  </a:cubicBezTo>
                  <a:lnTo>
                    <a:pt x="469889" y="270110"/>
                  </a:lnTo>
                  <a:close/>
                </a:path>
              </a:pathLst>
            </a:custGeom>
            <a:solidFill>
              <a:schemeClr val="accent1"/>
            </a:solidFill>
            <a:ln w="10120" cap="flat">
              <a:noFill/>
              <a:prstDash val="solid"/>
              <a:miter/>
            </a:ln>
          </p:spPr>
          <p:txBody>
            <a:bodyPr rtlCol="0" anchor="ctr"/>
            <a:lstStyle/>
            <a:p>
              <a:endParaRPr lang="en-US" dirty="0"/>
            </a:p>
          </p:txBody>
        </p:sp>
      </p:grpSp>
      <p:sp>
        <p:nvSpPr>
          <p:cNvPr id="48" name="Rectangle 47">
            <a:extLst>
              <a:ext uri="{FF2B5EF4-FFF2-40B4-BE49-F238E27FC236}">
                <a16:creationId xmlns:a16="http://schemas.microsoft.com/office/drawing/2014/main" id="{C3FC51DE-D10A-4DE8-A7E3-22FA2E4FC194}"/>
              </a:ext>
              <a:ext uri="{C183D7F6-B498-43B3-948B-1728B52AA6E4}">
                <adec:decorative xmlns:adec="http://schemas.microsoft.com/office/drawing/2017/decorative" val="1"/>
              </a:ext>
            </a:extLst>
          </p:cNvPr>
          <p:cNvSpPr/>
          <p:nvPr/>
        </p:nvSpPr>
        <p:spPr>
          <a:xfrm>
            <a:off x="1569877" y="5904087"/>
            <a:ext cx="6058183"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Slide Number Placeholder 51">
            <a:extLst>
              <a:ext uri="{FF2B5EF4-FFF2-40B4-BE49-F238E27FC236}">
                <a16:creationId xmlns:a16="http://schemas.microsoft.com/office/drawing/2014/main" id="{947A81F6-261F-44F4-B660-7BD323AE2991}"/>
              </a:ext>
            </a:extLst>
          </p:cNvPr>
          <p:cNvSpPr>
            <a:spLocks noGrp="1"/>
          </p:cNvSpPr>
          <p:nvPr>
            <p:ph type="sldNum" sz="quarter" idx="11"/>
          </p:nvPr>
        </p:nvSpPr>
        <p:spPr/>
        <p:txBody>
          <a:bodyPr/>
          <a:lstStyle/>
          <a:p>
            <a:fld id="{EECC7194-A4D0-457B-9D3E-53681723AFF7}" type="slidenum">
              <a:rPr lang="en-US" smtClean="0"/>
              <a:pPr/>
              <a:t>2</a:t>
            </a:fld>
            <a:endParaRPr lang="en-US" dirty="0"/>
          </a:p>
        </p:txBody>
      </p:sp>
      <p:grpSp>
        <p:nvGrpSpPr>
          <p:cNvPr id="14" name="Group 13">
            <a:extLst>
              <a:ext uri="{FF2B5EF4-FFF2-40B4-BE49-F238E27FC236}">
                <a16:creationId xmlns:a16="http://schemas.microsoft.com/office/drawing/2014/main" id="{8CDC0198-E919-4071-9C4B-5B3D19A46785}"/>
              </a:ext>
              <a:ext uri="{C183D7F6-B498-43B3-948B-1728B52AA6E4}">
                <adec:decorative xmlns:adec="http://schemas.microsoft.com/office/drawing/2017/decorative" val="1"/>
              </a:ext>
            </a:extLst>
          </p:cNvPr>
          <p:cNvGrpSpPr>
            <a:grpSpLocks noChangeAspect="1"/>
          </p:cNvGrpSpPr>
          <p:nvPr/>
        </p:nvGrpSpPr>
        <p:grpSpPr>
          <a:xfrm>
            <a:off x="1713143" y="3198674"/>
            <a:ext cx="906419" cy="906419"/>
            <a:chOff x="5482999" y="1607028"/>
            <a:chExt cx="1200866" cy="1200866"/>
          </a:xfrm>
        </p:grpSpPr>
        <p:sp>
          <p:nvSpPr>
            <p:cNvPr id="16" name="Rectangle 15">
              <a:extLst>
                <a:ext uri="{FF2B5EF4-FFF2-40B4-BE49-F238E27FC236}">
                  <a16:creationId xmlns:a16="http://schemas.microsoft.com/office/drawing/2014/main" id="{667DDF34-4085-4945-A320-585AC8EBAAF2}"/>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D521D40-9109-4214-B458-FAB53B1DA80D}"/>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 Placeholder 4">
            <a:extLst>
              <a:ext uri="{FF2B5EF4-FFF2-40B4-BE49-F238E27FC236}">
                <a16:creationId xmlns:a16="http://schemas.microsoft.com/office/drawing/2014/main" id="{E0AE6796-9B27-FDAD-7DB5-13E2E984437E}"/>
              </a:ext>
            </a:extLst>
          </p:cNvPr>
          <p:cNvSpPr>
            <a:spLocks noGrp="1"/>
          </p:cNvSpPr>
          <p:nvPr>
            <p:ph type="body" sz="quarter" idx="13"/>
          </p:nvPr>
        </p:nvSpPr>
        <p:spPr>
          <a:xfrm>
            <a:off x="180000" y="1052703"/>
            <a:ext cx="7199829" cy="3857790"/>
          </a:xfrm>
        </p:spPr>
        <p:txBody>
          <a:bodyPr/>
          <a:lstStyle/>
          <a:p>
            <a:r>
              <a:rPr lang="en-US" sz="1800" dirty="0"/>
              <a:t>Analyze hospital efficiency and patient care using admission, treatment, and doctor performance data to uncover bottlenecks, improve outcomes, and optimize resources and revenue.</a:t>
            </a:r>
            <a:endParaRPr lang="en-US" dirty="0"/>
          </a:p>
        </p:txBody>
      </p:sp>
      <p:sp>
        <p:nvSpPr>
          <p:cNvPr id="8" name="Title 2">
            <a:extLst>
              <a:ext uri="{FF2B5EF4-FFF2-40B4-BE49-F238E27FC236}">
                <a16:creationId xmlns:a16="http://schemas.microsoft.com/office/drawing/2014/main" id="{61F89FE8-439B-A965-90F0-977D7DC7999B}"/>
              </a:ext>
            </a:extLst>
          </p:cNvPr>
          <p:cNvSpPr>
            <a:spLocks noGrp="1"/>
          </p:cNvSpPr>
          <p:nvPr>
            <p:ph type="title"/>
          </p:nvPr>
        </p:nvSpPr>
        <p:spPr>
          <a:xfrm>
            <a:off x="556591" y="1892751"/>
            <a:ext cx="6063079" cy="247167"/>
          </a:xfrm>
        </p:spPr>
        <p:txBody>
          <a:bodyPr/>
          <a:lstStyle/>
          <a:p>
            <a:r>
              <a:rPr lang="en-US" dirty="0"/>
              <a:t>    Objective</a:t>
            </a:r>
          </a:p>
        </p:txBody>
      </p:sp>
      <p:sp>
        <p:nvSpPr>
          <p:cNvPr id="10" name="object 7" descr="Beige rectangle">
            <a:extLst>
              <a:ext uri="{FF2B5EF4-FFF2-40B4-BE49-F238E27FC236}">
                <a16:creationId xmlns:a16="http://schemas.microsoft.com/office/drawing/2014/main" id="{5BE644E0-CEBA-29BB-8D2B-956C2385A4D1}"/>
              </a:ext>
            </a:extLst>
          </p:cNvPr>
          <p:cNvSpPr/>
          <p:nvPr/>
        </p:nvSpPr>
        <p:spPr bwMode="white">
          <a:xfrm>
            <a:off x="995313" y="2477260"/>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pic>
        <p:nvPicPr>
          <p:cNvPr id="3" name="Graphic 2" descr="Bullseye with solid fill">
            <a:extLst>
              <a:ext uri="{FF2B5EF4-FFF2-40B4-BE49-F238E27FC236}">
                <a16:creationId xmlns:a16="http://schemas.microsoft.com/office/drawing/2014/main" id="{C9F031CE-A2B0-4A17-61BE-5145ADAC6A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4420" y="1859312"/>
            <a:ext cx="620893" cy="620893"/>
          </a:xfrm>
          <a:prstGeom prst="rect">
            <a:avLst/>
          </a:prstGeom>
        </p:spPr>
      </p:pic>
    </p:spTree>
    <p:extLst>
      <p:ext uri="{BB962C8B-B14F-4D97-AF65-F5344CB8AC3E}">
        <p14:creationId xmlns:p14="http://schemas.microsoft.com/office/powerpoint/2010/main" val="3043203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descr="Doctor pointing at CAT scans">
            <a:extLst>
              <a:ext uri="{FF2B5EF4-FFF2-40B4-BE49-F238E27FC236}">
                <a16:creationId xmlns:a16="http://schemas.microsoft.com/office/drawing/2014/main" id="{51DAB4F3-6A41-481C-8A3E-932EDFC9FEDE}"/>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51" name="Rectangle 50">
            <a:extLst>
              <a:ext uri="{FF2B5EF4-FFF2-40B4-BE49-F238E27FC236}">
                <a16:creationId xmlns:a16="http://schemas.microsoft.com/office/drawing/2014/main" id="{3CBC84C2-2B48-4B15-A420-8B5F2BDE2398}"/>
              </a:ext>
              <a:ext uri="{C183D7F6-B498-43B3-948B-1728B52AA6E4}">
                <adec:decorative xmlns:adec="http://schemas.microsoft.com/office/drawing/2017/decorative" val="1"/>
              </a:ext>
            </a:extLst>
          </p:cNvPr>
          <p:cNvSpPr/>
          <p:nvPr/>
        </p:nvSpPr>
        <p:spPr>
          <a:xfrm>
            <a:off x="0" y="-598786"/>
            <a:ext cx="12245759" cy="7456786"/>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34E91A8-F608-453C-810A-BE991818063F}"/>
              </a:ext>
            </a:extLst>
          </p:cNvPr>
          <p:cNvSpPr>
            <a:spLocks noGrp="1"/>
          </p:cNvSpPr>
          <p:nvPr>
            <p:ph type="title"/>
          </p:nvPr>
        </p:nvSpPr>
        <p:spPr>
          <a:xfrm>
            <a:off x="683999" y="808185"/>
            <a:ext cx="8221461" cy="360000"/>
          </a:xfrm>
        </p:spPr>
        <p:txBody>
          <a:bodyPr/>
          <a:lstStyle/>
          <a:p>
            <a:r>
              <a:rPr lang="en-US" dirty="0"/>
              <a:t>Data Cleaning &amp; Transformation:</a:t>
            </a:r>
          </a:p>
        </p:txBody>
      </p:sp>
      <p:sp>
        <p:nvSpPr>
          <p:cNvPr id="4" name="Slide Number Placeholder 3">
            <a:extLst>
              <a:ext uri="{FF2B5EF4-FFF2-40B4-BE49-F238E27FC236}">
                <a16:creationId xmlns:a16="http://schemas.microsoft.com/office/drawing/2014/main" id="{D2DDB908-45C5-4999-982F-0A82DA013F58}"/>
              </a:ext>
            </a:extLst>
          </p:cNvPr>
          <p:cNvSpPr>
            <a:spLocks noGrp="1"/>
          </p:cNvSpPr>
          <p:nvPr>
            <p:ph type="sldNum" sz="quarter" idx="11"/>
          </p:nvPr>
        </p:nvSpPr>
        <p:spPr/>
        <p:txBody>
          <a:bodyPr/>
          <a:lstStyle/>
          <a:p>
            <a:fld id="{EECC7194-A4D0-457B-9D3E-53681723AFF7}" type="slidenum">
              <a:rPr lang="en-US" smtClean="0"/>
              <a:pPr/>
              <a:t>3</a:t>
            </a:fld>
            <a:endParaRPr lang="en-US" dirty="0"/>
          </a:p>
        </p:txBody>
      </p:sp>
      <p:sp>
        <p:nvSpPr>
          <p:cNvPr id="19" name="object 7" descr="Beige rectangle">
            <a:extLst>
              <a:ext uri="{FF2B5EF4-FFF2-40B4-BE49-F238E27FC236}">
                <a16:creationId xmlns:a16="http://schemas.microsoft.com/office/drawing/2014/main" id="{9B6BE182-7444-49DA-B6FA-215DD68D50CA}"/>
              </a:ext>
            </a:extLst>
          </p:cNvPr>
          <p:cNvSpPr/>
          <p:nvPr/>
        </p:nvSpPr>
        <p:spPr bwMode="white">
          <a:xfrm>
            <a:off x="722099" y="1322787"/>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33" name="Group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5723178" y="2223240"/>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7ACC6B18-DB03-4AC5-B015-6374FF16D1E5}"/>
              </a:ext>
              <a:ext uri="{C183D7F6-B498-43B3-948B-1728B52AA6E4}">
                <adec:decorative xmlns:adec="http://schemas.microsoft.com/office/drawing/2017/decorative" val="1"/>
              </a:ext>
            </a:extLst>
          </p:cNvPr>
          <p:cNvGrpSpPr>
            <a:grpSpLocks noChangeAspect="1"/>
          </p:cNvGrpSpPr>
          <p:nvPr/>
        </p:nvGrpSpPr>
        <p:grpSpPr>
          <a:xfrm>
            <a:off x="10310145" y="2224959"/>
            <a:ext cx="926876" cy="745643"/>
            <a:chOff x="7901577" y="2268089"/>
            <a:chExt cx="926876" cy="745643"/>
          </a:xfrm>
        </p:grpSpPr>
        <p:sp>
          <p:nvSpPr>
            <p:cNvPr id="44" name="Rectangle 43">
              <a:extLst>
                <a:ext uri="{FF2B5EF4-FFF2-40B4-BE49-F238E27FC236}">
                  <a16:creationId xmlns:a16="http://schemas.microsoft.com/office/drawing/2014/main" id="{FBAA099B-7326-44B7-B125-672BA72A6C05}"/>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06107D1A-01D9-4CE4-9A22-FC55274F17C6}"/>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3" name="TextBox 82">
            <a:extLst>
              <a:ext uri="{FF2B5EF4-FFF2-40B4-BE49-F238E27FC236}">
                <a16:creationId xmlns:a16="http://schemas.microsoft.com/office/drawing/2014/main" id="{91AC2A04-A473-18FC-66B3-B22876B4DBCC}"/>
              </a:ext>
            </a:extLst>
          </p:cNvPr>
          <p:cNvSpPr txBox="1"/>
          <p:nvPr/>
        </p:nvSpPr>
        <p:spPr>
          <a:xfrm>
            <a:off x="555515" y="1484077"/>
            <a:ext cx="11290723" cy="4576894"/>
          </a:xfrm>
          <a:prstGeom prst="rect">
            <a:avLst/>
          </a:prstGeom>
          <a:noFill/>
        </p:spPr>
        <p:txBody>
          <a:bodyPr wrap="square" rtlCol="0">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No missing values or outliers were found in the datasets.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Removed unnecessary white spaces from all fields to ensure consistency.</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Admission and discharge dates were standardized to DD-MM-YYYY format.</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ü"/>
              <a:tabLst/>
            </a:pPr>
            <a:r>
              <a:rPr kumimoji="0" lang="en-US" altLang="en-US" b="0" i="0" u="none" strike="noStrike" cap="none" normalizeH="0" baseline="0" dirty="0">
                <a:ln>
                  <a:noFill/>
                </a:ln>
                <a:solidFill>
                  <a:schemeClr val="bg1"/>
                </a:solidFill>
                <a:effectLst/>
              </a:rPr>
              <a:t>Length of stay was calculated using admission and discharge dates.</a:t>
            </a:r>
          </a:p>
          <a:p>
            <a:pPr marL="285750" indent="-285750" eaLnBrk="0" fontAlgn="base" hangingPunct="0">
              <a:lnSpc>
                <a:spcPct val="150000"/>
              </a:lnSpc>
              <a:spcBef>
                <a:spcPct val="0"/>
              </a:spcBef>
              <a:spcAft>
                <a:spcPct val="0"/>
              </a:spcAft>
              <a:buFont typeface="Wingdings" panose="05000000000000000000" pitchFamily="2" charset="2"/>
              <a:buChar char="ü"/>
            </a:pPr>
            <a:r>
              <a:rPr kumimoji="0" lang="en-US" altLang="en-US" b="0" i="0" u="none" strike="noStrike" cap="none" normalizeH="0" baseline="0" dirty="0">
                <a:ln>
                  <a:noFill/>
                </a:ln>
                <a:solidFill>
                  <a:schemeClr val="bg1"/>
                </a:solidFill>
                <a:effectLst/>
              </a:rPr>
              <a:t>Found data discrepancies and duplicates in doctor id values </a:t>
            </a:r>
            <a:r>
              <a:rPr lang="en-US" altLang="en-US" dirty="0">
                <a:solidFill>
                  <a:schemeClr val="bg1"/>
                </a:solidFill>
              </a:rPr>
              <a:t>and replaced incorrect IDs with standardized </a:t>
            </a:r>
            <a:r>
              <a:rPr kumimoji="0" lang="en-US" altLang="en-US" b="0" i="0" u="none" strike="noStrike" cap="none" normalizeH="0" baseline="0" dirty="0">
                <a:ln>
                  <a:noFill/>
                </a:ln>
                <a:solidFill>
                  <a:schemeClr val="bg1"/>
                </a:solidFill>
                <a:effectLst/>
              </a:rPr>
              <a:t>values.</a:t>
            </a:r>
          </a:p>
          <a:p>
            <a:pPr marL="285750" indent="-285750" eaLnBrk="0" fontAlgn="base" hangingPunct="0">
              <a:lnSpc>
                <a:spcPct val="200000"/>
              </a:lnSpc>
              <a:spcBef>
                <a:spcPct val="0"/>
              </a:spcBef>
              <a:spcAft>
                <a:spcPct val="0"/>
              </a:spcAft>
              <a:buFont typeface="Wingdings" panose="05000000000000000000" pitchFamily="2" charset="2"/>
              <a:buChar char="ü"/>
            </a:pPr>
            <a:r>
              <a:rPr kumimoji="0" lang="en-US" altLang="en-US" b="0" i="0" u="none" strike="noStrike" cap="none" normalizeH="0" baseline="0" dirty="0">
                <a:ln>
                  <a:noFill/>
                </a:ln>
                <a:solidFill>
                  <a:schemeClr val="bg1"/>
                </a:solidFill>
                <a:effectLst/>
              </a:rPr>
              <a:t>Prepared a clean, consistent, and analysis-ready dataset for further analysis</a:t>
            </a:r>
          </a:p>
          <a:p>
            <a:pPr marR="0" lvl="0" algn="l" defTabSz="914400" rtl="0" eaLnBrk="0" fontAlgn="base" latinLnBrk="0" hangingPunct="0">
              <a:lnSpc>
                <a:spcPct val="200000"/>
              </a:lnSpc>
              <a:spcBef>
                <a:spcPct val="0"/>
              </a:spcBef>
              <a:spcAft>
                <a:spcPct val="0"/>
              </a:spcAft>
              <a:buClrTx/>
              <a:buSzTx/>
              <a:tabLst/>
            </a:pPr>
            <a:br>
              <a:rPr kumimoji="0" lang="en-US" altLang="en-US" b="0" i="0" u="none" strike="noStrike" cap="none" normalizeH="0" baseline="0" dirty="0">
                <a:ln>
                  <a:noFill/>
                </a:ln>
                <a:solidFill>
                  <a:schemeClr val="bg1"/>
                </a:solidFill>
                <a:effectLst/>
              </a:rPr>
            </a:br>
            <a:endParaRPr lang="en-US" dirty="0"/>
          </a:p>
        </p:txBody>
      </p:sp>
      <p:pic>
        <p:nvPicPr>
          <p:cNvPr id="6" name="Graphic 5" descr="Database with solid fill">
            <a:extLst>
              <a:ext uri="{FF2B5EF4-FFF2-40B4-BE49-F238E27FC236}">
                <a16:creationId xmlns:a16="http://schemas.microsoft.com/office/drawing/2014/main" id="{8174BADA-5A96-1C18-F57F-AEA26BE1F7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4072" y="852017"/>
            <a:ext cx="512336" cy="451267"/>
          </a:xfrm>
          <a:prstGeom prst="rect">
            <a:avLst/>
          </a:prstGeom>
        </p:spPr>
      </p:pic>
    </p:spTree>
    <p:extLst>
      <p:ext uri="{BB962C8B-B14F-4D97-AF65-F5344CB8AC3E}">
        <p14:creationId xmlns:p14="http://schemas.microsoft.com/office/powerpoint/2010/main" val="3697691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Worm view of buildings">
            <a:extLst>
              <a:ext uri="{FF2B5EF4-FFF2-40B4-BE49-F238E27FC236}">
                <a16:creationId xmlns:a16="http://schemas.microsoft.com/office/drawing/2014/main" id="{094A5D1B-B8BE-4CE8-8D90-3F36D4EADDEA}"/>
              </a:ext>
              <a:ext uri="{C183D7F6-B498-43B3-948B-1728B52AA6E4}">
                <adec:decorative xmlns:adec="http://schemas.microsoft.com/office/drawing/2017/decorative" val="0"/>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24" name="Rectangle 23">
            <a:extLst>
              <a:ext uri="{FF2B5EF4-FFF2-40B4-BE49-F238E27FC236}">
                <a16:creationId xmlns:a16="http://schemas.microsoft.com/office/drawing/2014/main" id="{4C9191F1-E8DF-4B64-8A28-BC458F6A039C}"/>
              </a:ext>
              <a:ext uri="{C183D7F6-B498-43B3-948B-1728B52AA6E4}">
                <adec:decorative xmlns:adec="http://schemas.microsoft.com/office/drawing/2017/decorative" val="1"/>
              </a:ext>
            </a:extLst>
          </p:cNvPr>
          <p:cNvSpPr/>
          <p:nvPr/>
        </p:nvSpPr>
        <p:spPr>
          <a:xfrm>
            <a:off x="0" y="0"/>
            <a:ext cx="12248711" cy="6940485"/>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a:xfrm>
            <a:off x="1041304" y="539398"/>
            <a:ext cx="10534460" cy="670184"/>
          </a:xfrm>
        </p:spPr>
        <p:txBody>
          <a:bodyPr/>
          <a:lstStyle/>
          <a:p>
            <a:r>
              <a:rPr lang="en-US" dirty="0"/>
              <a:t>Admissions  Trend &amp; Cost Analysis by  Department</a:t>
            </a:r>
          </a:p>
        </p:txBody>
      </p:sp>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4</a:t>
            </a:fld>
            <a:endParaRPr lang="en-US" dirty="0"/>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a:off x="1054604" y="962599"/>
            <a:ext cx="3470764" cy="247084"/>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33" name="Rectangle 32">
            <a:extLst>
              <a:ext uri="{FF2B5EF4-FFF2-40B4-BE49-F238E27FC236}">
                <a16:creationId xmlns:a16="http://schemas.microsoft.com/office/drawing/2014/main" id="{DF55647B-6250-409F-984B-A2399BBF5119}"/>
              </a:ext>
              <a:ext uri="{C183D7F6-B498-43B3-948B-1728B52AA6E4}">
                <adec:decorative xmlns:adec="http://schemas.microsoft.com/office/drawing/2017/decorative" val="1"/>
              </a:ext>
            </a:extLst>
          </p:cNvPr>
          <p:cNvSpPr/>
          <p:nvPr/>
        </p:nvSpPr>
        <p:spPr>
          <a:xfrm>
            <a:off x="5635526" y="3457739"/>
            <a:ext cx="992451" cy="992451"/>
          </a:xfrm>
          <a:prstGeom prst="rect">
            <a:avLst/>
          </a:prstGeom>
          <a:noFill/>
          <a:ln w="6350">
            <a:solidFill>
              <a:schemeClr val="bg1">
                <a:lumMod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7" name="Connector: Elbow 106">
            <a:extLst>
              <a:ext uri="{FF2B5EF4-FFF2-40B4-BE49-F238E27FC236}">
                <a16:creationId xmlns:a16="http://schemas.microsoft.com/office/drawing/2014/main" id="{8B2CA833-558A-4C6C-9757-5A1138094506}"/>
              </a:ext>
              <a:ext uri="{C183D7F6-B498-43B3-948B-1728B52AA6E4}">
                <adec:decorative xmlns:adec="http://schemas.microsoft.com/office/drawing/2017/decorative" val="1"/>
              </a:ext>
            </a:extLst>
          </p:cNvPr>
          <p:cNvCxnSpPr>
            <a:cxnSpLocks/>
          </p:cNvCxnSpPr>
          <p:nvPr/>
        </p:nvCxnSpPr>
        <p:spPr>
          <a:xfrm rot="10800000" flipV="1">
            <a:off x="7493447" y="5905324"/>
            <a:ext cx="841560" cy="97241"/>
          </a:xfrm>
          <a:prstGeom prst="bentConnector3">
            <a:avLst>
              <a:gd name="adj1" fmla="val 50000"/>
            </a:avLst>
          </a:prstGeom>
          <a:ln>
            <a:solidFill>
              <a:schemeClr val="bg1">
                <a:alpha val="20000"/>
              </a:schemeClr>
            </a:solidFill>
            <a:headEnd type="oval" w="sm" len="sm"/>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3B666A9-3C42-090A-0119-7A2F8B1C8356}"/>
              </a:ext>
            </a:extLst>
          </p:cNvPr>
          <p:cNvSpPr txBox="1"/>
          <p:nvPr/>
        </p:nvSpPr>
        <p:spPr>
          <a:xfrm>
            <a:off x="722099" y="1840006"/>
            <a:ext cx="10534460" cy="4247317"/>
          </a:xfrm>
          <a:prstGeom prst="rect">
            <a:avLst/>
          </a:prstGeom>
          <a:noFill/>
        </p:spPr>
        <p:txBody>
          <a:bodyPr wrap="square" rtlCol="0">
            <a:spAutoFit/>
          </a:bodyPr>
          <a:lstStyle/>
          <a:p>
            <a:r>
              <a:rPr lang="en-US" b="1" dirty="0">
                <a:solidFill>
                  <a:schemeClr val="bg1"/>
                </a:solidFill>
              </a:rPr>
              <a:t>A. Calculate the number of admissions per department per month</a:t>
            </a:r>
          </a:p>
          <a:p>
            <a:br>
              <a:rPr lang="en-US" b="1" dirty="0">
                <a:solidFill>
                  <a:schemeClr val="bg1"/>
                </a:solidFill>
              </a:rPr>
            </a:br>
            <a:r>
              <a:rPr lang="en-US" b="1" u="sng" dirty="0">
                <a:solidFill>
                  <a:schemeClr val="bg1"/>
                </a:solidFill>
              </a:rPr>
              <a:t>Insights:</a:t>
            </a:r>
          </a:p>
          <a:p>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Admissions remained steady across departments, mostly ranging between 480–550 per month. </a:t>
            </a:r>
          </a:p>
          <a:p>
            <a:pPr marL="285750" indent="-285750">
              <a:buFont typeface="Wingdings" panose="05000000000000000000" pitchFamily="2" charset="2"/>
              <a:buChar char="Ø"/>
            </a:pPr>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Slight peaks were observed in March, October, and December. Emergency &amp; Pediatrics together handle ~25% of total hospital admissions annually, each crossing 6,300 patients.</a:t>
            </a:r>
            <a:endParaRPr lang="en-US" b="1" dirty="0">
              <a:solidFill>
                <a:schemeClr val="bg1"/>
              </a:solidFill>
            </a:endParaRPr>
          </a:p>
          <a:p>
            <a:endParaRPr lang="en-US" b="1" dirty="0">
              <a:solidFill>
                <a:schemeClr val="bg1"/>
              </a:solidFill>
            </a:endParaRPr>
          </a:p>
          <a:p>
            <a:r>
              <a:rPr lang="en-US" b="1" dirty="0">
                <a:solidFill>
                  <a:schemeClr val="bg1"/>
                </a:solidFill>
              </a:rPr>
              <a:t>B. Find the average treatment cost per department</a:t>
            </a:r>
          </a:p>
          <a:p>
            <a:br>
              <a:rPr lang="en-US" b="1" dirty="0">
                <a:solidFill>
                  <a:schemeClr val="bg1"/>
                </a:solidFill>
              </a:rPr>
            </a:br>
            <a:r>
              <a:rPr lang="en-US" b="1" u="sng" dirty="0">
                <a:solidFill>
                  <a:schemeClr val="bg1"/>
                </a:solidFill>
              </a:rPr>
              <a:t>Insights:</a:t>
            </a:r>
            <a:endParaRPr lang="en-US" b="1" dirty="0">
              <a:solidFill>
                <a:schemeClr val="bg1"/>
              </a:solidFill>
            </a:endParaRPr>
          </a:p>
          <a:p>
            <a:endParaRPr lang="en-US" b="1" dirty="0">
              <a:solidFill>
                <a:schemeClr val="bg1"/>
              </a:solidFill>
            </a:endParaRPr>
          </a:p>
          <a:p>
            <a:pPr marL="285750" indent="-285750">
              <a:buFont typeface="Wingdings" panose="05000000000000000000" pitchFamily="2" charset="2"/>
              <a:buChar char="Ø"/>
            </a:pPr>
            <a:r>
              <a:rPr lang="en-US" dirty="0">
                <a:solidFill>
                  <a:schemeClr val="bg1"/>
                </a:solidFill>
              </a:rPr>
              <a:t>The analysis revealed that average treatment cost remained uniform across all departments, indicating a standardized pricing model.</a:t>
            </a:r>
          </a:p>
        </p:txBody>
      </p:sp>
      <p:sp>
        <p:nvSpPr>
          <p:cNvPr id="6" name="Rectangle 5">
            <a:extLst>
              <a:ext uri="{FF2B5EF4-FFF2-40B4-BE49-F238E27FC236}">
                <a16:creationId xmlns:a16="http://schemas.microsoft.com/office/drawing/2014/main" id="{53958D22-9C17-7A6B-0DD4-523A89A40209}"/>
              </a:ext>
            </a:extLst>
          </p:cNvPr>
          <p:cNvSpPr/>
          <p:nvPr/>
        </p:nvSpPr>
        <p:spPr>
          <a:xfrm>
            <a:off x="9817657" y="715617"/>
            <a:ext cx="1828800" cy="493965"/>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accent1"/>
                </a:solidFill>
                <a:effectLst>
                  <a:outerShdw blurRad="38100" dist="25400" dir="5400000" algn="ctr" rotWithShape="0">
                    <a:srgbClr val="6E747A">
                      <a:alpha val="43000"/>
                    </a:srgbClr>
                  </a:outerShdw>
                </a:effectLst>
              </a:rPr>
              <a:t>Task 1</a:t>
            </a:r>
          </a:p>
        </p:txBody>
      </p:sp>
      <p:pic>
        <p:nvPicPr>
          <p:cNvPr id="11" name="Graphic 10" descr="Books with solid fill">
            <a:extLst>
              <a:ext uri="{FF2B5EF4-FFF2-40B4-BE49-F238E27FC236}">
                <a16:creationId xmlns:a16="http://schemas.microsoft.com/office/drawing/2014/main" id="{4C6D99B6-D1CE-06B9-6C88-595C2A8EE6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7565" y="539398"/>
            <a:ext cx="553178" cy="573785"/>
          </a:xfrm>
          <a:prstGeom prst="rect">
            <a:avLst/>
          </a:prstGeom>
        </p:spPr>
      </p:pic>
    </p:spTree>
    <p:extLst>
      <p:ext uri="{BB962C8B-B14F-4D97-AF65-F5344CB8AC3E}">
        <p14:creationId xmlns:p14="http://schemas.microsoft.com/office/powerpoint/2010/main" val="71375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descr="Doctor standing in front of a computer&#10;">
            <a:extLst>
              <a:ext uri="{FF2B5EF4-FFF2-40B4-BE49-F238E27FC236}">
                <a16:creationId xmlns:a16="http://schemas.microsoft.com/office/drawing/2014/main" id="{D4AB4507-F77A-44A5-B290-3F3D4817B7BD}"/>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308211" y="301352"/>
            <a:ext cx="11832000" cy="6513922"/>
          </a:xfrm>
        </p:spPr>
      </p:pic>
      <p:sp>
        <p:nvSpPr>
          <p:cNvPr id="19" name="Rectangle 18">
            <a:extLst>
              <a:ext uri="{FF2B5EF4-FFF2-40B4-BE49-F238E27FC236}">
                <a16:creationId xmlns:a16="http://schemas.microsoft.com/office/drawing/2014/main" id="{A4592135-A11E-4178-A320-510C4B7492A3}"/>
              </a:ext>
              <a:ext uri="{C183D7F6-B498-43B3-948B-1728B52AA6E4}">
                <adec:decorative xmlns:adec="http://schemas.microsoft.com/office/drawing/2017/decorative" val="1"/>
              </a:ext>
            </a:extLst>
          </p:cNvPr>
          <p:cNvSpPr/>
          <p:nvPr/>
        </p:nvSpPr>
        <p:spPr>
          <a:xfrm>
            <a:off x="-178905" y="-203488"/>
            <a:ext cx="12678020" cy="7200064"/>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3" name="Title 2">
            <a:extLst>
              <a:ext uri="{FF2B5EF4-FFF2-40B4-BE49-F238E27FC236}">
                <a16:creationId xmlns:a16="http://schemas.microsoft.com/office/drawing/2014/main" id="{1C499D5A-91D2-45BF-B204-6FDFFE97FFA9}"/>
              </a:ext>
            </a:extLst>
          </p:cNvPr>
          <p:cNvSpPr>
            <a:spLocks noGrp="1"/>
          </p:cNvSpPr>
          <p:nvPr>
            <p:ph type="title"/>
          </p:nvPr>
        </p:nvSpPr>
        <p:spPr>
          <a:xfrm>
            <a:off x="472751" y="449949"/>
            <a:ext cx="9537644" cy="730237"/>
          </a:xfrm>
        </p:spPr>
        <p:txBody>
          <a:bodyPr/>
          <a:lstStyle/>
          <a:p>
            <a:r>
              <a:rPr lang="en-US" sz="2800" dirty="0"/>
              <a:t>Top Performing Doctors &amp; recovery rate by age group</a:t>
            </a:r>
          </a:p>
        </p:txBody>
      </p:sp>
      <p:cxnSp>
        <p:nvCxnSpPr>
          <p:cNvPr id="43" name="Straight Connector 42">
            <a:extLst>
              <a:ext uri="{FF2B5EF4-FFF2-40B4-BE49-F238E27FC236}">
                <a16:creationId xmlns:a16="http://schemas.microsoft.com/office/drawing/2014/main" id="{D14DCD19-05BE-4D3F-A9E1-A9353D50950B}"/>
              </a:ext>
              <a:ext uri="{C183D7F6-B498-43B3-948B-1728B52AA6E4}">
                <adec:decorative xmlns:adec="http://schemas.microsoft.com/office/drawing/2017/decorative" val="1"/>
              </a:ext>
            </a:extLst>
          </p:cNvPr>
          <p:cNvCxnSpPr>
            <a:cxnSpLocks/>
          </p:cNvCxnSpPr>
          <p:nvPr/>
        </p:nvCxnSpPr>
        <p:spPr>
          <a:xfrm>
            <a:off x="4586332" y="2752415"/>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9527B99-C015-4364-A9D0-E9EF5F8CC859}"/>
              </a:ext>
              <a:ext uri="{C183D7F6-B498-43B3-948B-1728B52AA6E4}">
                <adec:decorative xmlns:adec="http://schemas.microsoft.com/office/drawing/2017/decorative" val="1"/>
              </a:ext>
            </a:extLst>
          </p:cNvPr>
          <p:cNvCxnSpPr>
            <a:cxnSpLocks/>
          </p:cNvCxnSpPr>
          <p:nvPr/>
        </p:nvCxnSpPr>
        <p:spPr>
          <a:xfrm>
            <a:off x="8147738" y="2752415"/>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67" name="object 7" descr="Beige rectangle">
            <a:extLst>
              <a:ext uri="{FF2B5EF4-FFF2-40B4-BE49-F238E27FC236}">
                <a16:creationId xmlns:a16="http://schemas.microsoft.com/office/drawing/2014/main" id="{6167A703-9B37-469C-853D-0CB6C1F4D8F0}"/>
              </a:ext>
            </a:extLst>
          </p:cNvPr>
          <p:cNvSpPr/>
          <p:nvPr/>
        </p:nvSpPr>
        <p:spPr bwMode="white">
          <a:xfrm flipV="1">
            <a:off x="472751" y="790295"/>
            <a:ext cx="2812282"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41" name="Rectangle 40">
            <a:extLst>
              <a:ext uri="{FF2B5EF4-FFF2-40B4-BE49-F238E27FC236}">
                <a16:creationId xmlns:a16="http://schemas.microsoft.com/office/drawing/2014/main" id="{F1E4A73F-DB3E-4AF4-A250-CB257055A3B2}"/>
              </a:ext>
              <a:ext uri="{C183D7F6-B498-43B3-948B-1728B52AA6E4}">
                <adec:decorative xmlns:adec="http://schemas.microsoft.com/office/drawing/2017/decorative" val="1"/>
              </a:ext>
            </a:extLst>
          </p:cNvPr>
          <p:cNvSpPr>
            <a:spLocks/>
          </p:cNvSpPr>
          <p:nvPr/>
        </p:nvSpPr>
        <p:spPr>
          <a:xfrm>
            <a:off x="1026398" y="1926071"/>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A651BC50-F263-44D5-B1E1-32D5EA7EA21F}"/>
              </a:ext>
              <a:ext uri="{C183D7F6-B498-43B3-948B-1728B52AA6E4}">
                <adec:decorative xmlns:adec="http://schemas.microsoft.com/office/drawing/2017/decorative" val="1"/>
              </a:ext>
            </a:extLst>
          </p:cNvPr>
          <p:cNvSpPr>
            <a:spLocks/>
          </p:cNvSpPr>
          <p:nvPr/>
        </p:nvSpPr>
        <p:spPr>
          <a:xfrm>
            <a:off x="4586332" y="1926071"/>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100AA00A-91AC-4400-AF7A-EAB0770006ED}"/>
              </a:ext>
              <a:ext uri="{C183D7F6-B498-43B3-948B-1728B52AA6E4}">
                <adec:decorative xmlns:adec="http://schemas.microsoft.com/office/drawing/2017/decorative" val="1"/>
              </a:ext>
            </a:extLst>
          </p:cNvPr>
          <p:cNvSpPr>
            <a:spLocks/>
          </p:cNvSpPr>
          <p:nvPr/>
        </p:nvSpPr>
        <p:spPr>
          <a:xfrm>
            <a:off x="8147738" y="1926071"/>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78CCE096-0925-41C0-AF48-23E7DBC19872}"/>
              </a:ext>
              <a:ext uri="{C183D7F6-B498-43B3-948B-1728B52AA6E4}">
                <adec:decorative xmlns:adec="http://schemas.microsoft.com/office/drawing/2017/decorative" val="1"/>
              </a:ext>
            </a:extLst>
          </p:cNvPr>
          <p:cNvSpPr>
            <a:spLocks/>
          </p:cNvSpPr>
          <p:nvPr/>
        </p:nvSpPr>
        <p:spPr>
          <a:xfrm>
            <a:off x="1026398" y="4082279"/>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275C6854-B085-4AC0-984F-E73F9C388471}"/>
              </a:ext>
              <a:ext uri="{C183D7F6-B498-43B3-948B-1728B52AA6E4}">
                <adec:decorative xmlns:adec="http://schemas.microsoft.com/office/drawing/2017/decorative" val="1"/>
              </a:ext>
            </a:extLst>
          </p:cNvPr>
          <p:cNvSpPr>
            <a:spLocks/>
          </p:cNvSpPr>
          <p:nvPr/>
        </p:nvSpPr>
        <p:spPr>
          <a:xfrm>
            <a:off x="4586332" y="4082279"/>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4" name="Straight Connector 43">
            <a:extLst>
              <a:ext uri="{FF2B5EF4-FFF2-40B4-BE49-F238E27FC236}">
                <a16:creationId xmlns:a16="http://schemas.microsoft.com/office/drawing/2014/main" id="{E2EAB4BE-ED20-4BB8-A23B-B02A1115A828}"/>
              </a:ext>
              <a:ext uri="{C183D7F6-B498-43B3-948B-1728B52AA6E4}">
                <adec:decorative xmlns:adec="http://schemas.microsoft.com/office/drawing/2017/decorative" val="1"/>
              </a:ext>
            </a:extLst>
          </p:cNvPr>
          <p:cNvCxnSpPr>
            <a:cxnSpLocks/>
          </p:cNvCxnSpPr>
          <p:nvPr/>
        </p:nvCxnSpPr>
        <p:spPr>
          <a:xfrm>
            <a:off x="4586332" y="4874513"/>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36AD0D7-7386-8A23-3B4A-E4AA840336FE}"/>
              </a:ext>
            </a:extLst>
          </p:cNvPr>
          <p:cNvSpPr txBox="1"/>
          <p:nvPr/>
        </p:nvSpPr>
        <p:spPr>
          <a:xfrm>
            <a:off x="275301" y="1260411"/>
            <a:ext cx="11641399" cy="2523768"/>
          </a:xfrm>
          <a:prstGeom prst="rect">
            <a:avLst/>
          </a:prstGeom>
          <a:noFill/>
        </p:spPr>
        <p:txBody>
          <a:bodyPr wrap="square" rtlCol="0">
            <a:spAutoFit/>
          </a:bodyPr>
          <a:lstStyle/>
          <a:p>
            <a:pPr marL="342900" indent="-342900">
              <a:buFontTx/>
              <a:buAutoNum type="alphaUcPeriod"/>
            </a:pPr>
            <a:r>
              <a:rPr lang="en-US" b="1" dirty="0">
                <a:solidFill>
                  <a:schemeClr val="bg1"/>
                </a:solidFill>
              </a:rPr>
              <a:t>Join admissions with doctors to identify top performing doctors by department.</a:t>
            </a:r>
          </a:p>
          <a:p>
            <a:pPr marL="342900" indent="-342900">
              <a:buFontTx/>
              <a:buAutoNum type="alphaUcPeriod"/>
            </a:pPr>
            <a:endParaRPr lang="en-US" b="1" dirty="0">
              <a:solidFill>
                <a:schemeClr val="bg1"/>
              </a:solidFill>
            </a:endParaRPr>
          </a:p>
          <a:p>
            <a:r>
              <a:rPr lang="en-US" b="1" u="sng" dirty="0">
                <a:solidFill>
                  <a:schemeClr val="bg1"/>
                </a:solidFill>
              </a:rPr>
              <a:t>Insights:</a:t>
            </a:r>
            <a:endParaRPr lang="en-US" b="1" dirty="0">
              <a:solidFill>
                <a:schemeClr val="bg1"/>
              </a:solidFill>
            </a:endParaRPr>
          </a:p>
          <a:p>
            <a:pPr marL="342900" indent="-342900">
              <a:buAutoNum type="alphaUcPeriod"/>
            </a:pPr>
            <a:endParaRPr lang="en-US" b="1" dirty="0">
              <a:solidFill>
                <a:schemeClr val="bg1"/>
              </a:solidFill>
            </a:endParaRPr>
          </a:p>
          <a:p>
            <a:pPr marL="285750" indent="-285750">
              <a:buFont typeface="Wingdings" panose="05000000000000000000" pitchFamily="2" charset="2"/>
              <a:buChar char="Ø"/>
            </a:pPr>
            <a:r>
              <a:rPr lang="en-US" sz="1600" dirty="0">
                <a:solidFill>
                  <a:schemeClr val="bg1"/>
                </a:solidFill>
              </a:rPr>
              <a:t>Scarcity of top talent (15 of 10,000) highlights dangerous single-doctor dependency  training other rising stars through top performers is essential to handle growing patient volumes.</a:t>
            </a:r>
            <a:endParaRPr lang="en-US" dirty="0">
              <a:solidFill>
                <a:schemeClr val="bg1"/>
              </a:solidFill>
            </a:endParaRPr>
          </a:p>
          <a:p>
            <a:pPr marL="285750" indent="-285750">
              <a:buFont typeface="Wingdings" panose="05000000000000000000" pitchFamily="2" charset="2"/>
              <a:buChar char="Ø"/>
            </a:pPr>
            <a:endParaRPr lang="en-US" dirty="0">
              <a:solidFill>
                <a:schemeClr val="bg1"/>
              </a:solidFill>
            </a:endParaRPr>
          </a:p>
          <a:p>
            <a:pPr marL="285750" indent="-285750">
              <a:buFont typeface="Wingdings" panose="05000000000000000000" pitchFamily="2" charset="2"/>
              <a:buChar char="Ø"/>
            </a:pPr>
            <a:endParaRPr lang="en-US" dirty="0">
              <a:solidFill>
                <a:schemeClr val="bg1"/>
              </a:solidFill>
            </a:endParaRPr>
          </a:p>
          <a:p>
            <a:pPr marL="285750" indent="-285750">
              <a:buFont typeface="Wingdings" panose="05000000000000000000" pitchFamily="2" charset="2"/>
              <a:buChar char="Ø"/>
            </a:pPr>
            <a:endParaRPr lang="en-US" dirty="0">
              <a:solidFill>
                <a:schemeClr val="bg1"/>
              </a:solidFill>
            </a:endParaRPr>
          </a:p>
        </p:txBody>
      </p:sp>
      <p:sp>
        <p:nvSpPr>
          <p:cNvPr id="11" name="Rectangle 10">
            <a:extLst>
              <a:ext uri="{FF2B5EF4-FFF2-40B4-BE49-F238E27FC236}">
                <a16:creationId xmlns:a16="http://schemas.microsoft.com/office/drawing/2014/main" id="{A8A83A36-1BF2-712C-2206-7B9E053AE25F}"/>
              </a:ext>
            </a:extLst>
          </p:cNvPr>
          <p:cNvSpPr/>
          <p:nvPr/>
        </p:nvSpPr>
        <p:spPr>
          <a:xfrm>
            <a:off x="10311411" y="521870"/>
            <a:ext cx="1828800" cy="493965"/>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accent1"/>
                </a:solidFill>
                <a:effectLst>
                  <a:outerShdw blurRad="38100" dist="25400" dir="5400000" algn="ctr" rotWithShape="0">
                    <a:srgbClr val="6E747A">
                      <a:alpha val="43000"/>
                    </a:srgbClr>
                  </a:outerShdw>
                </a:effectLst>
              </a:rPr>
              <a:t>Task 2</a:t>
            </a:r>
          </a:p>
        </p:txBody>
      </p:sp>
      <p:sp>
        <p:nvSpPr>
          <p:cNvPr id="12" name="TextBox 11">
            <a:extLst>
              <a:ext uri="{FF2B5EF4-FFF2-40B4-BE49-F238E27FC236}">
                <a16:creationId xmlns:a16="http://schemas.microsoft.com/office/drawing/2014/main" id="{372B638A-9640-8942-C3F4-485C6C4FD02E}"/>
              </a:ext>
            </a:extLst>
          </p:cNvPr>
          <p:cNvSpPr txBox="1"/>
          <p:nvPr/>
        </p:nvSpPr>
        <p:spPr>
          <a:xfrm>
            <a:off x="219649" y="3086340"/>
            <a:ext cx="12279466" cy="2492990"/>
          </a:xfrm>
          <a:prstGeom prst="rect">
            <a:avLst/>
          </a:prstGeom>
          <a:noFill/>
        </p:spPr>
        <p:txBody>
          <a:bodyPr wrap="square" rtlCol="0">
            <a:spAutoFit/>
          </a:bodyPr>
          <a:lstStyle/>
          <a:p>
            <a:r>
              <a:rPr lang="en-US" b="1" dirty="0">
                <a:solidFill>
                  <a:schemeClr val="bg1"/>
                </a:solidFill>
              </a:rPr>
              <a:t>B. Join treatments with patient data to evaluate recovery rate by age group.</a:t>
            </a:r>
          </a:p>
          <a:p>
            <a:endParaRPr lang="en-US" b="1" u="sng" dirty="0">
              <a:solidFill>
                <a:schemeClr val="bg1"/>
              </a:solidFill>
            </a:endParaRPr>
          </a:p>
          <a:p>
            <a:r>
              <a:rPr lang="en-US" b="1" u="sng" dirty="0">
                <a:solidFill>
                  <a:schemeClr val="bg1"/>
                </a:solidFill>
              </a:rPr>
              <a:t>Insights:</a:t>
            </a:r>
          </a:p>
          <a:p>
            <a:endParaRPr lang="en-US" b="1" u="sng" dirty="0">
              <a:solidFill>
                <a:schemeClr val="bg1"/>
              </a:solidFill>
            </a:endParaRPr>
          </a:p>
          <a:p>
            <a:pPr marL="285750" indent="-285750">
              <a:buFont typeface="Wingdings" panose="05000000000000000000" pitchFamily="2" charset="2"/>
              <a:buChar char="Ø"/>
            </a:pPr>
            <a:r>
              <a:rPr lang="en-US" sz="1600" dirty="0">
                <a:solidFill>
                  <a:schemeClr val="bg1"/>
                </a:solidFill>
              </a:rPr>
              <a:t>Recovery rates were consistently high across all age groups, with the 0–20 age group performing slightly better (80.19%). This indicates effective treatment delivery and stable outcomes across demographics, suggesting no immediate need for age-specific interventions.</a:t>
            </a:r>
          </a:p>
          <a:p>
            <a:endParaRPr lang="en-US" b="1" dirty="0">
              <a:solidFill>
                <a:schemeClr val="bg1"/>
              </a:solidFill>
            </a:endParaRPr>
          </a:p>
          <a:p>
            <a:endParaRPr lang="en-US" dirty="0"/>
          </a:p>
        </p:txBody>
      </p:sp>
      <p:graphicFrame>
        <p:nvGraphicFramePr>
          <p:cNvPr id="6" name="Table 5">
            <a:extLst>
              <a:ext uri="{FF2B5EF4-FFF2-40B4-BE49-F238E27FC236}">
                <a16:creationId xmlns:a16="http://schemas.microsoft.com/office/drawing/2014/main" id="{445D9A06-0E46-0C69-F38E-6B97391B63E1}"/>
              </a:ext>
            </a:extLst>
          </p:cNvPr>
          <p:cNvGraphicFramePr>
            <a:graphicFrameLocks noGrp="1"/>
          </p:cNvGraphicFramePr>
          <p:nvPr>
            <p:extLst>
              <p:ext uri="{D42A27DB-BD31-4B8C-83A1-F6EECF244321}">
                <p14:modId xmlns:p14="http://schemas.microsoft.com/office/powerpoint/2010/main" val="2671492640"/>
              </p:ext>
            </p:extLst>
          </p:nvPr>
        </p:nvGraphicFramePr>
        <p:xfrm>
          <a:off x="3167271" y="4949015"/>
          <a:ext cx="5443453" cy="1944760"/>
        </p:xfrm>
        <a:graphic>
          <a:graphicData uri="http://schemas.openxmlformats.org/drawingml/2006/table">
            <a:tbl>
              <a:tblPr>
                <a:tableStyleId>{306799F8-075E-4A3A-A7F6-7FBC6576F1A4}</a:tableStyleId>
              </a:tblPr>
              <a:tblGrid>
                <a:gridCol w="1042894">
                  <a:extLst>
                    <a:ext uri="{9D8B030D-6E8A-4147-A177-3AD203B41FA5}">
                      <a16:colId xmlns:a16="http://schemas.microsoft.com/office/drawing/2014/main" val="992213893"/>
                    </a:ext>
                  </a:extLst>
                </a:gridCol>
                <a:gridCol w="1428338">
                  <a:extLst>
                    <a:ext uri="{9D8B030D-6E8A-4147-A177-3AD203B41FA5}">
                      <a16:colId xmlns:a16="http://schemas.microsoft.com/office/drawing/2014/main" val="4220872211"/>
                    </a:ext>
                  </a:extLst>
                </a:gridCol>
                <a:gridCol w="1546325">
                  <a:extLst>
                    <a:ext uri="{9D8B030D-6E8A-4147-A177-3AD203B41FA5}">
                      <a16:colId xmlns:a16="http://schemas.microsoft.com/office/drawing/2014/main" val="1307629032"/>
                    </a:ext>
                  </a:extLst>
                </a:gridCol>
                <a:gridCol w="1425896">
                  <a:extLst>
                    <a:ext uri="{9D8B030D-6E8A-4147-A177-3AD203B41FA5}">
                      <a16:colId xmlns:a16="http://schemas.microsoft.com/office/drawing/2014/main" val="2890515356"/>
                    </a:ext>
                  </a:extLst>
                </a:gridCol>
              </a:tblGrid>
              <a:tr h="516890">
                <a:tc>
                  <a:txBody>
                    <a:bodyPr/>
                    <a:lstStyle/>
                    <a:p>
                      <a:pPr algn="ctr" fontAlgn="b"/>
                      <a:r>
                        <a:rPr lang="en-US" sz="1200" b="0" u="none" strike="noStrike" dirty="0">
                          <a:solidFill>
                            <a:schemeClr val="bg1"/>
                          </a:solidFill>
                          <a:effectLst>
                            <a:outerShdw blurRad="50800" dist="38100" dir="18900000" algn="bl" rotWithShape="0">
                              <a:prstClr val="black">
                                <a:alpha val="40000"/>
                              </a:prstClr>
                            </a:outerShdw>
                          </a:effectLst>
                        </a:rPr>
                        <a:t>Age group</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chemeClr val="bg1"/>
                          </a:solidFill>
                          <a:effectLst>
                            <a:outerShdw blurRad="50800" dist="38100" dir="18900000" algn="bl" rotWithShape="0">
                              <a:prstClr val="black">
                                <a:alpha val="40000"/>
                              </a:prstClr>
                            </a:outerShdw>
                          </a:effectLst>
                        </a:rPr>
                        <a:t>Total patients</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chemeClr val="bg1"/>
                          </a:solidFill>
                          <a:effectLst>
                            <a:outerShdw blurRad="50800" dist="38100" dir="18900000" algn="bl" rotWithShape="0">
                              <a:prstClr val="black">
                                <a:alpha val="40000"/>
                              </a:prstClr>
                            </a:outerShdw>
                          </a:effectLst>
                        </a:rPr>
                        <a:t>Recovered patients</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200" b="0" u="none" strike="noStrike" dirty="0">
                          <a:solidFill>
                            <a:schemeClr val="bg1"/>
                          </a:solidFill>
                          <a:effectLst>
                            <a:outerShdw blurRad="50800" dist="38100" dir="18900000" algn="bl" rotWithShape="0">
                              <a:prstClr val="black">
                                <a:alpha val="40000"/>
                              </a:prstClr>
                            </a:outerShdw>
                          </a:effectLst>
                        </a:rPr>
                        <a:t>Recovery rate%</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8805706"/>
                  </a:ext>
                </a:extLst>
              </a:tr>
              <a:tr h="285574">
                <a:tc>
                  <a:txBody>
                    <a:bodyPr/>
                    <a:lstStyle/>
                    <a:p>
                      <a:pPr algn="l" fontAlgn="b"/>
                      <a:r>
                        <a:rPr lang="en-US" sz="1200" b="0" u="none" strike="noStrike">
                          <a:solidFill>
                            <a:schemeClr val="bg1"/>
                          </a:solidFill>
                          <a:effectLst>
                            <a:outerShdw blurRad="50800" dist="38100" dir="18900000" algn="bl" rotWithShape="0">
                              <a:prstClr val="black">
                                <a:alpha val="40000"/>
                              </a:prstClr>
                            </a:outerShdw>
                          </a:effectLst>
                        </a:rPr>
                        <a:t>0-20</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dirty="0">
                          <a:solidFill>
                            <a:schemeClr val="bg1"/>
                          </a:solidFill>
                          <a:effectLst>
                            <a:outerShdw blurRad="50800" dist="38100" dir="18900000" algn="bl" rotWithShape="0">
                              <a:prstClr val="black">
                                <a:alpha val="40000"/>
                              </a:prstClr>
                            </a:outerShdw>
                          </a:effectLst>
                        </a:rPr>
                        <a:t>20913</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a:solidFill>
                            <a:schemeClr val="bg1"/>
                          </a:solidFill>
                          <a:effectLst>
                            <a:outerShdw blurRad="50800" dist="38100" dir="18900000" algn="bl" rotWithShape="0">
                              <a:prstClr val="black">
                                <a:alpha val="40000"/>
                              </a:prstClr>
                            </a:outerShdw>
                          </a:effectLst>
                        </a:rPr>
                        <a:t>16771</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dirty="0">
                          <a:solidFill>
                            <a:schemeClr val="bg1"/>
                          </a:solidFill>
                          <a:effectLst>
                            <a:outerShdw blurRad="50800" dist="38100" dir="18900000" algn="bl" rotWithShape="0">
                              <a:prstClr val="black">
                                <a:alpha val="40000"/>
                              </a:prstClr>
                            </a:outerShdw>
                          </a:effectLst>
                        </a:rPr>
                        <a:t>80.19</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8374469"/>
                  </a:ext>
                </a:extLst>
              </a:tr>
              <a:tr h="285574">
                <a:tc>
                  <a:txBody>
                    <a:bodyPr/>
                    <a:lstStyle/>
                    <a:p>
                      <a:pPr algn="l" fontAlgn="b"/>
                      <a:r>
                        <a:rPr lang="en-US" sz="1200" b="0" u="none" strike="noStrike">
                          <a:solidFill>
                            <a:schemeClr val="bg1"/>
                          </a:solidFill>
                          <a:effectLst>
                            <a:outerShdw blurRad="50800" dist="38100" dir="18900000" algn="bl" rotWithShape="0">
                              <a:prstClr val="black">
                                <a:alpha val="40000"/>
                              </a:prstClr>
                            </a:outerShdw>
                          </a:effectLst>
                        </a:rPr>
                        <a:t>21-40</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dirty="0">
                          <a:solidFill>
                            <a:schemeClr val="bg1"/>
                          </a:solidFill>
                          <a:effectLst>
                            <a:outerShdw blurRad="50800" dist="38100" dir="18900000" algn="bl" rotWithShape="0">
                              <a:prstClr val="black">
                                <a:alpha val="40000"/>
                              </a:prstClr>
                            </a:outerShdw>
                          </a:effectLst>
                        </a:rPr>
                        <a:t>20059</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100" b="0" u="none" strike="noStrike" dirty="0">
                          <a:solidFill>
                            <a:schemeClr val="bg1"/>
                          </a:solidFill>
                          <a:effectLst>
                            <a:outerShdw blurRad="50800" dist="38100" dir="18900000" algn="bl" rotWithShape="0">
                              <a:prstClr val="black">
                                <a:alpha val="40000"/>
                              </a:prstClr>
                            </a:outerShdw>
                          </a:effectLst>
                        </a:rPr>
                        <a:t>15947</a:t>
                      </a:r>
                      <a:endParaRPr lang="en-US" sz="11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dirty="0">
                          <a:solidFill>
                            <a:schemeClr val="bg1"/>
                          </a:solidFill>
                          <a:effectLst>
                            <a:outerShdw blurRad="50800" dist="38100" dir="18900000" algn="bl" rotWithShape="0">
                              <a:prstClr val="black">
                                <a:alpha val="40000"/>
                              </a:prstClr>
                            </a:outerShdw>
                          </a:effectLst>
                        </a:rPr>
                        <a:t>79.65</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345375"/>
                  </a:ext>
                </a:extLst>
              </a:tr>
              <a:tr h="285574">
                <a:tc>
                  <a:txBody>
                    <a:bodyPr/>
                    <a:lstStyle/>
                    <a:p>
                      <a:pPr algn="l" fontAlgn="b"/>
                      <a:r>
                        <a:rPr lang="en-US" sz="1200" b="0" u="none" strike="noStrike">
                          <a:solidFill>
                            <a:schemeClr val="bg1"/>
                          </a:solidFill>
                          <a:effectLst>
                            <a:outerShdw blurRad="50800" dist="38100" dir="18900000" algn="bl" rotWithShape="0">
                              <a:prstClr val="black">
                                <a:alpha val="40000"/>
                              </a:prstClr>
                            </a:outerShdw>
                          </a:effectLst>
                        </a:rPr>
                        <a:t>41-60</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a:solidFill>
                            <a:schemeClr val="bg1"/>
                          </a:solidFill>
                          <a:effectLst>
                            <a:outerShdw blurRad="50800" dist="38100" dir="18900000" algn="bl" rotWithShape="0">
                              <a:prstClr val="black">
                                <a:alpha val="40000"/>
                              </a:prstClr>
                            </a:outerShdw>
                          </a:effectLst>
                        </a:rPr>
                        <a:t>19862</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dirty="0">
                          <a:solidFill>
                            <a:schemeClr val="bg1"/>
                          </a:solidFill>
                          <a:effectLst>
                            <a:outerShdw blurRad="50800" dist="38100" dir="18900000" algn="bl" rotWithShape="0">
                              <a:prstClr val="black">
                                <a:alpha val="40000"/>
                              </a:prstClr>
                            </a:outerShdw>
                          </a:effectLst>
                        </a:rPr>
                        <a:t>15885</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dirty="0">
                          <a:solidFill>
                            <a:schemeClr val="bg1"/>
                          </a:solidFill>
                          <a:effectLst>
                            <a:outerShdw blurRad="50800" dist="38100" dir="18900000" algn="bl" rotWithShape="0">
                              <a:prstClr val="black">
                                <a:alpha val="40000"/>
                              </a:prstClr>
                            </a:outerShdw>
                          </a:effectLst>
                        </a:rPr>
                        <a:t>79.98</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438011"/>
                  </a:ext>
                </a:extLst>
              </a:tr>
              <a:tr h="285574">
                <a:tc>
                  <a:txBody>
                    <a:bodyPr/>
                    <a:lstStyle/>
                    <a:p>
                      <a:pPr algn="l" fontAlgn="b"/>
                      <a:r>
                        <a:rPr lang="en-US" sz="1200" b="0" u="none" strike="noStrike">
                          <a:solidFill>
                            <a:schemeClr val="bg1"/>
                          </a:solidFill>
                          <a:effectLst>
                            <a:outerShdw blurRad="50800" dist="38100" dir="18900000" algn="bl" rotWithShape="0">
                              <a:prstClr val="black">
                                <a:alpha val="40000"/>
                              </a:prstClr>
                            </a:outerShdw>
                          </a:effectLst>
                        </a:rPr>
                        <a:t>61-80</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a:solidFill>
                            <a:schemeClr val="bg1"/>
                          </a:solidFill>
                          <a:effectLst>
                            <a:outerShdw blurRad="50800" dist="38100" dir="18900000" algn="bl" rotWithShape="0">
                              <a:prstClr val="black">
                                <a:alpha val="40000"/>
                              </a:prstClr>
                            </a:outerShdw>
                          </a:effectLst>
                        </a:rPr>
                        <a:t>20115</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dirty="0">
                          <a:solidFill>
                            <a:schemeClr val="bg1"/>
                          </a:solidFill>
                          <a:effectLst>
                            <a:outerShdw blurRad="50800" dist="38100" dir="18900000" algn="bl" rotWithShape="0">
                              <a:prstClr val="black">
                                <a:alpha val="40000"/>
                              </a:prstClr>
                            </a:outerShdw>
                          </a:effectLst>
                        </a:rPr>
                        <a:t>16007</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a:solidFill>
                            <a:schemeClr val="bg1"/>
                          </a:solidFill>
                          <a:effectLst>
                            <a:outerShdw blurRad="50800" dist="38100" dir="18900000" algn="bl" rotWithShape="0">
                              <a:prstClr val="black">
                                <a:alpha val="40000"/>
                              </a:prstClr>
                            </a:outerShdw>
                          </a:effectLst>
                        </a:rPr>
                        <a:t>79.58</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36758"/>
                  </a:ext>
                </a:extLst>
              </a:tr>
              <a:tr h="285574">
                <a:tc>
                  <a:txBody>
                    <a:bodyPr/>
                    <a:lstStyle/>
                    <a:p>
                      <a:pPr algn="l" fontAlgn="b"/>
                      <a:r>
                        <a:rPr lang="en-US" sz="1200" b="0" u="none" strike="noStrike">
                          <a:solidFill>
                            <a:schemeClr val="bg1"/>
                          </a:solidFill>
                          <a:effectLst>
                            <a:outerShdw blurRad="50800" dist="38100" dir="18900000" algn="bl" rotWithShape="0">
                              <a:prstClr val="black">
                                <a:alpha val="40000"/>
                              </a:prstClr>
                            </a:outerShdw>
                          </a:effectLst>
                        </a:rPr>
                        <a:t>80+</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a:solidFill>
                            <a:schemeClr val="bg1"/>
                          </a:solidFill>
                          <a:effectLst>
                            <a:outerShdw blurRad="50800" dist="38100" dir="18900000" algn="bl" rotWithShape="0">
                              <a:prstClr val="black">
                                <a:alpha val="40000"/>
                              </a:prstClr>
                            </a:outerShdw>
                          </a:effectLst>
                        </a:rPr>
                        <a:t>19051</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a:solidFill>
                            <a:schemeClr val="bg1"/>
                          </a:solidFill>
                          <a:effectLst>
                            <a:outerShdw blurRad="50800" dist="38100" dir="18900000" algn="bl" rotWithShape="0">
                              <a:prstClr val="black">
                                <a:alpha val="40000"/>
                              </a:prstClr>
                            </a:outerShdw>
                          </a:effectLst>
                        </a:rPr>
                        <a:t>15189</a:t>
                      </a:r>
                      <a:endParaRPr lang="en-US" sz="1200" b="0" i="0" u="none" strike="noStrike">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200" b="0" u="none" strike="noStrike" dirty="0">
                          <a:solidFill>
                            <a:schemeClr val="bg1"/>
                          </a:solidFill>
                          <a:effectLst>
                            <a:outerShdw blurRad="50800" dist="38100" dir="18900000" algn="bl" rotWithShape="0">
                              <a:prstClr val="black">
                                <a:alpha val="40000"/>
                              </a:prstClr>
                            </a:outerShdw>
                          </a:effectLst>
                        </a:rPr>
                        <a:t>79.73</a:t>
                      </a:r>
                      <a:endParaRPr lang="en-US" sz="1200" b="0" i="0" u="none" strike="noStrike" dirty="0">
                        <a:solidFill>
                          <a:schemeClr val="bg1"/>
                        </a:solidFill>
                        <a:effectLst>
                          <a:outerShdw blurRad="50800" dist="38100" dir="18900000" algn="bl" rotWithShape="0">
                            <a:prstClr val="black">
                              <a:alpha val="40000"/>
                            </a:prstClr>
                          </a:outerShdw>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1663473"/>
                  </a:ext>
                </a:extLst>
              </a:tr>
            </a:tbl>
          </a:graphicData>
        </a:graphic>
      </p:graphicFrame>
      <p:pic>
        <p:nvPicPr>
          <p:cNvPr id="5" name="Graphic 4" descr="Stethoscope with solid fill">
            <a:extLst>
              <a:ext uri="{FF2B5EF4-FFF2-40B4-BE49-F238E27FC236}">
                <a16:creationId xmlns:a16="http://schemas.microsoft.com/office/drawing/2014/main" id="{1D7BEC21-4C3F-6A41-98D7-1F4D745D352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788" y="441412"/>
            <a:ext cx="519258" cy="519258"/>
          </a:xfrm>
          <a:prstGeom prst="rect">
            <a:avLst/>
          </a:prstGeom>
        </p:spPr>
      </p:pic>
    </p:spTree>
    <p:extLst>
      <p:ext uri="{BB962C8B-B14F-4D97-AF65-F5344CB8AC3E}">
        <p14:creationId xmlns:p14="http://schemas.microsoft.com/office/powerpoint/2010/main" val="175583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Worm view of buildings">
            <a:extLst>
              <a:ext uri="{FF2B5EF4-FFF2-40B4-BE49-F238E27FC236}">
                <a16:creationId xmlns:a16="http://schemas.microsoft.com/office/drawing/2014/main" id="{094A5D1B-B8BE-4CE8-8D90-3F36D4EADDEA}"/>
              </a:ext>
              <a:ext uri="{C183D7F6-B498-43B3-948B-1728B52AA6E4}">
                <adec:decorative xmlns:adec="http://schemas.microsoft.com/office/drawing/2017/decorative" val="0"/>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24" name="Rectangle 23">
            <a:extLst>
              <a:ext uri="{FF2B5EF4-FFF2-40B4-BE49-F238E27FC236}">
                <a16:creationId xmlns:a16="http://schemas.microsoft.com/office/drawing/2014/main" id="{4C9191F1-E8DF-4B64-8A28-BC458F6A039C}"/>
              </a:ext>
              <a:ext uri="{C183D7F6-B498-43B3-948B-1728B52AA6E4}">
                <adec:decorative xmlns:adec="http://schemas.microsoft.com/office/drawing/2017/decorative" val="1"/>
              </a:ext>
            </a:extLst>
          </p:cNvPr>
          <p:cNvSpPr/>
          <p:nvPr/>
        </p:nvSpPr>
        <p:spPr>
          <a:xfrm>
            <a:off x="0" y="-479770"/>
            <a:ext cx="12192000" cy="7337769"/>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84CEA7-D60A-47AE-A867-C557D000559F}"/>
              </a:ext>
            </a:extLst>
          </p:cNvPr>
          <p:cNvSpPr>
            <a:spLocks noGrp="1"/>
          </p:cNvSpPr>
          <p:nvPr>
            <p:ph type="title"/>
          </p:nvPr>
        </p:nvSpPr>
        <p:spPr>
          <a:xfrm>
            <a:off x="1028061" y="402975"/>
            <a:ext cx="7916515" cy="845018"/>
          </a:xfrm>
        </p:spPr>
        <p:txBody>
          <a:bodyPr/>
          <a:lstStyle/>
          <a:p>
            <a:r>
              <a:rPr lang="en-US" dirty="0"/>
              <a:t>Treatment and Admission Trends</a:t>
            </a:r>
          </a:p>
        </p:txBody>
      </p:sp>
      <p:sp>
        <p:nvSpPr>
          <p:cNvPr id="4" name="Slide Number Placeholder 3">
            <a:extLst>
              <a:ext uri="{FF2B5EF4-FFF2-40B4-BE49-F238E27FC236}">
                <a16:creationId xmlns:a16="http://schemas.microsoft.com/office/drawing/2014/main" id="{00822E43-C110-41B5-9E8C-BBA2A6D7228B}"/>
              </a:ext>
            </a:extLst>
          </p:cNvPr>
          <p:cNvSpPr>
            <a:spLocks noGrp="1"/>
          </p:cNvSpPr>
          <p:nvPr>
            <p:ph type="sldNum" sz="quarter" idx="11"/>
          </p:nvPr>
        </p:nvSpPr>
        <p:spPr/>
        <p:txBody>
          <a:bodyPr/>
          <a:lstStyle/>
          <a:p>
            <a:fld id="{EECC7194-A4D0-457B-9D3E-53681723AFF7}" type="slidenum">
              <a:rPr lang="en-US" smtClean="0"/>
              <a:pPr/>
              <a:t>6</a:t>
            </a:fld>
            <a:endParaRPr lang="en-US" dirty="0"/>
          </a:p>
        </p:txBody>
      </p:sp>
      <p:sp>
        <p:nvSpPr>
          <p:cNvPr id="5" name="object 7" descr="Beige rectangle">
            <a:extLst>
              <a:ext uri="{FF2B5EF4-FFF2-40B4-BE49-F238E27FC236}">
                <a16:creationId xmlns:a16="http://schemas.microsoft.com/office/drawing/2014/main" id="{F173E3BB-F601-4F0E-90AC-4E1473812240}"/>
              </a:ext>
            </a:extLst>
          </p:cNvPr>
          <p:cNvSpPr/>
          <p:nvPr/>
        </p:nvSpPr>
        <p:spPr bwMode="white">
          <a:xfrm flipV="1">
            <a:off x="1039201" y="537080"/>
            <a:ext cx="3021495" cy="338868"/>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33" name="Rectangle 32">
            <a:extLst>
              <a:ext uri="{FF2B5EF4-FFF2-40B4-BE49-F238E27FC236}">
                <a16:creationId xmlns:a16="http://schemas.microsoft.com/office/drawing/2014/main" id="{DF55647B-6250-409F-984B-A2399BBF5119}"/>
              </a:ext>
              <a:ext uri="{C183D7F6-B498-43B3-948B-1728B52AA6E4}">
                <adec:decorative xmlns:adec="http://schemas.microsoft.com/office/drawing/2017/decorative" val="1"/>
              </a:ext>
            </a:extLst>
          </p:cNvPr>
          <p:cNvSpPr/>
          <p:nvPr/>
        </p:nvSpPr>
        <p:spPr>
          <a:xfrm>
            <a:off x="5635526" y="3457739"/>
            <a:ext cx="992451" cy="992451"/>
          </a:xfrm>
          <a:prstGeom prst="rect">
            <a:avLst/>
          </a:prstGeom>
          <a:noFill/>
          <a:ln w="6350">
            <a:solidFill>
              <a:schemeClr val="bg1">
                <a:lumMod val="50000"/>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7" name="Connector: Elbow 106">
            <a:extLst>
              <a:ext uri="{FF2B5EF4-FFF2-40B4-BE49-F238E27FC236}">
                <a16:creationId xmlns:a16="http://schemas.microsoft.com/office/drawing/2014/main" id="{8B2CA833-558A-4C6C-9757-5A1138094506}"/>
              </a:ext>
              <a:ext uri="{C183D7F6-B498-43B3-948B-1728B52AA6E4}">
                <adec:decorative xmlns:adec="http://schemas.microsoft.com/office/drawing/2017/decorative" val="1"/>
              </a:ext>
            </a:extLst>
          </p:cNvPr>
          <p:cNvCxnSpPr>
            <a:cxnSpLocks/>
          </p:cNvCxnSpPr>
          <p:nvPr/>
        </p:nvCxnSpPr>
        <p:spPr>
          <a:xfrm rot="10800000" flipV="1">
            <a:off x="7493447" y="5905324"/>
            <a:ext cx="841560" cy="97241"/>
          </a:xfrm>
          <a:prstGeom prst="bentConnector3">
            <a:avLst>
              <a:gd name="adj1" fmla="val 50000"/>
            </a:avLst>
          </a:prstGeom>
          <a:ln>
            <a:solidFill>
              <a:schemeClr val="bg1">
                <a:alpha val="20000"/>
              </a:schemeClr>
            </a:solidFill>
            <a:headEnd type="oval" w="sm" len="sm"/>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D4F31C5-6F5A-0D21-FD6F-4B17E14D6E29}"/>
              </a:ext>
            </a:extLst>
          </p:cNvPr>
          <p:cNvSpPr txBox="1"/>
          <p:nvPr/>
        </p:nvSpPr>
        <p:spPr>
          <a:xfrm>
            <a:off x="887896" y="1593336"/>
            <a:ext cx="10402956" cy="369332"/>
          </a:xfrm>
          <a:prstGeom prst="rect">
            <a:avLst/>
          </a:prstGeom>
          <a:noFill/>
        </p:spPr>
        <p:txBody>
          <a:bodyPr wrap="square" rtlCol="0">
            <a:spAutoFit/>
          </a:bodyPr>
          <a:lstStyle/>
          <a:p>
            <a:r>
              <a:rPr lang="en-US" b="1" dirty="0">
                <a:solidFill>
                  <a:schemeClr val="bg1"/>
                </a:solidFill>
              </a:rPr>
              <a:t> </a:t>
            </a:r>
            <a:endParaRPr lang="en-US" dirty="0">
              <a:solidFill>
                <a:schemeClr val="bg1"/>
              </a:solidFill>
            </a:endParaRPr>
          </a:p>
        </p:txBody>
      </p:sp>
      <p:sp>
        <p:nvSpPr>
          <p:cNvPr id="6" name="Rectangle 5">
            <a:extLst>
              <a:ext uri="{FF2B5EF4-FFF2-40B4-BE49-F238E27FC236}">
                <a16:creationId xmlns:a16="http://schemas.microsoft.com/office/drawing/2014/main" id="{1B8FDBBD-992F-21D9-BECF-D89939667A8F}"/>
              </a:ext>
            </a:extLst>
          </p:cNvPr>
          <p:cNvSpPr/>
          <p:nvPr/>
        </p:nvSpPr>
        <p:spPr>
          <a:xfrm>
            <a:off x="9792637" y="215433"/>
            <a:ext cx="1930870" cy="493965"/>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accent1"/>
                </a:solidFill>
                <a:effectLst>
                  <a:outerShdw blurRad="38100" dist="25400" dir="5400000" algn="ctr" rotWithShape="0">
                    <a:srgbClr val="6E747A">
                      <a:alpha val="43000"/>
                    </a:srgbClr>
                  </a:outerShdw>
                </a:effectLst>
              </a:rPr>
              <a:t>Task 3</a:t>
            </a:r>
          </a:p>
        </p:txBody>
      </p:sp>
      <p:sp>
        <p:nvSpPr>
          <p:cNvPr id="7" name="TextBox 6">
            <a:extLst>
              <a:ext uri="{FF2B5EF4-FFF2-40B4-BE49-F238E27FC236}">
                <a16:creationId xmlns:a16="http://schemas.microsoft.com/office/drawing/2014/main" id="{2A080D12-BBB8-9CFD-6360-26C3EA256C61}"/>
              </a:ext>
            </a:extLst>
          </p:cNvPr>
          <p:cNvSpPr txBox="1"/>
          <p:nvPr/>
        </p:nvSpPr>
        <p:spPr>
          <a:xfrm>
            <a:off x="387514" y="1070069"/>
            <a:ext cx="11188250" cy="3186000"/>
          </a:xfrm>
          <a:prstGeom prst="rect">
            <a:avLst/>
          </a:prstGeom>
          <a:noFill/>
        </p:spPr>
        <p:txBody>
          <a:bodyPr wrap="square" rtlCol="0">
            <a:spAutoFit/>
          </a:bodyPr>
          <a:lstStyle/>
          <a:p>
            <a:r>
              <a:rPr lang="en-US" b="1" dirty="0">
                <a:solidFill>
                  <a:schemeClr val="bg1"/>
                </a:solidFill>
              </a:rPr>
              <a:t>A. Calculate moving average of daily admissions (7-day MA)</a:t>
            </a:r>
          </a:p>
          <a:p>
            <a:endParaRPr lang="en-US" b="1" dirty="0">
              <a:solidFill>
                <a:schemeClr val="bg1"/>
              </a:solidFill>
            </a:endParaRPr>
          </a:p>
          <a:p>
            <a:r>
              <a:rPr lang="en-US" b="1" u="sng" dirty="0">
                <a:solidFill>
                  <a:schemeClr val="bg1"/>
                </a:solidFill>
              </a:rPr>
              <a:t>Insights:</a:t>
            </a:r>
          </a:p>
          <a:p>
            <a:endParaRPr lang="en-US" b="1" dirty="0">
              <a:solidFill>
                <a:schemeClr val="bg1"/>
              </a:solidFill>
            </a:endParaRPr>
          </a:p>
          <a:p>
            <a:pPr marL="285750" indent="-285750">
              <a:lnSpc>
                <a:spcPct val="150000"/>
              </a:lnSpc>
              <a:buFont typeface="Wingdings" panose="05000000000000000000" pitchFamily="2" charset="2"/>
              <a:buChar char="Ø"/>
            </a:pPr>
            <a:r>
              <a:rPr lang="en-US" dirty="0">
                <a:solidFill>
                  <a:schemeClr val="bg1"/>
                </a:solidFill>
              </a:rPr>
              <a:t>The 7-day moving average showed admission spikes in January, March, July, and Oct–Dec aligning with seasonal changes and increased healthcare demand. </a:t>
            </a:r>
          </a:p>
          <a:p>
            <a:pPr marL="285750" indent="-285750">
              <a:lnSpc>
                <a:spcPct val="150000"/>
              </a:lnSpc>
              <a:buFont typeface="Wingdings" panose="05000000000000000000" pitchFamily="2" charset="2"/>
              <a:buChar char="Ø"/>
            </a:pPr>
            <a:r>
              <a:rPr lang="en-US" dirty="0">
                <a:solidFill>
                  <a:schemeClr val="bg1"/>
                </a:solidFill>
              </a:rPr>
              <a:t>These trends can help in resource planning, highlights need for proactive staffing, and capacity management during peak periods.</a:t>
            </a:r>
          </a:p>
          <a:p>
            <a:pPr marL="285750" indent="-285750">
              <a:lnSpc>
                <a:spcPct val="150000"/>
              </a:lnSpc>
              <a:buFont typeface="Wingdings" panose="05000000000000000000" pitchFamily="2" charset="2"/>
              <a:buChar char="Ø"/>
            </a:pPr>
            <a:endParaRPr lang="en-US" sz="1600" dirty="0">
              <a:solidFill>
                <a:schemeClr val="bg1"/>
              </a:solidFill>
            </a:endParaRPr>
          </a:p>
        </p:txBody>
      </p:sp>
      <p:sp>
        <p:nvSpPr>
          <p:cNvPr id="11" name="TextBox 10">
            <a:extLst>
              <a:ext uri="{FF2B5EF4-FFF2-40B4-BE49-F238E27FC236}">
                <a16:creationId xmlns:a16="http://schemas.microsoft.com/office/drawing/2014/main" id="{ADDB0836-609E-C787-7292-0DE5257CD9DF}"/>
              </a:ext>
            </a:extLst>
          </p:cNvPr>
          <p:cNvSpPr txBox="1"/>
          <p:nvPr/>
        </p:nvSpPr>
        <p:spPr>
          <a:xfrm>
            <a:off x="387514" y="3951653"/>
            <a:ext cx="11467309" cy="2662267"/>
          </a:xfrm>
          <a:prstGeom prst="rect">
            <a:avLst/>
          </a:prstGeom>
          <a:noFill/>
        </p:spPr>
        <p:txBody>
          <a:bodyPr wrap="square" rtlCol="0">
            <a:spAutoFit/>
          </a:bodyPr>
          <a:lstStyle/>
          <a:p>
            <a:pPr marL="342900" indent="-342900">
              <a:buAutoNum type="alphaUcPeriod" startAt="2"/>
            </a:pPr>
            <a:r>
              <a:rPr lang="en-US" b="1" dirty="0">
                <a:solidFill>
                  <a:schemeClr val="bg1"/>
                </a:solidFill>
              </a:rPr>
              <a:t>Rank doctors by number of successful treatments per month</a:t>
            </a:r>
          </a:p>
          <a:p>
            <a:pPr marL="342900" indent="-342900">
              <a:buAutoNum type="alphaUcPeriod" startAt="2"/>
            </a:pPr>
            <a:endParaRPr lang="en-US" sz="1600" b="1" dirty="0">
              <a:solidFill>
                <a:schemeClr val="bg1"/>
              </a:solidFill>
            </a:endParaRPr>
          </a:p>
          <a:p>
            <a:r>
              <a:rPr lang="en-US" b="1" u="sng" dirty="0">
                <a:solidFill>
                  <a:schemeClr val="bg1"/>
                </a:solidFill>
              </a:rPr>
              <a:t>Insights:</a:t>
            </a:r>
          </a:p>
          <a:p>
            <a:pPr marL="285750" indent="-285750">
              <a:buFont typeface="Wingdings" panose="05000000000000000000" pitchFamily="2" charset="2"/>
              <a:buChar char="Ø"/>
            </a:pPr>
            <a:endParaRPr lang="en-US" sz="1600" dirty="0">
              <a:solidFill>
                <a:schemeClr val="bg1"/>
              </a:solidFill>
            </a:endParaRPr>
          </a:p>
          <a:p>
            <a:pPr marL="285750" indent="-285750">
              <a:lnSpc>
                <a:spcPct val="150000"/>
              </a:lnSpc>
              <a:buFont typeface="Wingdings" panose="05000000000000000000" pitchFamily="2" charset="2"/>
              <a:buChar char="Ø"/>
            </a:pPr>
            <a:r>
              <a:rPr lang="en-US" dirty="0">
                <a:solidFill>
                  <a:schemeClr val="bg1"/>
                </a:solidFill>
              </a:rPr>
              <a:t>Each month, multiple doctors achieved top treatment success (3+ cases), showing consistent clinical performance across departments.</a:t>
            </a:r>
          </a:p>
          <a:p>
            <a:pPr marL="285750" indent="-285750">
              <a:lnSpc>
                <a:spcPct val="150000"/>
              </a:lnSpc>
              <a:buFont typeface="Wingdings" panose="05000000000000000000" pitchFamily="2" charset="2"/>
              <a:buChar char="Ø"/>
            </a:pPr>
            <a:r>
              <a:rPr lang="en-US" dirty="0">
                <a:solidFill>
                  <a:schemeClr val="bg1"/>
                </a:solidFill>
              </a:rPr>
              <a:t>Over 80% of treatments were successful, indicating a high standard of patient care.</a:t>
            </a:r>
          </a:p>
          <a:p>
            <a:endParaRPr lang="en-US" dirty="0">
              <a:solidFill>
                <a:schemeClr val="bg1"/>
              </a:solidFill>
            </a:endParaRPr>
          </a:p>
        </p:txBody>
      </p:sp>
      <p:pic>
        <p:nvPicPr>
          <p:cNvPr id="9" name="Graphic 8" descr="Medicine with solid fill">
            <a:extLst>
              <a:ext uri="{FF2B5EF4-FFF2-40B4-BE49-F238E27FC236}">
                <a16:creationId xmlns:a16="http://schemas.microsoft.com/office/drawing/2014/main" id="{AC55F307-B094-E33F-2FE8-D8F044487C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9221" y="352440"/>
            <a:ext cx="602974" cy="602974"/>
          </a:xfrm>
          <a:prstGeom prst="rect">
            <a:avLst/>
          </a:prstGeom>
        </p:spPr>
      </p:pic>
    </p:spTree>
    <p:extLst>
      <p:ext uri="{BB962C8B-B14F-4D97-AF65-F5344CB8AC3E}">
        <p14:creationId xmlns:p14="http://schemas.microsoft.com/office/powerpoint/2010/main" val="291626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descr="Doctor pointing at CAT scans">
            <a:extLst>
              <a:ext uri="{FF2B5EF4-FFF2-40B4-BE49-F238E27FC236}">
                <a16:creationId xmlns:a16="http://schemas.microsoft.com/office/drawing/2014/main" id="{51DAB4F3-6A41-481C-8A3E-932EDFC9FEDE}"/>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51" name="Rectangle 50">
            <a:extLst>
              <a:ext uri="{FF2B5EF4-FFF2-40B4-BE49-F238E27FC236}">
                <a16:creationId xmlns:a16="http://schemas.microsoft.com/office/drawing/2014/main" id="{3CBC84C2-2B48-4B15-A420-8B5F2BDE2398}"/>
              </a:ext>
              <a:ext uri="{C183D7F6-B498-43B3-948B-1728B52AA6E4}">
                <adec:decorative xmlns:adec="http://schemas.microsoft.com/office/drawing/2017/decorative" val="1"/>
              </a:ext>
            </a:extLst>
          </p:cNvPr>
          <p:cNvSpPr/>
          <p:nvPr/>
        </p:nvSpPr>
        <p:spPr>
          <a:xfrm>
            <a:off x="0" y="7070"/>
            <a:ext cx="12192000"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34E91A8-F608-453C-810A-BE991818063F}"/>
              </a:ext>
            </a:extLst>
          </p:cNvPr>
          <p:cNvSpPr>
            <a:spLocks noGrp="1"/>
          </p:cNvSpPr>
          <p:nvPr>
            <p:ph type="title"/>
          </p:nvPr>
        </p:nvSpPr>
        <p:spPr>
          <a:xfrm>
            <a:off x="653513" y="485596"/>
            <a:ext cx="7560000" cy="360000"/>
          </a:xfrm>
        </p:spPr>
        <p:txBody>
          <a:bodyPr/>
          <a:lstStyle/>
          <a:p>
            <a:r>
              <a:rPr lang="en-US" dirty="0"/>
              <a:t>Cost &amp; Length of stay</a:t>
            </a:r>
          </a:p>
        </p:txBody>
      </p:sp>
      <p:sp>
        <p:nvSpPr>
          <p:cNvPr id="4" name="Slide Number Placeholder 3">
            <a:extLst>
              <a:ext uri="{FF2B5EF4-FFF2-40B4-BE49-F238E27FC236}">
                <a16:creationId xmlns:a16="http://schemas.microsoft.com/office/drawing/2014/main" id="{D2DDB908-45C5-4999-982F-0A82DA013F58}"/>
              </a:ext>
            </a:extLst>
          </p:cNvPr>
          <p:cNvSpPr>
            <a:spLocks noGrp="1"/>
          </p:cNvSpPr>
          <p:nvPr>
            <p:ph type="sldNum" sz="quarter" idx="11"/>
          </p:nvPr>
        </p:nvSpPr>
        <p:spPr/>
        <p:txBody>
          <a:bodyPr/>
          <a:lstStyle/>
          <a:p>
            <a:fld id="{EECC7194-A4D0-457B-9D3E-53681723AFF7}" type="slidenum">
              <a:rPr lang="en-US" smtClean="0"/>
              <a:pPr/>
              <a:t>7</a:t>
            </a:fld>
            <a:endParaRPr lang="en-US" dirty="0"/>
          </a:p>
        </p:txBody>
      </p:sp>
      <p:sp>
        <p:nvSpPr>
          <p:cNvPr id="19" name="object 7" descr="Beige rectangle">
            <a:extLst>
              <a:ext uri="{FF2B5EF4-FFF2-40B4-BE49-F238E27FC236}">
                <a16:creationId xmlns:a16="http://schemas.microsoft.com/office/drawing/2014/main" id="{9B6BE182-7444-49DA-B6FA-215DD68D50CA}"/>
              </a:ext>
            </a:extLst>
          </p:cNvPr>
          <p:cNvSpPr/>
          <p:nvPr/>
        </p:nvSpPr>
        <p:spPr bwMode="white">
          <a:xfrm>
            <a:off x="653513" y="980002"/>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33" name="Group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5723178" y="2223240"/>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7ACC6B18-DB03-4AC5-B015-6374FF16D1E5}"/>
              </a:ext>
              <a:ext uri="{C183D7F6-B498-43B3-948B-1728B52AA6E4}">
                <adec:decorative xmlns:adec="http://schemas.microsoft.com/office/drawing/2017/decorative" val="1"/>
              </a:ext>
            </a:extLst>
          </p:cNvPr>
          <p:cNvGrpSpPr>
            <a:grpSpLocks noChangeAspect="1"/>
          </p:cNvGrpSpPr>
          <p:nvPr/>
        </p:nvGrpSpPr>
        <p:grpSpPr>
          <a:xfrm>
            <a:off x="10310145" y="2224959"/>
            <a:ext cx="926876" cy="745643"/>
            <a:chOff x="7901577" y="2268089"/>
            <a:chExt cx="926876" cy="745643"/>
          </a:xfrm>
        </p:grpSpPr>
        <p:sp>
          <p:nvSpPr>
            <p:cNvPr id="44" name="Rectangle 43">
              <a:extLst>
                <a:ext uri="{FF2B5EF4-FFF2-40B4-BE49-F238E27FC236}">
                  <a16:creationId xmlns:a16="http://schemas.microsoft.com/office/drawing/2014/main" id="{FBAA099B-7326-44B7-B125-672BA72A6C05}"/>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06107D1A-01D9-4CE4-9A22-FC55274F17C6}"/>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Rectangle 4">
            <a:extLst>
              <a:ext uri="{FF2B5EF4-FFF2-40B4-BE49-F238E27FC236}">
                <a16:creationId xmlns:a16="http://schemas.microsoft.com/office/drawing/2014/main" id="{7664C137-8DC2-2DAD-A416-1565875DB72B}"/>
              </a:ext>
            </a:extLst>
          </p:cNvPr>
          <p:cNvSpPr/>
          <p:nvPr/>
        </p:nvSpPr>
        <p:spPr>
          <a:xfrm>
            <a:off x="9882201" y="520824"/>
            <a:ext cx="1828800" cy="493965"/>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accent1"/>
                </a:solidFill>
                <a:effectLst>
                  <a:outerShdw blurRad="38100" dist="25400" dir="5400000" algn="ctr" rotWithShape="0">
                    <a:srgbClr val="6E747A">
                      <a:alpha val="43000"/>
                    </a:srgbClr>
                  </a:outerShdw>
                </a:effectLst>
              </a:rPr>
              <a:t>Task 4</a:t>
            </a:r>
          </a:p>
        </p:txBody>
      </p:sp>
      <p:sp>
        <p:nvSpPr>
          <p:cNvPr id="7" name="TextBox 6">
            <a:extLst>
              <a:ext uri="{FF2B5EF4-FFF2-40B4-BE49-F238E27FC236}">
                <a16:creationId xmlns:a16="http://schemas.microsoft.com/office/drawing/2014/main" id="{97BFB7A0-C4E7-7301-5B81-81542D9A1C31}"/>
              </a:ext>
            </a:extLst>
          </p:cNvPr>
          <p:cNvSpPr txBox="1"/>
          <p:nvPr/>
        </p:nvSpPr>
        <p:spPr>
          <a:xfrm>
            <a:off x="578332" y="1254013"/>
            <a:ext cx="10937274" cy="2862322"/>
          </a:xfrm>
          <a:prstGeom prst="rect">
            <a:avLst/>
          </a:prstGeom>
          <a:noFill/>
        </p:spPr>
        <p:txBody>
          <a:bodyPr wrap="square" rtlCol="0">
            <a:spAutoFit/>
          </a:bodyPr>
          <a:lstStyle/>
          <a:p>
            <a:r>
              <a:rPr lang="en-US" b="1" dirty="0">
                <a:solidFill>
                  <a:schemeClr val="bg1"/>
                </a:solidFill>
              </a:rPr>
              <a:t>A. Calculate 25th, 50th, and 75th percentile of treatment costs per treatment type.</a:t>
            </a:r>
          </a:p>
          <a:p>
            <a:endParaRPr lang="en-US" dirty="0">
              <a:solidFill>
                <a:schemeClr val="bg1"/>
              </a:solidFill>
            </a:endParaRPr>
          </a:p>
          <a:p>
            <a:r>
              <a:rPr lang="en-US" b="1" u="sng" dirty="0">
                <a:solidFill>
                  <a:schemeClr val="bg1"/>
                </a:solidFill>
              </a:rPr>
              <a:t>Insights:</a:t>
            </a:r>
          </a:p>
          <a:p>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All patients are charged the exact same amount ($10,169.09) for every treatment type Consultation, Medication, Surgery, and Therapy.</a:t>
            </a:r>
          </a:p>
          <a:p>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There is no variation in treatment costs, as shown by identical values for the 25th, 50th, and 75th percentiles which may reflect a data quality issue.</a:t>
            </a:r>
            <a:br>
              <a:rPr lang="en-US" dirty="0">
                <a:solidFill>
                  <a:schemeClr val="bg1"/>
                </a:solidFill>
              </a:rPr>
            </a:br>
            <a:endParaRPr lang="en-US" dirty="0">
              <a:solidFill>
                <a:schemeClr val="bg1"/>
              </a:solidFill>
            </a:endParaRPr>
          </a:p>
        </p:txBody>
      </p:sp>
      <p:sp>
        <p:nvSpPr>
          <p:cNvPr id="8" name="TextBox 7">
            <a:extLst>
              <a:ext uri="{FF2B5EF4-FFF2-40B4-BE49-F238E27FC236}">
                <a16:creationId xmlns:a16="http://schemas.microsoft.com/office/drawing/2014/main" id="{C4E1541C-EA73-2F8E-1085-41BA84694C85}"/>
              </a:ext>
            </a:extLst>
          </p:cNvPr>
          <p:cNvSpPr txBox="1"/>
          <p:nvPr/>
        </p:nvSpPr>
        <p:spPr>
          <a:xfrm>
            <a:off x="608448" y="4093568"/>
            <a:ext cx="11017650" cy="2585323"/>
          </a:xfrm>
          <a:prstGeom prst="rect">
            <a:avLst/>
          </a:prstGeom>
          <a:noFill/>
        </p:spPr>
        <p:txBody>
          <a:bodyPr wrap="square" rtlCol="0">
            <a:spAutoFit/>
          </a:bodyPr>
          <a:lstStyle/>
          <a:p>
            <a:r>
              <a:rPr lang="en-US" b="1" dirty="0">
                <a:solidFill>
                  <a:schemeClr val="bg1"/>
                </a:solidFill>
              </a:rPr>
              <a:t>B. Find the median length of stay per department.</a:t>
            </a:r>
          </a:p>
          <a:p>
            <a:endParaRPr lang="en-US" dirty="0">
              <a:solidFill>
                <a:schemeClr val="bg1"/>
              </a:solidFill>
            </a:endParaRPr>
          </a:p>
          <a:p>
            <a:r>
              <a:rPr lang="en-US" b="1" u="sng" dirty="0">
                <a:solidFill>
                  <a:schemeClr val="bg1"/>
                </a:solidFill>
              </a:rPr>
              <a:t>Insights:</a:t>
            </a:r>
            <a:br>
              <a:rPr lang="en-US" b="1" u="sng" dirty="0">
                <a:solidFill>
                  <a:schemeClr val="bg1"/>
                </a:solidFill>
              </a:rPr>
            </a:br>
            <a:endParaRPr lang="en-US" b="1" u="sng" dirty="0">
              <a:solidFill>
                <a:schemeClr val="bg1"/>
              </a:solidFill>
            </a:endParaRPr>
          </a:p>
          <a:p>
            <a:pPr marL="285750" indent="-285750">
              <a:buFont typeface="Wingdings" panose="05000000000000000000" pitchFamily="2" charset="2"/>
              <a:buChar char="Ø"/>
            </a:pPr>
            <a:r>
              <a:rPr lang="en-US" dirty="0">
                <a:solidFill>
                  <a:schemeClr val="bg1"/>
                </a:solidFill>
              </a:rPr>
              <a:t>Most departments show a median patient stay around 10–11 days, indicating consistent hospitalization durations across specialties.</a:t>
            </a:r>
          </a:p>
          <a:p>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Departments like Cardiology and Emergency show slightly longer stays, possibly reflecting more complex or critical cases.</a:t>
            </a:r>
          </a:p>
        </p:txBody>
      </p:sp>
      <p:pic>
        <p:nvPicPr>
          <p:cNvPr id="9" name="Graphic 8" descr="Dollar with solid fill">
            <a:extLst>
              <a:ext uri="{FF2B5EF4-FFF2-40B4-BE49-F238E27FC236}">
                <a16:creationId xmlns:a16="http://schemas.microsoft.com/office/drawing/2014/main" id="{2917987C-5A92-7023-B49F-568EB81452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0000" y="371260"/>
            <a:ext cx="592639" cy="608742"/>
          </a:xfrm>
          <a:prstGeom prst="rect">
            <a:avLst/>
          </a:prstGeom>
        </p:spPr>
      </p:pic>
    </p:spTree>
    <p:extLst>
      <p:ext uri="{BB962C8B-B14F-4D97-AF65-F5344CB8AC3E}">
        <p14:creationId xmlns:p14="http://schemas.microsoft.com/office/powerpoint/2010/main" val="1478480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descr="Doctor standing in front of a computer&#10;">
            <a:extLst>
              <a:ext uri="{FF2B5EF4-FFF2-40B4-BE49-F238E27FC236}">
                <a16:creationId xmlns:a16="http://schemas.microsoft.com/office/drawing/2014/main" id="{D4AB4507-F77A-44A5-B290-3F3D4817B7BD}"/>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93252" y="179109"/>
            <a:ext cx="11832000" cy="6513922"/>
          </a:xfrm>
        </p:spPr>
      </p:pic>
      <p:sp>
        <p:nvSpPr>
          <p:cNvPr id="19" name="Rectangle 18">
            <a:extLst>
              <a:ext uri="{FF2B5EF4-FFF2-40B4-BE49-F238E27FC236}">
                <a16:creationId xmlns:a16="http://schemas.microsoft.com/office/drawing/2014/main" id="{A4592135-A11E-4178-A320-510C4B7492A3}"/>
              </a:ext>
              <a:ext uri="{C183D7F6-B498-43B3-948B-1728B52AA6E4}">
                <adec:decorative xmlns:adec="http://schemas.microsoft.com/office/drawing/2017/decorative" val="1"/>
              </a:ext>
            </a:extLst>
          </p:cNvPr>
          <p:cNvSpPr/>
          <p:nvPr/>
        </p:nvSpPr>
        <p:spPr>
          <a:xfrm>
            <a:off x="-250141" y="-164969"/>
            <a:ext cx="12496656" cy="7022969"/>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C499D5A-91D2-45BF-B204-6FDFFE97FFA9}"/>
              </a:ext>
            </a:extLst>
          </p:cNvPr>
          <p:cNvSpPr>
            <a:spLocks noGrp="1"/>
          </p:cNvSpPr>
          <p:nvPr>
            <p:ph type="title"/>
          </p:nvPr>
        </p:nvSpPr>
        <p:spPr>
          <a:xfrm>
            <a:off x="770463" y="216667"/>
            <a:ext cx="9393947" cy="961685"/>
          </a:xfrm>
        </p:spPr>
        <p:txBody>
          <a:bodyPr/>
          <a:lstStyle/>
          <a:p>
            <a:r>
              <a:rPr lang="en-US" dirty="0"/>
              <a:t>Patients by risk level &amp; weekday </a:t>
            </a:r>
            <a:r>
              <a:rPr lang="en-US" cap="none" dirty="0"/>
              <a:t>vs END</a:t>
            </a:r>
            <a:endParaRPr lang="en-US" dirty="0"/>
          </a:p>
        </p:txBody>
      </p:sp>
      <p:sp>
        <p:nvSpPr>
          <p:cNvPr id="4" name="Slide Number Placeholder 3">
            <a:extLst>
              <a:ext uri="{FF2B5EF4-FFF2-40B4-BE49-F238E27FC236}">
                <a16:creationId xmlns:a16="http://schemas.microsoft.com/office/drawing/2014/main" id="{98F61CED-575A-4A61-B181-A44246132635}"/>
              </a:ext>
            </a:extLst>
          </p:cNvPr>
          <p:cNvSpPr>
            <a:spLocks noGrp="1"/>
          </p:cNvSpPr>
          <p:nvPr>
            <p:ph type="sldNum" sz="quarter" idx="11"/>
          </p:nvPr>
        </p:nvSpPr>
        <p:spPr>
          <a:xfrm>
            <a:off x="11589016" y="6241764"/>
            <a:ext cx="270474" cy="270474"/>
          </a:xfrm>
        </p:spPr>
        <p:txBody>
          <a:bodyPr/>
          <a:lstStyle/>
          <a:p>
            <a:fld id="{EECC7194-A4D0-457B-9D3E-53681723AFF7}" type="slidenum">
              <a:rPr lang="en-US" smtClean="0"/>
              <a:pPr/>
              <a:t>8</a:t>
            </a:fld>
            <a:endParaRPr lang="en-US" dirty="0"/>
          </a:p>
        </p:txBody>
      </p:sp>
      <p:cxnSp>
        <p:nvCxnSpPr>
          <p:cNvPr id="42" name="Straight Connector 41">
            <a:extLst>
              <a:ext uri="{FF2B5EF4-FFF2-40B4-BE49-F238E27FC236}">
                <a16:creationId xmlns:a16="http://schemas.microsoft.com/office/drawing/2014/main" id="{6917E9BF-7C5E-4DE7-8C66-9B69A207D1E4}"/>
              </a:ext>
              <a:ext uri="{C183D7F6-B498-43B3-948B-1728B52AA6E4}">
                <adec:decorative xmlns:adec="http://schemas.microsoft.com/office/drawing/2017/decorative" val="1"/>
              </a:ext>
            </a:extLst>
          </p:cNvPr>
          <p:cNvCxnSpPr/>
          <p:nvPr/>
        </p:nvCxnSpPr>
        <p:spPr>
          <a:xfrm>
            <a:off x="1524436" y="3716527"/>
            <a:ext cx="9169633" cy="0"/>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14DCD19-05BE-4D3F-A9E1-A9353D50950B}"/>
              </a:ext>
              <a:ext uri="{C183D7F6-B498-43B3-948B-1728B52AA6E4}">
                <adec:decorative xmlns:adec="http://schemas.microsoft.com/office/drawing/2017/decorative" val="1"/>
              </a:ext>
            </a:extLst>
          </p:cNvPr>
          <p:cNvCxnSpPr>
            <a:cxnSpLocks/>
          </p:cNvCxnSpPr>
          <p:nvPr/>
        </p:nvCxnSpPr>
        <p:spPr>
          <a:xfrm>
            <a:off x="4471373" y="263017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9527B99-C015-4364-A9D0-E9EF5F8CC859}"/>
              </a:ext>
              <a:ext uri="{C183D7F6-B498-43B3-948B-1728B52AA6E4}">
                <adec:decorative xmlns:adec="http://schemas.microsoft.com/office/drawing/2017/decorative" val="1"/>
              </a:ext>
            </a:extLst>
          </p:cNvPr>
          <p:cNvCxnSpPr>
            <a:cxnSpLocks/>
          </p:cNvCxnSpPr>
          <p:nvPr/>
        </p:nvCxnSpPr>
        <p:spPr>
          <a:xfrm>
            <a:off x="8032779" y="263017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67" name="object 7" descr="Beige rectangle">
            <a:extLst>
              <a:ext uri="{FF2B5EF4-FFF2-40B4-BE49-F238E27FC236}">
                <a16:creationId xmlns:a16="http://schemas.microsoft.com/office/drawing/2014/main" id="{6167A703-9B37-469C-853D-0CB6C1F4D8F0}"/>
              </a:ext>
            </a:extLst>
          </p:cNvPr>
          <p:cNvSpPr/>
          <p:nvPr/>
        </p:nvSpPr>
        <p:spPr bwMode="white">
          <a:xfrm flipV="1">
            <a:off x="770463" y="638934"/>
            <a:ext cx="2812282"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41" name="Rectangle 40">
            <a:extLst>
              <a:ext uri="{FF2B5EF4-FFF2-40B4-BE49-F238E27FC236}">
                <a16:creationId xmlns:a16="http://schemas.microsoft.com/office/drawing/2014/main" id="{F1E4A73F-DB3E-4AF4-A250-CB257055A3B2}"/>
              </a:ext>
              <a:ext uri="{C183D7F6-B498-43B3-948B-1728B52AA6E4}">
                <adec:decorative xmlns:adec="http://schemas.microsoft.com/office/drawing/2017/decorative" val="1"/>
              </a:ext>
            </a:extLst>
          </p:cNvPr>
          <p:cNvSpPr>
            <a:spLocks/>
          </p:cNvSpPr>
          <p:nvPr/>
        </p:nvSpPr>
        <p:spPr>
          <a:xfrm>
            <a:off x="911439"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A651BC50-F263-44D5-B1E1-32D5EA7EA21F}"/>
              </a:ext>
              <a:ext uri="{C183D7F6-B498-43B3-948B-1728B52AA6E4}">
                <adec:decorative xmlns:adec="http://schemas.microsoft.com/office/drawing/2017/decorative" val="1"/>
              </a:ext>
            </a:extLst>
          </p:cNvPr>
          <p:cNvSpPr>
            <a:spLocks/>
          </p:cNvSpPr>
          <p:nvPr/>
        </p:nvSpPr>
        <p:spPr>
          <a:xfrm>
            <a:off x="4471373"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100AA00A-91AC-4400-AF7A-EAB0770006ED}"/>
              </a:ext>
              <a:ext uri="{C183D7F6-B498-43B3-948B-1728B52AA6E4}">
                <adec:decorative xmlns:adec="http://schemas.microsoft.com/office/drawing/2017/decorative" val="1"/>
              </a:ext>
            </a:extLst>
          </p:cNvPr>
          <p:cNvSpPr>
            <a:spLocks/>
          </p:cNvSpPr>
          <p:nvPr/>
        </p:nvSpPr>
        <p:spPr>
          <a:xfrm>
            <a:off x="8032779" y="180382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78CCE096-0925-41C0-AF48-23E7DBC19872}"/>
              </a:ext>
              <a:ext uri="{C183D7F6-B498-43B3-948B-1728B52AA6E4}">
                <adec:decorative xmlns:adec="http://schemas.microsoft.com/office/drawing/2017/decorative" val="1"/>
              </a:ext>
            </a:extLst>
          </p:cNvPr>
          <p:cNvSpPr>
            <a:spLocks/>
          </p:cNvSpPr>
          <p:nvPr/>
        </p:nvSpPr>
        <p:spPr>
          <a:xfrm>
            <a:off x="911439" y="3960036"/>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275C6854-B085-4AC0-984F-E73F9C388471}"/>
              </a:ext>
              <a:ext uri="{C183D7F6-B498-43B3-948B-1728B52AA6E4}">
                <adec:decorative xmlns:adec="http://schemas.microsoft.com/office/drawing/2017/decorative" val="1"/>
              </a:ext>
            </a:extLst>
          </p:cNvPr>
          <p:cNvSpPr>
            <a:spLocks/>
          </p:cNvSpPr>
          <p:nvPr/>
        </p:nvSpPr>
        <p:spPr>
          <a:xfrm>
            <a:off x="4471373" y="3960036"/>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4" name="Straight Connector 43">
            <a:extLst>
              <a:ext uri="{FF2B5EF4-FFF2-40B4-BE49-F238E27FC236}">
                <a16:creationId xmlns:a16="http://schemas.microsoft.com/office/drawing/2014/main" id="{E2EAB4BE-ED20-4BB8-A23B-B02A1115A828}"/>
              </a:ext>
              <a:ext uri="{C183D7F6-B498-43B3-948B-1728B52AA6E4}">
                <adec:decorative xmlns:adec="http://schemas.microsoft.com/office/drawing/2017/decorative" val="1"/>
              </a:ext>
            </a:extLst>
          </p:cNvPr>
          <p:cNvCxnSpPr>
            <a:cxnSpLocks/>
          </p:cNvCxnSpPr>
          <p:nvPr/>
        </p:nvCxnSpPr>
        <p:spPr>
          <a:xfrm>
            <a:off x="4471373" y="4752270"/>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5F7AC2D-D918-404A-4FFF-8752C378C818}"/>
              </a:ext>
            </a:extLst>
          </p:cNvPr>
          <p:cNvSpPr txBox="1"/>
          <p:nvPr/>
        </p:nvSpPr>
        <p:spPr>
          <a:xfrm>
            <a:off x="328489" y="774433"/>
            <a:ext cx="11531001" cy="2585323"/>
          </a:xfrm>
          <a:prstGeom prst="rect">
            <a:avLst/>
          </a:prstGeom>
          <a:noFill/>
        </p:spPr>
        <p:txBody>
          <a:bodyPr wrap="square" rtlCol="0">
            <a:spAutoFit/>
          </a:bodyPr>
          <a:lstStyle/>
          <a:p>
            <a:r>
              <a:rPr lang="en-US" b="1" dirty="0">
                <a:solidFill>
                  <a:schemeClr val="bg1"/>
                </a:solidFill>
              </a:rPr>
              <a:t>A- Group patients into 'High-Risk', 'Moderate-Risk', 'Low-Risk' based on comorbidity count</a:t>
            </a:r>
          </a:p>
          <a:p>
            <a:r>
              <a:rPr lang="en-US" b="1" u="sng" dirty="0">
                <a:solidFill>
                  <a:schemeClr val="bg1"/>
                </a:solidFill>
              </a:rPr>
              <a:t>Insights:</a:t>
            </a:r>
            <a:endParaRPr lang="en-US" b="1" dirty="0">
              <a:solidFill>
                <a:schemeClr val="bg1"/>
              </a:solidFill>
            </a:endParaRPr>
          </a:p>
          <a:p>
            <a:pPr marL="285750" indent="-285750">
              <a:buFont typeface="Wingdings" panose="05000000000000000000" pitchFamily="2" charset="2"/>
              <a:buChar char="Ø"/>
            </a:pPr>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In the absence of comorbidity data, patients were risk-classified using length of stay. Longer stays often indicate serious conditions, complications, or multiple diagnoses (comorbidities).</a:t>
            </a:r>
          </a:p>
          <a:p>
            <a:pPr marL="285750" indent="-285750">
              <a:buFont typeface="Wingdings" panose="05000000000000000000" pitchFamily="2" charset="2"/>
              <a:buChar char="Ø"/>
            </a:pPr>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Out of 100,000 patients, 35% are High-Risk (35,049), 35% Moderate-Risk (34,739), and 30% Low-Risk (30,212), highlighting the need for tailored care strategies rather than just routine care.</a:t>
            </a:r>
          </a:p>
          <a:p>
            <a:endParaRPr lang="en-US" dirty="0">
              <a:solidFill>
                <a:schemeClr val="bg1"/>
              </a:solidFill>
            </a:endParaRPr>
          </a:p>
        </p:txBody>
      </p:sp>
      <p:graphicFrame>
        <p:nvGraphicFramePr>
          <p:cNvPr id="6" name="Table 5">
            <a:extLst>
              <a:ext uri="{FF2B5EF4-FFF2-40B4-BE49-F238E27FC236}">
                <a16:creationId xmlns:a16="http://schemas.microsoft.com/office/drawing/2014/main" id="{21859A51-DD9F-800E-18DB-24B7DD8B49C9}"/>
              </a:ext>
            </a:extLst>
          </p:cNvPr>
          <p:cNvGraphicFramePr>
            <a:graphicFrameLocks noGrp="1"/>
          </p:cNvGraphicFramePr>
          <p:nvPr>
            <p:extLst>
              <p:ext uri="{D42A27DB-BD31-4B8C-83A1-F6EECF244321}">
                <p14:modId xmlns:p14="http://schemas.microsoft.com/office/powerpoint/2010/main" val="878972243"/>
              </p:ext>
            </p:extLst>
          </p:nvPr>
        </p:nvGraphicFramePr>
        <p:xfrm>
          <a:off x="1509662" y="3141473"/>
          <a:ext cx="9169630" cy="1349610"/>
        </p:xfrm>
        <a:graphic>
          <a:graphicData uri="http://schemas.openxmlformats.org/drawingml/2006/table">
            <a:tbl>
              <a:tblPr>
                <a:effectLst>
                  <a:outerShdw blurRad="50800" dist="38100" dir="16200000" rotWithShape="0">
                    <a:prstClr val="black">
                      <a:alpha val="40000"/>
                    </a:prstClr>
                  </a:outerShdw>
                </a:effectLst>
                <a:tableStyleId>{18603FDC-E32A-4AB5-989C-0864C3EAD2B8}</a:tableStyleId>
              </a:tblPr>
              <a:tblGrid>
                <a:gridCol w="5499953">
                  <a:extLst>
                    <a:ext uri="{9D8B030D-6E8A-4147-A177-3AD203B41FA5}">
                      <a16:colId xmlns:a16="http://schemas.microsoft.com/office/drawing/2014/main" val="1237078202"/>
                    </a:ext>
                  </a:extLst>
                </a:gridCol>
                <a:gridCol w="3669677">
                  <a:extLst>
                    <a:ext uri="{9D8B030D-6E8A-4147-A177-3AD203B41FA5}">
                      <a16:colId xmlns:a16="http://schemas.microsoft.com/office/drawing/2014/main" val="2761577416"/>
                    </a:ext>
                  </a:extLst>
                </a:gridCol>
              </a:tblGrid>
              <a:tr h="269922">
                <a:tc>
                  <a:txBody>
                    <a:bodyPr/>
                    <a:lstStyle/>
                    <a:p>
                      <a:pPr algn="ctr" fontAlgn="b"/>
                      <a:r>
                        <a:rPr lang="en-US" sz="1600" b="1" u="none" strike="noStrike">
                          <a:solidFill>
                            <a:schemeClr val="bg1"/>
                          </a:solidFill>
                          <a:effectLst>
                            <a:outerShdw blurRad="50800" dist="38100" dir="2700000" algn="tl" rotWithShape="0">
                              <a:prstClr val="black">
                                <a:alpha val="40000"/>
                              </a:prstClr>
                            </a:outerShdw>
                          </a:effectLst>
                          <a:latin typeface="+mn-lt"/>
                        </a:rPr>
                        <a:t>Risk Level</a:t>
                      </a:r>
                      <a:endParaRPr lang="en-US" sz="1600" b="1" i="0" u="none" strike="noStrike" dirty="0">
                        <a:solidFill>
                          <a:schemeClr val="bg1"/>
                        </a:solidFill>
                        <a:effectLst>
                          <a:outerShdw blurRad="50800" dist="38100" dir="2700000" algn="tl" rotWithShape="0">
                            <a:prstClr val="black">
                              <a:alpha val="40000"/>
                            </a:prstClr>
                          </a:outerShdw>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solidFill>
                            <a:schemeClr val="bg1"/>
                          </a:solidFill>
                          <a:effectLst>
                            <a:outerShdw blurRad="50800" dist="38100" dir="2700000" algn="tl" rotWithShape="0">
                              <a:prstClr val="black">
                                <a:alpha val="40000"/>
                              </a:prstClr>
                            </a:outerShdw>
                          </a:effectLst>
                          <a:latin typeface="+mn-lt"/>
                        </a:rPr>
                        <a:t>Patients</a:t>
                      </a:r>
                      <a:endParaRPr lang="en-US" sz="1600" b="1" i="0" u="none" strike="noStrike" dirty="0">
                        <a:solidFill>
                          <a:schemeClr val="bg1"/>
                        </a:solidFill>
                        <a:effectLst>
                          <a:outerShdw blurRad="50800" dist="38100" dir="2700000" algn="tl" rotWithShape="0">
                            <a:prstClr val="black">
                              <a:alpha val="40000"/>
                            </a:prstClr>
                          </a:outerShdw>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1181559"/>
                  </a:ext>
                </a:extLst>
              </a:tr>
              <a:tr h="269922">
                <a:tc>
                  <a:txBody>
                    <a:bodyPr/>
                    <a:lstStyle/>
                    <a:p>
                      <a:pPr algn="l" fontAlgn="b"/>
                      <a:r>
                        <a:rPr lang="en-US" sz="1600" b="0" u="none" strike="noStrike">
                          <a:solidFill>
                            <a:schemeClr val="bg1"/>
                          </a:solidFill>
                          <a:effectLst>
                            <a:outerShdw blurRad="50800" dist="38100" dir="2700000" algn="tl" rotWithShape="0">
                              <a:prstClr val="black">
                                <a:alpha val="40000"/>
                              </a:prstClr>
                            </a:outerShdw>
                          </a:effectLst>
                          <a:latin typeface="+mn-lt"/>
                        </a:rPr>
                        <a:t>High-Risk (</a:t>
                      </a:r>
                      <a:r>
                        <a:rPr lang="en-US" sz="1600">
                          <a:solidFill>
                            <a:schemeClr val="bg1"/>
                          </a:solidFill>
                          <a:effectLst>
                            <a:outerShdw blurRad="50800" dist="38100" dir="2700000" algn="tl" rotWithShape="0">
                              <a:prstClr val="black">
                                <a:alpha val="40000"/>
                              </a:prstClr>
                            </a:outerShdw>
                          </a:effectLst>
                          <a:latin typeface="+mn-lt"/>
                        </a:rPr>
                        <a:t>Long stays (≥14 days)</a:t>
                      </a:r>
                      <a:endParaRPr lang="en-US" sz="1600" b="0" i="0" u="none" strike="noStrike" dirty="0">
                        <a:solidFill>
                          <a:schemeClr val="bg1"/>
                        </a:solidFill>
                        <a:effectLst>
                          <a:outerShdw blurRad="50800" dist="38100" dir="2700000" algn="tl" rotWithShape="0">
                            <a:prstClr val="black">
                              <a:alpha val="40000"/>
                            </a:prstClr>
                          </a:outerShdw>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dirty="0">
                          <a:solidFill>
                            <a:schemeClr val="bg1"/>
                          </a:solidFill>
                        </a:rPr>
                        <a:t>35,049</a:t>
                      </a:r>
                      <a:endParaRPr lang="en-US" sz="1600" b="0" i="0" u="none" strike="noStrike" dirty="0">
                        <a:solidFill>
                          <a:schemeClr val="bg1"/>
                        </a:solidFill>
                        <a:effectLst>
                          <a:outerShdw blurRad="50800" dist="38100" dir="2700000" algn="tl" rotWithShape="0">
                            <a:prstClr val="black">
                              <a:alpha val="40000"/>
                            </a:prstClr>
                          </a:outerShdw>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811896"/>
                  </a:ext>
                </a:extLst>
              </a:tr>
              <a:tr h="269922">
                <a:tc>
                  <a:txBody>
                    <a:bodyPr/>
                    <a:lstStyle/>
                    <a:p>
                      <a:pPr algn="l" fontAlgn="b"/>
                      <a:r>
                        <a:rPr lang="en-US" sz="1600" b="0" u="none" strike="noStrike">
                          <a:solidFill>
                            <a:schemeClr val="bg1"/>
                          </a:solidFill>
                          <a:effectLst>
                            <a:outerShdw blurRad="50800" dist="38100" dir="2700000" algn="tl" rotWithShape="0">
                              <a:prstClr val="black">
                                <a:alpha val="40000"/>
                              </a:prstClr>
                            </a:outerShdw>
                          </a:effectLst>
                          <a:latin typeface="+mn-lt"/>
                        </a:rPr>
                        <a:t>Moderate-Risk (</a:t>
                      </a:r>
                      <a:r>
                        <a:rPr lang="en-US" sz="1600">
                          <a:solidFill>
                            <a:schemeClr val="bg1"/>
                          </a:solidFill>
                          <a:effectLst>
                            <a:outerShdw blurRad="50800" dist="38100" dir="2700000" algn="tl" rotWithShape="0">
                              <a:prstClr val="black">
                                <a:alpha val="40000"/>
                              </a:prstClr>
                            </a:outerShdw>
                          </a:effectLst>
                          <a:latin typeface="+mn-lt"/>
                        </a:rPr>
                        <a:t>Medium stays (7–13 days)</a:t>
                      </a:r>
                      <a:endParaRPr lang="en-US" sz="1600" b="0" i="0" u="none" strike="noStrike" dirty="0">
                        <a:solidFill>
                          <a:schemeClr val="bg1"/>
                        </a:solidFill>
                        <a:effectLst>
                          <a:outerShdw blurRad="50800" dist="38100" dir="2700000" algn="tl" rotWithShape="0">
                            <a:prstClr val="black">
                              <a:alpha val="40000"/>
                            </a:prstClr>
                          </a:outerShdw>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dirty="0">
                          <a:solidFill>
                            <a:schemeClr val="bg1"/>
                          </a:solidFill>
                        </a:rPr>
                        <a:t>34,739</a:t>
                      </a:r>
                      <a:endParaRPr lang="en-US" sz="1600" b="0" i="0" u="none" strike="noStrike" dirty="0">
                        <a:solidFill>
                          <a:schemeClr val="bg1"/>
                        </a:solidFill>
                        <a:effectLst>
                          <a:outerShdw blurRad="50800" dist="38100" dir="2700000" algn="tl" rotWithShape="0">
                            <a:prstClr val="black">
                              <a:alpha val="40000"/>
                            </a:prstClr>
                          </a:outerShdw>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91880"/>
                  </a:ext>
                </a:extLst>
              </a:tr>
              <a:tr h="269922">
                <a:tc>
                  <a:txBody>
                    <a:bodyPr/>
                    <a:lstStyle/>
                    <a:p>
                      <a:pPr algn="l" fontAlgn="b"/>
                      <a:r>
                        <a:rPr lang="en-US" sz="1600" b="0" u="none" strike="noStrike">
                          <a:solidFill>
                            <a:schemeClr val="bg1"/>
                          </a:solidFill>
                          <a:effectLst>
                            <a:outerShdw blurRad="50800" dist="38100" dir="2700000" algn="tl" rotWithShape="0">
                              <a:prstClr val="black">
                                <a:alpha val="40000"/>
                              </a:prstClr>
                            </a:outerShdw>
                          </a:effectLst>
                          <a:latin typeface="+mn-lt"/>
                        </a:rPr>
                        <a:t>Low-Risk (</a:t>
                      </a:r>
                      <a:r>
                        <a:rPr lang="en-US" sz="1600">
                          <a:solidFill>
                            <a:schemeClr val="bg1"/>
                          </a:solidFill>
                          <a:effectLst>
                            <a:outerShdw blurRad="50800" dist="38100" dir="2700000" algn="tl" rotWithShape="0">
                              <a:prstClr val="black">
                                <a:alpha val="40000"/>
                              </a:prstClr>
                            </a:outerShdw>
                          </a:effectLst>
                          <a:latin typeface="+mn-lt"/>
                        </a:rPr>
                        <a:t>Short stays (≤ 6 days)</a:t>
                      </a:r>
                      <a:endParaRPr lang="en-US" sz="1600" b="0" i="0" u="none" strike="noStrike" dirty="0">
                        <a:solidFill>
                          <a:schemeClr val="bg1"/>
                        </a:solidFill>
                        <a:effectLst>
                          <a:outerShdw blurRad="50800" dist="38100" dir="2700000" algn="tl" rotWithShape="0">
                            <a:prstClr val="black">
                              <a:alpha val="40000"/>
                            </a:prstClr>
                          </a:outerShdw>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r" defTabSz="914400" rtl="0" eaLnBrk="1" fontAlgn="b" latinLnBrk="0" hangingPunct="1"/>
                      <a:r>
                        <a:rPr lang="en-US" sz="1600" dirty="0">
                          <a:solidFill>
                            <a:schemeClr val="bg1"/>
                          </a:solidFill>
                        </a:rPr>
                        <a:t>30,212</a:t>
                      </a:r>
                      <a:endParaRPr lang="en-US" sz="1600" b="0" u="none" strike="noStrike" kern="1200" dirty="0">
                        <a:solidFill>
                          <a:schemeClr val="bg1"/>
                        </a:solidFill>
                        <a:effectLst>
                          <a:outerShdw blurRad="50800" dist="38100" dir="2700000" algn="tl" rotWithShape="0">
                            <a:prstClr val="black">
                              <a:alpha val="40000"/>
                            </a:prstClr>
                          </a:outerShdw>
                        </a:effectLst>
                        <a:latin typeface="+mn-lt"/>
                        <a:ea typeface="+mn-ea"/>
                        <a:cs typeface="+mn-cs"/>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313091"/>
                  </a:ext>
                </a:extLst>
              </a:tr>
              <a:tr h="269922">
                <a:tc>
                  <a:txBody>
                    <a:bodyPr/>
                    <a:lstStyle/>
                    <a:p>
                      <a:pPr algn="l" fontAlgn="b"/>
                      <a:r>
                        <a:rPr lang="en-US" sz="1600" b="1" u="none" strike="noStrike" dirty="0">
                          <a:solidFill>
                            <a:schemeClr val="bg1"/>
                          </a:solidFill>
                          <a:effectLst>
                            <a:outerShdw blurRad="50800" dist="38100" dir="2700000" algn="tl" rotWithShape="0">
                              <a:prstClr val="black">
                                <a:alpha val="40000"/>
                              </a:prstClr>
                            </a:outerShdw>
                          </a:effectLst>
                          <a:latin typeface="+mn-lt"/>
                        </a:rPr>
                        <a:t>Grand Total</a:t>
                      </a:r>
                      <a:endParaRPr lang="en-US" sz="1600" b="1" i="0" u="none" strike="noStrike" dirty="0">
                        <a:solidFill>
                          <a:schemeClr val="bg1"/>
                        </a:solidFill>
                        <a:effectLst>
                          <a:outerShdw blurRad="50800" dist="38100" dir="2700000" algn="tl" rotWithShape="0">
                            <a:prstClr val="black">
                              <a:alpha val="40000"/>
                            </a:prstClr>
                          </a:outerShdw>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b"/>
                      <a:r>
                        <a:rPr lang="en-US" sz="1600" b="1" u="none" strike="noStrike" dirty="0">
                          <a:solidFill>
                            <a:schemeClr val="bg1"/>
                          </a:solidFill>
                          <a:effectLst>
                            <a:outerShdw blurRad="50800" dist="38100" dir="2700000" algn="tl" rotWithShape="0">
                              <a:prstClr val="black">
                                <a:alpha val="40000"/>
                              </a:prstClr>
                            </a:outerShdw>
                          </a:effectLst>
                          <a:latin typeface="+mn-lt"/>
                        </a:rPr>
                        <a:t>100000</a:t>
                      </a:r>
                      <a:endParaRPr lang="en-US" sz="1600" b="1" i="0" u="none" strike="noStrike" dirty="0">
                        <a:solidFill>
                          <a:schemeClr val="bg1"/>
                        </a:solidFill>
                        <a:effectLst>
                          <a:outerShdw blurRad="50800" dist="38100" dir="2700000" algn="tl" rotWithShape="0">
                            <a:prstClr val="black">
                              <a:alpha val="40000"/>
                            </a:prstClr>
                          </a:outerShdw>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0805732"/>
                  </a:ext>
                </a:extLst>
              </a:tr>
            </a:tbl>
          </a:graphicData>
        </a:graphic>
      </p:graphicFrame>
      <p:sp>
        <p:nvSpPr>
          <p:cNvPr id="5" name="Rectangle 4">
            <a:extLst>
              <a:ext uri="{FF2B5EF4-FFF2-40B4-BE49-F238E27FC236}">
                <a16:creationId xmlns:a16="http://schemas.microsoft.com/office/drawing/2014/main" id="{04282929-F9A7-F594-69A6-4BC1AAA922B9}"/>
              </a:ext>
            </a:extLst>
          </p:cNvPr>
          <p:cNvSpPr/>
          <p:nvPr/>
        </p:nvSpPr>
        <p:spPr>
          <a:xfrm>
            <a:off x="9895453" y="144969"/>
            <a:ext cx="1828800" cy="493965"/>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accent1"/>
                </a:solidFill>
                <a:effectLst>
                  <a:outerShdw blurRad="38100" dist="25400" dir="5400000" algn="ctr" rotWithShape="0">
                    <a:srgbClr val="6E747A">
                      <a:alpha val="43000"/>
                    </a:srgbClr>
                  </a:outerShdw>
                </a:effectLst>
              </a:rPr>
              <a:t>Task 5</a:t>
            </a:r>
          </a:p>
        </p:txBody>
      </p:sp>
      <p:pic>
        <p:nvPicPr>
          <p:cNvPr id="8" name="Graphic 7" descr="Connections with solid fill">
            <a:extLst>
              <a:ext uri="{FF2B5EF4-FFF2-40B4-BE49-F238E27FC236}">
                <a16:creationId xmlns:a16="http://schemas.microsoft.com/office/drawing/2014/main" id="{482788E6-9072-5CB2-F4AB-1105DD6EF7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873" y="179109"/>
            <a:ext cx="629477" cy="629477"/>
          </a:xfrm>
          <a:prstGeom prst="rect">
            <a:avLst/>
          </a:prstGeom>
        </p:spPr>
      </p:pic>
      <p:sp>
        <p:nvSpPr>
          <p:cNvPr id="7" name="TextBox 6">
            <a:extLst>
              <a:ext uri="{FF2B5EF4-FFF2-40B4-BE49-F238E27FC236}">
                <a16:creationId xmlns:a16="http://schemas.microsoft.com/office/drawing/2014/main" id="{26A36298-D496-97E9-7136-3353BB88A7CD}"/>
              </a:ext>
            </a:extLst>
          </p:cNvPr>
          <p:cNvSpPr txBox="1"/>
          <p:nvPr/>
        </p:nvSpPr>
        <p:spPr>
          <a:xfrm>
            <a:off x="293690" y="4576397"/>
            <a:ext cx="11194889" cy="2031325"/>
          </a:xfrm>
          <a:prstGeom prst="rect">
            <a:avLst/>
          </a:prstGeom>
          <a:noFill/>
        </p:spPr>
        <p:txBody>
          <a:bodyPr wrap="square" rtlCol="0">
            <a:spAutoFit/>
          </a:bodyPr>
          <a:lstStyle/>
          <a:p>
            <a:r>
              <a:rPr lang="en-US" b="1" dirty="0">
                <a:solidFill>
                  <a:schemeClr val="bg1"/>
                </a:solidFill>
              </a:rPr>
              <a:t>B. Find admission trends by weekday and weekend.</a:t>
            </a:r>
          </a:p>
          <a:p>
            <a:endParaRPr lang="en-US" b="1" u="sng" dirty="0">
              <a:solidFill>
                <a:schemeClr val="bg1"/>
              </a:solidFill>
            </a:endParaRPr>
          </a:p>
          <a:p>
            <a:r>
              <a:rPr lang="en-US" b="1" u="sng" dirty="0">
                <a:solidFill>
                  <a:schemeClr val="bg1"/>
                </a:solidFill>
              </a:rPr>
              <a:t>Insights:</a:t>
            </a:r>
          </a:p>
          <a:p>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While total admissions over three years are higher on weekdays (~71,000) than weekends (~28,000), the average admissions per day are fairly consistent, indicating that daily patient volume is steady and the higher totals are due to more weekdays than weekend days</a:t>
            </a:r>
          </a:p>
        </p:txBody>
      </p:sp>
    </p:spTree>
    <p:extLst>
      <p:ext uri="{BB962C8B-B14F-4D97-AF65-F5344CB8AC3E}">
        <p14:creationId xmlns:p14="http://schemas.microsoft.com/office/powerpoint/2010/main" val="485862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descr="Doctor pointing at CAT scans">
            <a:extLst>
              <a:ext uri="{FF2B5EF4-FFF2-40B4-BE49-F238E27FC236}">
                <a16:creationId xmlns:a16="http://schemas.microsoft.com/office/drawing/2014/main" id="{51DAB4F3-6A41-481C-8A3E-932EDFC9FEDE}"/>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51" name="Rectangle 50">
            <a:extLst>
              <a:ext uri="{FF2B5EF4-FFF2-40B4-BE49-F238E27FC236}">
                <a16:creationId xmlns:a16="http://schemas.microsoft.com/office/drawing/2014/main" id="{3CBC84C2-2B48-4B15-A420-8B5F2BDE2398}"/>
              </a:ext>
              <a:ext uri="{C183D7F6-B498-43B3-948B-1728B52AA6E4}">
                <adec:decorative xmlns:adec="http://schemas.microsoft.com/office/drawing/2017/decorative" val="1"/>
              </a:ext>
            </a:extLst>
          </p:cNvPr>
          <p:cNvSpPr/>
          <p:nvPr/>
        </p:nvSpPr>
        <p:spPr>
          <a:xfrm>
            <a:off x="-212036" y="-298172"/>
            <a:ext cx="12404036" cy="7156172"/>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34E91A8-F608-453C-810A-BE991818063F}"/>
              </a:ext>
            </a:extLst>
          </p:cNvPr>
          <p:cNvSpPr>
            <a:spLocks noGrp="1"/>
          </p:cNvSpPr>
          <p:nvPr>
            <p:ph type="title"/>
          </p:nvPr>
        </p:nvSpPr>
        <p:spPr>
          <a:xfrm>
            <a:off x="722099" y="570948"/>
            <a:ext cx="9626145" cy="360000"/>
          </a:xfrm>
        </p:spPr>
        <p:txBody>
          <a:bodyPr/>
          <a:lstStyle/>
          <a:p>
            <a:r>
              <a:rPr lang="en-US" dirty="0"/>
              <a:t>Performance &amp; Patient Flow Analysis</a:t>
            </a:r>
          </a:p>
        </p:txBody>
      </p:sp>
      <p:sp>
        <p:nvSpPr>
          <p:cNvPr id="4" name="Slide Number Placeholder 3">
            <a:extLst>
              <a:ext uri="{FF2B5EF4-FFF2-40B4-BE49-F238E27FC236}">
                <a16:creationId xmlns:a16="http://schemas.microsoft.com/office/drawing/2014/main" id="{D2DDB908-45C5-4999-982F-0A82DA013F58}"/>
              </a:ext>
            </a:extLst>
          </p:cNvPr>
          <p:cNvSpPr>
            <a:spLocks noGrp="1"/>
          </p:cNvSpPr>
          <p:nvPr>
            <p:ph type="sldNum" sz="quarter" idx="11"/>
          </p:nvPr>
        </p:nvSpPr>
        <p:spPr/>
        <p:txBody>
          <a:bodyPr/>
          <a:lstStyle/>
          <a:p>
            <a:r>
              <a:rPr lang="en-US" dirty="0"/>
              <a:t>10</a:t>
            </a:r>
          </a:p>
        </p:txBody>
      </p:sp>
      <p:sp>
        <p:nvSpPr>
          <p:cNvPr id="19" name="object 7" descr="Beige rectangle">
            <a:extLst>
              <a:ext uri="{FF2B5EF4-FFF2-40B4-BE49-F238E27FC236}">
                <a16:creationId xmlns:a16="http://schemas.microsoft.com/office/drawing/2014/main" id="{9B6BE182-7444-49DA-B6FA-215DD68D50CA}"/>
              </a:ext>
            </a:extLst>
          </p:cNvPr>
          <p:cNvSpPr/>
          <p:nvPr/>
        </p:nvSpPr>
        <p:spPr bwMode="white">
          <a:xfrm>
            <a:off x="756983" y="1052115"/>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33" name="Group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4796278" y="2160255"/>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7ACC6B18-DB03-4AC5-B015-6374FF16D1E5}"/>
              </a:ext>
              <a:ext uri="{C183D7F6-B498-43B3-948B-1728B52AA6E4}">
                <adec:decorative xmlns:adec="http://schemas.microsoft.com/office/drawing/2017/decorative" val="1"/>
              </a:ext>
            </a:extLst>
          </p:cNvPr>
          <p:cNvGrpSpPr>
            <a:grpSpLocks noChangeAspect="1"/>
          </p:cNvGrpSpPr>
          <p:nvPr/>
        </p:nvGrpSpPr>
        <p:grpSpPr>
          <a:xfrm>
            <a:off x="10310145" y="2224959"/>
            <a:ext cx="926876" cy="745643"/>
            <a:chOff x="7901577" y="2268089"/>
            <a:chExt cx="926876" cy="745643"/>
          </a:xfrm>
        </p:grpSpPr>
        <p:sp>
          <p:nvSpPr>
            <p:cNvPr id="44" name="Rectangle 43">
              <a:extLst>
                <a:ext uri="{FF2B5EF4-FFF2-40B4-BE49-F238E27FC236}">
                  <a16:creationId xmlns:a16="http://schemas.microsoft.com/office/drawing/2014/main" id="{FBAA099B-7326-44B7-B125-672BA72A6C05}"/>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06107D1A-01D9-4CE4-9A22-FC55274F17C6}"/>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Box 5">
            <a:extLst>
              <a:ext uri="{FF2B5EF4-FFF2-40B4-BE49-F238E27FC236}">
                <a16:creationId xmlns:a16="http://schemas.microsoft.com/office/drawing/2014/main" id="{38694790-8E14-D0F7-12D9-55C6057167E3}"/>
              </a:ext>
            </a:extLst>
          </p:cNvPr>
          <p:cNvSpPr txBox="1"/>
          <p:nvPr/>
        </p:nvSpPr>
        <p:spPr>
          <a:xfrm>
            <a:off x="533296" y="1341592"/>
            <a:ext cx="11613175" cy="2862322"/>
          </a:xfrm>
          <a:prstGeom prst="rect">
            <a:avLst/>
          </a:prstGeom>
          <a:noFill/>
        </p:spPr>
        <p:txBody>
          <a:bodyPr wrap="square" rtlCol="0">
            <a:spAutoFit/>
          </a:bodyPr>
          <a:lstStyle/>
          <a:p>
            <a:r>
              <a:rPr lang="en-US" b="1" dirty="0">
                <a:solidFill>
                  <a:schemeClr val="bg1"/>
                </a:solidFill>
              </a:rPr>
              <a:t>A. Find doctors whose patients had recovery rate above the departmental average</a:t>
            </a:r>
          </a:p>
          <a:p>
            <a:endParaRPr lang="en-US" b="1" dirty="0">
              <a:solidFill>
                <a:schemeClr val="bg1"/>
              </a:solidFill>
            </a:endParaRPr>
          </a:p>
          <a:p>
            <a:r>
              <a:rPr lang="en-US" b="1" u="sng" dirty="0">
                <a:solidFill>
                  <a:schemeClr val="bg1"/>
                </a:solidFill>
              </a:rPr>
              <a:t>Insights:</a:t>
            </a:r>
          </a:p>
          <a:p>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The analysis shows that out of 10K doctors, 1K (10%) consistently achieved recovery rates above their departmental average, demonstrating stronger patient outcomes.</a:t>
            </a:r>
          </a:p>
          <a:p>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This highlights an opportunity to leverage high-performing doctors standardize successful treatment protocols, and focus improvement efforts on departments with fewer above-average performers to raise overall recovery rates.</a:t>
            </a:r>
          </a:p>
        </p:txBody>
      </p:sp>
      <p:sp>
        <p:nvSpPr>
          <p:cNvPr id="7" name="TextBox 6">
            <a:extLst>
              <a:ext uri="{FF2B5EF4-FFF2-40B4-BE49-F238E27FC236}">
                <a16:creationId xmlns:a16="http://schemas.microsoft.com/office/drawing/2014/main" id="{8A1B5A3E-829F-3CFE-8917-CB194E775795}"/>
              </a:ext>
            </a:extLst>
          </p:cNvPr>
          <p:cNvSpPr txBox="1"/>
          <p:nvPr/>
        </p:nvSpPr>
        <p:spPr>
          <a:xfrm>
            <a:off x="600503" y="4203914"/>
            <a:ext cx="11058201" cy="2308324"/>
          </a:xfrm>
          <a:prstGeom prst="rect">
            <a:avLst/>
          </a:prstGeom>
          <a:noFill/>
        </p:spPr>
        <p:txBody>
          <a:bodyPr wrap="square" rtlCol="0">
            <a:spAutoFit/>
          </a:bodyPr>
          <a:lstStyle/>
          <a:p>
            <a:r>
              <a:rPr lang="en-US" b="1" dirty="0">
                <a:solidFill>
                  <a:schemeClr val="bg1"/>
                </a:solidFill>
              </a:rPr>
              <a:t>B- Identify patients who visited more than 3 departments in a year</a:t>
            </a:r>
          </a:p>
          <a:p>
            <a:endParaRPr lang="en-US" b="1" dirty="0">
              <a:solidFill>
                <a:schemeClr val="bg1"/>
              </a:solidFill>
            </a:endParaRPr>
          </a:p>
          <a:p>
            <a:r>
              <a:rPr lang="en-US" b="1" u="sng" dirty="0">
                <a:solidFill>
                  <a:schemeClr val="bg1"/>
                </a:solidFill>
              </a:rPr>
              <a:t>Insights:</a:t>
            </a:r>
            <a:endParaRPr lang="en-US" b="1" dirty="0">
              <a:solidFill>
                <a:schemeClr val="bg1"/>
              </a:solidFill>
            </a:endParaRPr>
          </a:p>
          <a:p>
            <a:endParaRPr lang="en-US" b="1" dirty="0">
              <a:solidFill>
                <a:schemeClr val="bg1"/>
              </a:solidFill>
            </a:endParaRPr>
          </a:p>
          <a:p>
            <a:pPr marL="285750" indent="-285750">
              <a:buFont typeface="Wingdings" panose="05000000000000000000" pitchFamily="2" charset="2"/>
              <a:buChar char="Ø"/>
            </a:pPr>
            <a:r>
              <a:rPr lang="en-US" dirty="0">
                <a:solidFill>
                  <a:schemeClr val="bg1"/>
                </a:solidFill>
              </a:rPr>
              <a:t>No patients visited more than 3 departments in a single year. </a:t>
            </a:r>
          </a:p>
          <a:p>
            <a:pPr marL="285750" indent="-285750">
              <a:buFont typeface="Wingdings" panose="05000000000000000000" pitchFamily="2" charset="2"/>
              <a:buChar char="Ø"/>
            </a:pPr>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This indicates that patient cases are generally handled within fewer specialties, which may reflect streamlined treatment processes or lower incidence of multi-specialty conditions</a:t>
            </a:r>
          </a:p>
        </p:txBody>
      </p:sp>
      <p:sp>
        <p:nvSpPr>
          <p:cNvPr id="8" name="Rectangle 7">
            <a:extLst>
              <a:ext uri="{FF2B5EF4-FFF2-40B4-BE49-F238E27FC236}">
                <a16:creationId xmlns:a16="http://schemas.microsoft.com/office/drawing/2014/main" id="{6AFBAE71-8C1E-E29A-A352-77AE893789E1}"/>
              </a:ext>
            </a:extLst>
          </p:cNvPr>
          <p:cNvSpPr/>
          <p:nvPr/>
        </p:nvSpPr>
        <p:spPr>
          <a:xfrm>
            <a:off x="9882201" y="520824"/>
            <a:ext cx="1828800" cy="493965"/>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accent1"/>
                </a:solidFill>
                <a:effectLst>
                  <a:outerShdw blurRad="38100" dist="25400" dir="5400000" algn="ctr" rotWithShape="0">
                    <a:srgbClr val="6E747A">
                      <a:alpha val="43000"/>
                    </a:srgbClr>
                  </a:outerShdw>
                </a:effectLst>
              </a:rPr>
              <a:t>Task 6</a:t>
            </a:r>
          </a:p>
        </p:txBody>
      </p:sp>
      <p:pic>
        <p:nvPicPr>
          <p:cNvPr id="9" name="Graphic 8" descr="Arrow circle with solid fill">
            <a:extLst>
              <a:ext uri="{FF2B5EF4-FFF2-40B4-BE49-F238E27FC236}">
                <a16:creationId xmlns:a16="http://schemas.microsoft.com/office/drawing/2014/main" id="{28402239-8021-356C-7147-4687E251A5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529" y="460397"/>
            <a:ext cx="676570" cy="676570"/>
          </a:xfrm>
          <a:prstGeom prst="rect">
            <a:avLst/>
          </a:prstGeom>
        </p:spPr>
      </p:pic>
    </p:spTree>
    <p:extLst>
      <p:ext uri="{BB962C8B-B14F-4D97-AF65-F5344CB8AC3E}">
        <p14:creationId xmlns:p14="http://schemas.microsoft.com/office/powerpoint/2010/main" val="4192590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descr="Doctor pointing at CAT scans">
            <a:extLst>
              <a:ext uri="{FF2B5EF4-FFF2-40B4-BE49-F238E27FC236}">
                <a16:creationId xmlns:a16="http://schemas.microsoft.com/office/drawing/2014/main" id="{51DAB4F3-6A41-481C-8A3E-932EDFC9FEDE}"/>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51" name="Rectangle 50">
            <a:extLst>
              <a:ext uri="{FF2B5EF4-FFF2-40B4-BE49-F238E27FC236}">
                <a16:creationId xmlns:a16="http://schemas.microsoft.com/office/drawing/2014/main" id="{3CBC84C2-2B48-4B15-A420-8B5F2BDE2398}"/>
              </a:ext>
              <a:ext uri="{C183D7F6-B498-43B3-948B-1728B52AA6E4}">
                <adec:decorative xmlns:adec="http://schemas.microsoft.com/office/drawing/2017/decorative" val="1"/>
              </a:ext>
            </a:extLst>
          </p:cNvPr>
          <p:cNvSpPr/>
          <p:nvPr/>
        </p:nvSpPr>
        <p:spPr>
          <a:xfrm>
            <a:off x="-180000" y="-179109"/>
            <a:ext cx="12372000" cy="7037109"/>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34E91A8-F608-453C-810A-BE991818063F}"/>
              </a:ext>
            </a:extLst>
          </p:cNvPr>
          <p:cNvSpPr>
            <a:spLocks noGrp="1"/>
          </p:cNvSpPr>
          <p:nvPr>
            <p:ph type="title"/>
          </p:nvPr>
        </p:nvSpPr>
        <p:spPr>
          <a:xfrm>
            <a:off x="652744" y="580652"/>
            <a:ext cx="7784751" cy="438637"/>
          </a:xfrm>
        </p:spPr>
        <p:txBody>
          <a:bodyPr/>
          <a:lstStyle/>
          <a:p>
            <a:r>
              <a:rPr lang="en-US" dirty="0"/>
              <a:t>Yearly Trends &amp; Peak Months</a:t>
            </a:r>
          </a:p>
        </p:txBody>
      </p:sp>
      <p:sp>
        <p:nvSpPr>
          <p:cNvPr id="4" name="Slide Number Placeholder 3">
            <a:extLst>
              <a:ext uri="{FF2B5EF4-FFF2-40B4-BE49-F238E27FC236}">
                <a16:creationId xmlns:a16="http://schemas.microsoft.com/office/drawing/2014/main" id="{D2DDB908-45C5-4999-982F-0A82DA013F58}"/>
              </a:ext>
            </a:extLst>
          </p:cNvPr>
          <p:cNvSpPr>
            <a:spLocks noGrp="1"/>
          </p:cNvSpPr>
          <p:nvPr>
            <p:ph type="sldNum" sz="quarter" idx="11"/>
          </p:nvPr>
        </p:nvSpPr>
        <p:spPr/>
        <p:txBody>
          <a:bodyPr/>
          <a:lstStyle/>
          <a:p>
            <a:fld id="{EECC7194-A4D0-457B-9D3E-53681723AFF7}" type="slidenum">
              <a:rPr lang="en-US" smtClean="0"/>
              <a:pPr/>
              <a:t>10</a:t>
            </a:fld>
            <a:endParaRPr lang="en-US" dirty="0"/>
          </a:p>
        </p:txBody>
      </p:sp>
      <p:sp>
        <p:nvSpPr>
          <p:cNvPr id="19" name="object 7" descr="Beige rectangle">
            <a:extLst>
              <a:ext uri="{FF2B5EF4-FFF2-40B4-BE49-F238E27FC236}">
                <a16:creationId xmlns:a16="http://schemas.microsoft.com/office/drawing/2014/main" id="{9B6BE182-7444-49DA-B6FA-215DD68D50CA}"/>
              </a:ext>
            </a:extLst>
          </p:cNvPr>
          <p:cNvSpPr/>
          <p:nvPr/>
        </p:nvSpPr>
        <p:spPr bwMode="white">
          <a:xfrm>
            <a:off x="722099" y="1010746"/>
            <a:ext cx="4104000" cy="123761"/>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33" name="Group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5723178" y="2223240"/>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7ACC6B18-DB03-4AC5-B015-6374FF16D1E5}"/>
              </a:ext>
              <a:ext uri="{C183D7F6-B498-43B3-948B-1728B52AA6E4}">
                <adec:decorative xmlns:adec="http://schemas.microsoft.com/office/drawing/2017/decorative" val="1"/>
              </a:ext>
            </a:extLst>
          </p:cNvPr>
          <p:cNvGrpSpPr>
            <a:grpSpLocks noChangeAspect="1"/>
          </p:cNvGrpSpPr>
          <p:nvPr/>
        </p:nvGrpSpPr>
        <p:grpSpPr>
          <a:xfrm>
            <a:off x="10310145" y="2224959"/>
            <a:ext cx="926876" cy="745643"/>
            <a:chOff x="7901577" y="2268089"/>
            <a:chExt cx="926876" cy="745643"/>
          </a:xfrm>
        </p:grpSpPr>
        <p:sp>
          <p:nvSpPr>
            <p:cNvPr id="44" name="Rectangle 43">
              <a:extLst>
                <a:ext uri="{FF2B5EF4-FFF2-40B4-BE49-F238E27FC236}">
                  <a16:creationId xmlns:a16="http://schemas.microsoft.com/office/drawing/2014/main" id="{FBAA099B-7326-44B7-B125-672BA72A6C05}"/>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06107D1A-01D9-4CE4-9A22-FC55274F17C6}"/>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C3DD90BD-150A-1B8B-7C9E-7D9A56C52D2D}"/>
              </a:ext>
            </a:extLst>
          </p:cNvPr>
          <p:cNvSpPr txBox="1"/>
          <p:nvPr/>
        </p:nvSpPr>
        <p:spPr>
          <a:xfrm>
            <a:off x="402205" y="2287945"/>
            <a:ext cx="11237795" cy="1477328"/>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chemeClr val="bg1"/>
                </a:solidFill>
              </a:rPr>
              <a:t>From 2022 to 2023, total treatments rose slightly by 1.23% (36,213 → 36,657). In 2024, the count appears to drop sharply by -25.99% to 27,130. </a:t>
            </a:r>
          </a:p>
          <a:p>
            <a:pPr marL="285750" indent="-285750">
              <a:buFont typeface="Wingdings" panose="05000000000000000000" pitchFamily="2" charset="2"/>
              <a:buChar char="Ø"/>
            </a:pPr>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The -25.99% drop in 2024 (27,130) is due to data covering only Jan–Sep, which is just ~200 fewer than 2023’s same period. With Oct–Dec typically high, 2024 may match or exceed 2023</a:t>
            </a:r>
          </a:p>
        </p:txBody>
      </p:sp>
      <p:sp>
        <p:nvSpPr>
          <p:cNvPr id="6" name="TextBox 5">
            <a:extLst>
              <a:ext uri="{FF2B5EF4-FFF2-40B4-BE49-F238E27FC236}">
                <a16:creationId xmlns:a16="http://schemas.microsoft.com/office/drawing/2014/main" id="{B83B8277-7E70-6867-084B-BF4F1D2967F9}"/>
              </a:ext>
            </a:extLst>
          </p:cNvPr>
          <p:cNvSpPr txBox="1"/>
          <p:nvPr/>
        </p:nvSpPr>
        <p:spPr>
          <a:xfrm>
            <a:off x="402205" y="3887415"/>
            <a:ext cx="11173559" cy="2585323"/>
          </a:xfrm>
          <a:prstGeom prst="rect">
            <a:avLst/>
          </a:prstGeom>
          <a:noFill/>
        </p:spPr>
        <p:txBody>
          <a:bodyPr wrap="square" rtlCol="0">
            <a:spAutoFit/>
          </a:bodyPr>
          <a:lstStyle/>
          <a:p>
            <a:r>
              <a:rPr lang="en-US" b="1" dirty="0">
                <a:solidFill>
                  <a:schemeClr val="bg1"/>
                </a:solidFill>
              </a:rPr>
              <a:t>B- Find the month with the highest treatment cost. </a:t>
            </a:r>
          </a:p>
          <a:p>
            <a:endParaRPr lang="en-US" b="1" dirty="0">
              <a:solidFill>
                <a:schemeClr val="bg1"/>
              </a:solidFill>
            </a:endParaRPr>
          </a:p>
          <a:p>
            <a:r>
              <a:rPr lang="en-US" b="1" u="sng" dirty="0">
                <a:solidFill>
                  <a:schemeClr val="bg1"/>
                </a:solidFill>
              </a:rPr>
              <a:t>Insights:</a:t>
            </a:r>
            <a:endParaRPr lang="en-US" dirty="0">
              <a:solidFill>
                <a:schemeClr val="bg1"/>
              </a:solidFill>
            </a:endParaRPr>
          </a:p>
          <a:p>
            <a:pPr marL="285750" indent="-285750">
              <a:buFont typeface="Wingdings" panose="05000000000000000000" pitchFamily="2" charset="2"/>
              <a:buChar char="Ø"/>
            </a:pPr>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In January 2024, total treatment costs reached ₹32.6M, the highest of the year driven mainly by routine treatments like consultations, medication, and therapy. </a:t>
            </a:r>
          </a:p>
          <a:p>
            <a:pPr marL="285750" indent="-285750">
              <a:buFont typeface="Wingdings" panose="05000000000000000000" pitchFamily="2" charset="2"/>
              <a:buChar char="Ø"/>
            </a:pPr>
            <a:endParaRPr lang="en-US" dirty="0">
              <a:solidFill>
                <a:schemeClr val="bg1"/>
              </a:solidFill>
            </a:endParaRPr>
          </a:p>
          <a:p>
            <a:pPr marL="285750" indent="-285750">
              <a:buFont typeface="Wingdings" panose="05000000000000000000" pitchFamily="2" charset="2"/>
              <a:buChar char="Ø"/>
            </a:pPr>
            <a:r>
              <a:rPr lang="en-US" dirty="0">
                <a:solidFill>
                  <a:schemeClr val="bg1"/>
                </a:solidFill>
              </a:rPr>
              <a:t>This likely reflects a post-holiday backlog as patients delayed care in December. The predictable surge allows for better staffing, scheduling, and targeted service offers to manage demand and boost revenue</a:t>
            </a:r>
          </a:p>
        </p:txBody>
      </p:sp>
      <p:sp>
        <p:nvSpPr>
          <p:cNvPr id="7" name="TextBox 6">
            <a:extLst>
              <a:ext uri="{FF2B5EF4-FFF2-40B4-BE49-F238E27FC236}">
                <a16:creationId xmlns:a16="http://schemas.microsoft.com/office/drawing/2014/main" id="{A6D5DC22-F517-E44F-A644-8473CF82F5B9}"/>
              </a:ext>
            </a:extLst>
          </p:cNvPr>
          <p:cNvSpPr txBox="1"/>
          <p:nvPr/>
        </p:nvSpPr>
        <p:spPr>
          <a:xfrm flipH="1">
            <a:off x="586816" y="1313750"/>
            <a:ext cx="9389056" cy="923330"/>
          </a:xfrm>
          <a:prstGeom prst="rect">
            <a:avLst/>
          </a:prstGeom>
          <a:noFill/>
        </p:spPr>
        <p:txBody>
          <a:bodyPr wrap="square" rtlCol="0">
            <a:spAutoFit/>
          </a:bodyPr>
          <a:lstStyle/>
          <a:p>
            <a:r>
              <a:rPr lang="en-US" b="1" dirty="0">
                <a:solidFill>
                  <a:schemeClr val="bg1"/>
                </a:solidFill>
              </a:rPr>
              <a:t>A- Calculate year-over-year change in total treatments administered.</a:t>
            </a:r>
          </a:p>
          <a:p>
            <a:endParaRPr lang="en-US" b="1" dirty="0">
              <a:solidFill>
                <a:schemeClr val="bg1"/>
              </a:solidFill>
            </a:endParaRPr>
          </a:p>
          <a:p>
            <a:r>
              <a:rPr lang="en-US" b="1" u="sng" dirty="0">
                <a:solidFill>
                  <a:schemeClr val="bg1"/>
                </a:solidFill>
              </a:rPr>
              <a:t>Insights</a:t>
            </a:r>
          </a:p>
        </p:txBody>
      </p:sp>
      <p:sp>
        <p:nvSpPr>
          <p:cNvPr id="10" name="Rectangle 9">
            <a:extLst>
              <a:ext uri="{FF2B5EF4-FFF2-40B4-BE49-F238E27FC236}">
                <a16:creationId xmlns:a16="http://schemas.microsoft.com/office/drawing/2014/main" id="{DEFC9773-9962-BD9D-413C-A89E3A5CF558}"/>
              </a:ext>
            </a:extLst>
          </p:cNvPr>
          <p:cNvSpPr/>
          <p:nvPr/>
        </p:nvSpPr>
        <p:spPr>
          <a:xfrm>
            <a:off x="9595070" y="333669"/>
            <a:ext cx="1828800" cy="493965"/>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accent1"/>
                </a:solidFill>
                <a:effectLst>
                  <a:outerShdw blurRad="38100" dist="25400" dir="5400000" algn="ctr" rotWithShape="0">
                    <a:srgbClr val="6E747A">
                      <a:alpha val="43000"/>
                    </a:srgbClr>
                  </a:outerShdw>
                </a:effectLst>
              </a:rPr>
              <a:t>Task 7</a:t>
            </a:r>
          </a:p>
        </p:txBody>
      </p:sp>
      <p:pic>
        <p:nvPicPr>
          <p:cNvPr id="9" name="Graphic 8" descr="Bar graph with upward trend with solid fill">
            <a:extLst>
              <a:ext uri="{FF2B5EF4-FFF2-40B4-BE49-F238E27FC236}">
                <a16:creationId xmlns:a16="http://schemas.microsoft.com/office/drawing/2014/main" id="{3C093E25-85E9-82EA-7DA2-E8E73D2714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532" y="513527"/>
            <a:ext cx="559099" cy="559099"/>
          </a:xfrm>
          <a:prstGeom prst="rect">
            <a:avLst/>
          </a:prstGeom>
        </p:spPr>
      </p:pic>
    </p:spTree>
    <p:extLst>
      <p:ext uri="{BB962C8B-B14F-4D97-AF65-F5344CB8AC3E}">
        <p14:creationId xmlns:p14="http://schemas.microsoft.com/office/powerpoint/2010/main" val="1605086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Placeholder 47" descr="Doctor pointing at CAT scans">
            <a:extLst>
              <a:ext uri="{FF2B5EF4-FFF2-40B4-BE49-F238E27FC236}">
                <a16:creationId xmlns:a16="http://schemas.microsoft.com/office/drawing/2014/main" id="{51DAB4F3-6A41-481C-8A3E-932EDFC9FEDE}"/>
              </a:ext>
            </a:extLst>
          </p:cNvPr>
          <p:cNvPicPr>
            <a:picLocks noGrp="1" noChangeAspect="1"/>
          </p:cNvPicPr>
          <p:nvPr>
            <p:ph type="pic" sz="quarter" idx="12"/>
          </p:nvPr>
        </p:nvPicPr>
        <p:blipFill>
          <a:blip r:embed="rId3" cstate="screen">
            <a:extLst>
              <a:ext uri="{28A0092B-C50C-407E-A947-70E740481C1C}">
                <a14:useLocalDpi xmlns:a14="http://schemas.microsoft.com/office/drawing/2010/main"/>
              </a:ext>
            </a:extLst>
          </a:blip>
          <a:srcRect/>
          <a:stretch>
            <a:fillRect/>
          </a:stretch>
        </p:blipFill>
        <p:spPr>
          <a:xfrm>
            <a:off x="180000" y="179109"/>
            <a:ext cx="11832000" cy="6513922"/>
          </a:xfrm>
        </p:spPr>
      </p:pic>
      <p:sp>
        <p:nvSpPr>
          <p:cNvPr id="51" name="Rectangle 50">
            <a:extLst>
              <a:ext uri="{FF2B5EF4-FFF2-40B4-BE49-F238E27FC236}">
                <a16:creationId xmlns:a16="http://schemas.microsoft.com/office/drawing/2014/main" id="{3CBC84C2-2B48-4B15-A420-8B5F2BDE2398}"/>
              </a:ext>
              <a:ext uri="{C183D7F6-B498-43B3-948B-1728B52AA6E4}">
                <adec:decorative xmlns:adec="http://schemas.microsoft.com/office/drawing/2017/decorative" val="1"/>
              </a:ext>
            </a:extLst>
          </p:cNvPr>
          <p:cNvSpPr/>
          <p:nvPr/>
        </p:nvSpPr>
        <p:spPr>
          <a:xfrm>
            <a:off x="-57182" y="0"/>
            <a:ext cx="12192000"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34E91A8-F608-453C-810A-BE991818063F}"/>
              </a:ext>
            </a:extLst>
          </p:cNvPr>
          <p:cNvSpPr>
            <a:spLocks noGrp="1"/>
          </p:cNvSpPr>
          <p:nvPr>
            <p:ph type="title"/>
          </p:nvPr>
        </p:nvSpPr>
        <p:spPr/>
        <p:txBody>
          <a:bodyPr/>
          <a:lstStyle/>
          <a:p>
            <a:r>
              <a:rPr lang="en-US" dirty="0"/>
              <a:t>Patient Readmission &amp; Care Continuity</a:t>
            </a:r>
          </a:p>
        </p:txBody>
      </p:sp>
      <p:sp>
        <p:nvSpPr>
          <p:cNvPr id="4" name="Slide Number Placeholder 3">
            <a:extLst>
              <a:ext uri="{FF2B5EF4-FFF2-40B4-BE49-F238E27FC236}">
                <a16:creationId xmlns:a16="http://schemas.microsoft.com/office/drawing/2014/main" id="{D2DDB908-45C5-4999-982F-0A82DA013F58}"/>
              </a:ext>
            </a:extLst>
          </p:cNvPr>
          <p:cNvSpPr>
            <a:spLocks noGrp="1"/>
          </p:cNvSpPr>
          <p:nvPr>
            <p:ph type="sldNum" sz="quarter" idx="11"/>
          </p:nvPr>
        </p:nvSpPr>
        <p:spPr/>
        <p:txBody>
          <a:bodyPr/>
          <a:lstStyle/>
          <a:p>
            <a:fld id="{EECC7194-A4D0-457B-9D3E-53681723AFF7}" type="slidenum">
              <a:rPr lang="en-US" smtClean="0"/>
              <a:pPr/>
              <a:t>11</a:t>
            </a:fld>
            <a:endParaRPr lang="en-US" dirty="0"/>
          </a:p>
        </p:txBody>
      </p:sp>
      <p:sp>
        <p:nvSpPr>
          <p:cNvPr id="19" name="object 7" descr="Beige rectangle">
            <a:extLst>
              <a:ext uri="{FF2B5EF4-FFF2-40B4-BE49-F238E27FC236}">
                <a16:creationId xmlns:a16="http://schemas.microsoft.com/office/drawing/2014/main" id="{9B6BE182-7444-49DA-B6FA-215DD68D50CA}"/>
              </a:ext>
            </a:extLst>
          </p:cNvPr>
          <p:cNvSpPr/>
          <p:nvPr/>
        </p:nvSpPr>
        <p:spPr bwMode="white">
          <a:xfrm>
            <a:off x="684000" y="1196744"/>
            <a:ext cx="4104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grpSp>
        <p:nvGrpSpPr>
          <p:cNvPr id="33" name="Group 32">
            <a:extLst>
              <a:ext uri="{FF2B5EF4-FFF2-40B4-BE49-F238E27FC236}">
                <a16:creationId xmlns:a16="http://schemas.microsoft.com/office/drawing/2014/main" id="{5E2C35B1-F420-4244-8B67-EA845C8CAF53}"/>
              </a:ext>
              <a:ext uri="{C183D7F6-B498-43B3-948B-1728B52AA6E4}">
                <adec:decorative xmlns:adec="http://schemas.microsoft.com/office/drawing/2017/decorative" val="1"/>
              </a:ext>
            </a:extLst>
          </p:cNvPr>
          <p:cNvGrpSpPr>
            <a:grpSpLocks noChangeAspect="1"/>
          </p:cNvGrpSpPr>
          <p:nvPr/>
        </p:nvGrpSpPr>
        <p:grpSpPr>
          <a:xfrm flipH="1">
            <a:off x="7914029" y="2224959"/>
            <a:ext cx="896287" cy="745643"/>
            <a:chOff x="1824638" y="1733550"/>
            <a:chExt cx="1192959" cy="992451"/>
          </a:xfrm>
        </p:grpSpPr>
        <p:sp>
          <p:nvSpPr>
            <p:cNvPr id="34" name="Rectangle 33">
              <a:extLst>
                <a:ext uri="{FF2B5EF4-FFF2-40B4-BE49-F238E27FC236}">
                  <a16:creationId xmlns:a16="http://schemas.microsoft.com/office/drawing/2014/main" id="{35DB04D1-9BD5-4C35-8B33-0432F97A6012}"/>
                </a:ext>
              </a:extLst>
            </p:cNvPr>
            <p:cNvSpPr/>
            <p:nvPr/>
          </p:nvSpPr>
          <p:spPr>
            <a:xfrm>
              <a:off x="1824638" y="1733550"/>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C23B33E-1386-44B0-B24A-50A8F9B55FFD}"/>
                </a:ext>
              </a:extLst>
            </p:cNvPr>
            <p:cNvSpPr/>
            <p:nvPr/>
          </p:nvSpPr>
          <p:spPr>
            <a:xfrm>
              <a:off x="1925901" y="1819672"/>
              <a:ext cx="1091696"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6" name="Group 35">
            <a:extLst>
              <a:ext uri="{FF2B5EF4-FFF2-40B4-BE49-F238E27FC236}">
                <a16:creationId xmlns:a16="http://schemas.microsoft.com/office/drawing/2014/main" id="{645F4DD1-5663-4019-891C-8821ED8ACA9F}"/>
              </a:ext>
              <a:ext uri="{C183D7F6-B498-43B3-948B-1728B52AA6E4}">
                <adec:decorative xmlns:adec="http://schemas.microsoft.com/office/drawing/2017/decorative" val="1"/>
              </a:ext>
            </a:extLst>
          </p:cNvPr>
          <p:cNvGrpSpPr>
            <a:grpSpLocks noChangeAspect="1"/>
          </p:cNvGrpSpPr>
          <p:nvPr/>
        </p:nvGrpSpPr>
        <p:grpSpPr>
          <a:xfrm>
            <a:off x="5723178" y="2223240"/>
            <a:ext cx="745643" cy="745643"/>
            <a:chOff x="5482999" y="1607028"/>
            <a:chExt cx="1200866" cy="1200866"/>
          </a:xfrm>
        </p:grpSpPr>
        <p:sp>
          <p:nvSpPr>
            <p:cNvPr id="37" name="Rectangle 36">
              <a:extLst>
                <a:ext uri="{FF2B5EF4-FFF2-40B4-BE49-F238E27FC236}">
                  <a16:creationId xmlns:a16="http://schemas.microsoft.com/office/drawing/2014/main" id="{9AAD7458-0E1F-4289-885E-7991DEFE6E7D}"/>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C5F22B3-BA39-4DDB-9CD2-F9F1183608D0}"/>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 name="Group 1">
            <a:extLst>
              <a:ext uri="{FF2B5EF4-FFF2-40B4-BE49-F238E27FC236}">
                <a16:creationId xmlns:a16="http://schemas.microsoft.com/office/drawing/2014/main" id="{7ACC6B18-DB03-4AC5-B015-6374FF16D1E5}"/>
              </a:ext>
              <a:ext uri="{C183D7F6-B498-43B3-948B-1728B52AA6E4}">
                <adec:decorative xmlns:adec="http://schemas.microsoft.com/office/drawing/2017/decorative" val="1"/>
              </a:ext>
            </a:extLst>
          </p:cNvPr>
          <p:cNvGrpSpPr>
            <a:grpSpLocks noChangeAspect="1"/>
          </p:cNvGrpSpPr>
          <p:nvPr/>
        </p:nvGrpSpPr>
        <p:grpSpPr>
          <a:xfrm>
            <a:off x="10310145" y="2224959"/>
            <a:ext cx="926876" cy="745643"/>
            <a:chOff x="7901577" y="2268089"/>
            <a:chExt cx="926876" cy="745643"/>
          </a:xfrm>
        </p:grpSpPr>
        <p:sp>
          <p:nvSpPr>
            <p:cNvPr id="44" name="Rectangle 43">
              <a:extLst>
                <a:ext uri="{FF2B5EF4-FFF2-40B4-BE49-F238E27FC236}">
                  <a16:creationId xmlns:a16="http://schemas.microsoft.com/office/drawing/2014/main" id="{FBAA099B-7326-44B7-B125-672BA72A6C05}"/>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06107D1A-01D9-4CE4-9A22-FC55274F17C6}"/>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Group 46">
            <a:extLst>
              <a:ext uri="{FF2B5EF4-FFF2-40B4-BE49-F238E27FC236}">
                <a16:creationId xmlns:a16="http://schemas.microsoft.com/office/drawing/2014/main" id="{95074261-BBC0-4AF3-AF09-C64386DBB2CF}"/>
              </a:ext>
              <a:ext uri="{C183D7F6-B498-43B3-948B-1728B52AA6E4}">
                <adec:decorative xmlns:adec="http://schemas.microsoft.com/office/drawing/2017/decorative" val="1"/>
              </a:ext>
            </a:extLst>
          </p:cNvPr>
          <p:cNvGrpSpPr>
            <a:grpSpLocks noChangeAspect="1"/>
          </p:cNvGrpSpPr>
          <p:nvPr/>
        </p:nvGrpSpPr>
        <p:grpSpPr>
          <a:xfrm flipH="1">
            <a:off x="949886" y="2224959"/>
            <a:ext cx="926876" cy="745643"/>
            <a:chOff x="7901577" y="2268089"/>
            <a:chExt cx="926876" cy="745643"/>
          </a:xfrm>
        </p:grpSpPr>
        <p:sp>
          <p:nvSpPr>
            <p:cNvPr id="50" name="Rectangle 49">
              <a:extLst>
                <a:ext uri="{FF2B5EF4-FFF2-40B4-BE49-F238E27FC236}">
                  <a16:creationId xmlns:a16="http://schemas.microsoft.com/office/drawing/2014/main" id="{C4BF8F4D-C494-48D1-8EDB-FE34A665FBEE}"/>
                </a:ext>
              </a:extLst>
            </p:cNvPr>
            <p:cNvSpPr/>
            <p:nvPr/>
          </p:nvSpPr>
          <p:spPr>
            <a:xfrm flipH="1">
              <a:off x="8516862" y="2268089"/>
              <a:ext cx="311591" cy="745643"/>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EF7A8167-402E-4636-8949-042E663C233E}"/>
                </a:ext>
              </a:extLst>
            </p:cNvPr>
            <p:cNvSpPr/>
            <p:nvPr/>
          </p:nvSpPr>
          <p:spPr>
            <a:xfrm flipH="1">
              <a:off x="7901577" y="2332794"/>
              <a:ext cx="781787" cy="616234"/>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Rectangle 4">
            <a:extLst>
              <a:ext uri="{FF2B5EF4-FFF2-40B4-BE49-F238E27FC236}">
                <a16:creationId xmlns:a16="http://schemas.microsoft.com/office/drawing/2014/main" id="{DE23FA27-5E8C-29BF-708D-E12EAF37A90D}"/>
              </a:ext>
            </a:extLst>
          </p:cNvPr>
          <p:cNvSpPr/>
          <p:nvPr/>
        </p:nvSpPr>
        <p:spPr>
          <a:xfrm>
            <a:off x="9595070" y="333669"/>
            <a:ext cx="1828800" cy="493965"/>
          </a:xfrm>
          <a:prstGeom prst="rect">
            <a:avLst/>
          </a:prstGeom>
          <a:gradFill>
            <a:gsLst>
              <a:gs pos="0">
                <a:schemeClr val="tx2"/>
              </a:gs>
              <a:gs pos="100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n w="0"/>
                <a:solidFill>
                  <a:schemeClr val="accent1"/>
                </a:solidFill>
                <a:effectLst>
                  <a:outerShdw blurRad="38100" dist="25400" dir="5400000" algn="ctr" rotWithShape="0">
                    <a:srgbClr val="6E747A">
                      <a:alpha val="43000"/>
                    </a:srgbClr>
                  </a:outerShdw>
                </a:effectLst>
              </a:rPr>
              <a:t>Task 8</a:t>
            </a:r>
          </a:p>
        </p:txBody>
      </p:sp>
      <p:sp>
        <p:nvSpPr>
          <p:cNvPr id="6" name="TextBox 5">
            <a:extLst>
              <a:ext uri="{FF2B5EF4-FFF2-40B4-BE49-F238E27FC236}">
                <a16:creationId xmlns:a16="http://schemas.microsoft.com/office/drawing/2014/main" id="{EFCB04AE-F0D1-183F-82BB-E44D9B4781F2}"/>
              </a:ext>
            </a:extLst>
          </p:cNvPr>
          <p:cNvSpPr txBox="1"/>
          <p:nvPr/>
        </p:nvSpPr>
        <p:spPr>
          <a:xfrm>
            <a:off x="556592" y="1805832"/>
            <a:ext cx="11289646" cy="4524315"/>
          </a:xfrm>
          <a:prstGeom prst="rect">
            <a:avLst/>
          </a:prstGeom>
          <a:noFill/>
        </p:spPr>
        <p:txBody>
          <a:bodyPr wrap="square" rtlCol="0">
            <a:spAutoFit/>
          </a:bodyPr>
          <a:lstStyle/>
          <a:p>
            <a:r>
              <a:rPr lang="en-US" b="1" dirty="0">
                <a:solidFill>
                  <a:schemeClr val="bg1"/>
                </a:solidFill>
              </a:rPr>
              <a:t>Retention and Follow-up Analysis </a:t>
            </a:r>
          </a:p>
          <a:p>
            <a:r>
              <a:rPr lang="en-US" b="1" dirty="0">
                <a:solidFill>
                  <a:schemeClr val="bg1"/>
                </a:solidFill>
              </a:rPr>
              <a:t>A. Find patients readmitted within 30 days of discharge. </a:t>
            </a:r>
          </a:p>
          <a:p>
            <a:endParaRPr lang="en-US" dirty="0">
              <a:solidFill>
                <a:schemeClr val="bg1"/>
              </a:solidFill>
            </a:endParaRPr>
          </a:p>
          <a:p>
            <a:r>
              <a:rPr lang="en-US" b="1" u="sng" dirty="0">
                <a:solidFill>
                  <a:schemeClr val="bg1"/>
                </a:solidFill>
              </a:rPr>
              <a:t>Insights</a:t>
            </a:r>
          </a:p>
          <a:p>
            <a:endParaRPr lang="en-US" b="1" u="sng" dirty="0">
              <a:solidFill>
                <a:schemeClr val="bg1"/>
              </a:solidFill>
            </a:endParaRPr>
          </a:p>
          <a:p>
            <a:r>
              <a:rPr lang="en-US" dirty="0">
                <a:solidFill>
                  <a:schemeClr val="bg1"/>
                </a:solidFill>
              </a:rPr>
              <a:t>There are 3064 patients faced readmission within 30 days, with an average gap of 15 days signaling gaps in post-discharge care and opportunities for improved patient follow-up.</a:t>
            </a:r>
          </a:p>
          <a:p>
            <a:endParaRPr lang="en-US" dirty="0">
              <a:solidFill>
                <a:schemeClr val="bg1"/>
              </a:solidFill>
            </a:endParaRPr>
          </a:p>
          <a:p>
            <a:r>
              <a:rPr lang="en-US" b="1" dirty="0">
                <a:solidFill>
                  <a:schemeClr val="bg1"/>
                </a:solidFill>
              </a:rPr>
              <a:t>B. Calculate average interval between admissions for chronic patients</a:t>
            </a:r>
          </a:p>
          <a:p>
            <a:endParaRPr lang="en-US" dirty="0">
              <a:solidFill>
                <a:schemeClr val="bg1"/>
              </a:solidFill>
            </a:endParaRPr>
          </a:p>
          <a:p>
            <a:r>
              <a:rPr lang="en-US" b="1" u="sng" dirty="0">
                <a:solidFill>
                  <a:schemeClr val="bg1"/>
                </a:solidFill>
              </a:rPr>
              <a:t>Insights</a:t>
            </a:r>
          </a:p>
          <a:p>
            <a:endParaRPr lang="en-US" b="1" u="sng" dirty="0">
              <a:solidFill>
                <a:schemeClr val="bg1"/>
              </a:solidFill>
            </a:endParaRPr>
          </a:p>
          <a:p>
            <a:r>
              <a:rPr lang="en-US" dirty="0">
                <a:solidFill>
                  <a:schemeClr val="bg1"/>
                </a:solidFill>
              </a:rPr>
              <a:t>Chronic patients are readmitted roughly every 187 days, highlighting predictable bi-annual demand. This insight helps to understand the 6 month readmission pattern allows hospitals to implement preventive measures and monitor patients before their next expected admission</a:t>
            </a:r>
          </a:p>
          <a:p>
            <a:endParaRPr lang="en-US" dirty="0">
              <a:solidFill>
                <a:schemeClr val="bg1"/>
              </a:solidFill>
            </a:endParaRPr>
          </a:p>
        </p:txBody>
      </p:sp>
      <p:pic>
        <p:nvPicPr>
          <p:cNvPr id="8" name="Graphic 7" descr="Heart with pulse with solid fill">
            <a:extLst>
              <a:ext uri="{FF2B5EF4-FFF2-40B4-BE49-F238E27FC236}">
                <a16:creationId xmlns:a16="http://schemas.microsoft.com/office/drawing/2014/main" id="{7FC7AB49-3FAB-B07A-F0C9-15667BD604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182" y="774789"/>
            <a:ext cx="586409" cy="586409"/>
          </a:xfrm>
          <a:prstGeom prst="rect">
            <a:avLst/>
          </a:prstGeom>
        </p:spPr>
      </p:pic>
    </p:spTree>
    <p:extLst>
      <p:ext uri="{BB962C8B-B14F-4D97-AF65-F5344CB8AC3E}">
        <p14:creationId xmlns:p14="http://schemas.microsoft.com/office/powerpoint/2010/main" val="3256366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429F02-7E8D-405F-86D3-2E794F83D8FE}"/>
              </a:ext>
            </a:extLst>
          </p:cNvPr>
          <p:cNvSpPr>
            <a:spLocks noGrp="1"/>
          </p:cNvSpPr>
          <p:nvPr>
            <p:ph type="sldNum" sz="quarter" idx="11"/>
          </p:nvPr>
        </p:nvSpPr>
        <p:spPr/>
        <p:txBody>
          <a:bodyPr/>
          <a:lstStyle/>
          <a:p>
            <a:fld id="{EECC7194-A4D0-457B-9D3E-53681723AFF7}" type="slidenum">
              <a:rPr lang="en-US" smtClean="0"/>
              <a:pPr/>
              <a:t>12</a:t>
            </a:fld>
            <a:endParaRPr lang="en-US" dirty="0"/>
          </a:p>
        </p:txBody>
      </p:sp>
      <p:sp>
        <p:nvSpPr>
          <p:cNvPr id="22" name="object 7" descr="Beige rectangle">
            <a:extLst>
              <a:ext uri="{FF2B5EF4-FFF2-40B4-BE49-F238E27FC236}">
                <a16:creationId xmlns:a16="http://schemas.microsoft.com/office/drawing/2014/main" id="{FEEE4553-844E-49F9-8166-2F2E938E3677}"/>
              </a:ext>
            </a:extLst>
          </p:cNvPr>
          <p:cNvSpPr/>
          <p:nvPr/>
        </p:nvSpPr>
        <p:spPr bwMode="white">
          <a:xfrm flipV="1">
            <a:off x="1010696" y="339290"/>
            <a:ext cx="3470764" cy="637643"/>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4" name="Title 3">
            <a:extLst>
              <a:ext uri="{FF2B5EF4-FFF2-40B4-BE49-F238E27FC236}">
                <a16:creationId xmlns:a16="http://schemas.microsoft.com/office/drawing/2014/main" id="{DDEAE456-6EA3-AA0A-5EEE-B975BA7D7A99}"/>
              </a:ext>
            </a:extLst>
          </p:cNvPr>
          <p:cNvSpPr>
            <a:spLocks noGrp="1"/>
          </p:cNvSpPr>
          <p:nvPr>
            <p:ph type="title"/>
          </p:nvPr>
        </p:nvSpPr>
        <p:spPr>
          <a:xfrm>
            <a:off x="1010696" y="506702"/>
            <a:ext cx="8738294" cy="503582"/>
          </a:xfrm>
        </p:spPr>
        <p:txBody>
          <a:bodyPr/>
          <a:lstStyle/>
          <a:p>
            <a:r>
              <a:rPr lang="en-US" dirty="0"/>
              <a:t>Key insights &amp; Recommendations                          </a:t>
            </a:r>
          </a:p>
        </p:txBody>
      </p:sp>
      <p:sp>
        <p:nvSpPr>
          <p:cNvPr id="6" name="TextBox 5">
            <a:extLst>
              <a:ext uri="{FF2B5EF4-FFF2-40B4-BE49-F238E27FC236}">
                <a16:creationId xmlns:a16="http://schemas.microsoft.com/office/drawing/2014/main" id="{AEEC9043-0134-6247-15A8-2B24404C7C9D}"/>
              </a:ext>
            </a:extLst>
          </p:cNvPr>
          <p:cNvSpPr txBox="1"/>
          <p:nvPr/>
        </p:nvSpPr>
        <p:spPr>
          <a:xfrm>
            <a:off x="280889" y="1228496"/>
            <a:ext cx="11404712" cy="5165517"/>
          </a:xfrm>
          <a:prstGeom prst="rect">
            <a:avLst/>
          </a:prstGeom>
          <a:noFill/>
        </p:spPr>
        <p:txBody>
          <a:bodyPr wrap="square">
            <a:spAutoFit/>
          </a:bodyPr>
          <a:lstStyle/>
          <a:p>
            <a:r>
              <a:rPr lang="en-US" dirty="0">
                <a:solidFill>
                  <a:schemeClr val="bg1"/>
                </a:solidFill>
              </a:rPr>
              <a:t>The dashboard reveals key opportunities to improve hospital efficiency and patient outcomes</a:t>
            </a:r>
          </a:p>
          <a:p>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285750" indent="-285750" eaLnBrk="0" fontAlgn="base" hangingPunct="0">
              <a:lnSpc>
                <a:spcPct val="150000"/>
              </a:lnSpc>
              <a:spcBef>
                <a:spcPct val="0"/>
              </a:spcBef>
              <a:spcAft>
                <a:spcPct val="0"/>
              </a:spcAft>
              <a:buFont typeface="Wingdings" panose="05000000000000000000" pitchFamily="2" charset="2"/>
              <a:buChar char="q"/>
            </a:pPr>
            <a:r>
              <a:rPr lang="en-US" b="1" dirty="0">
                <a:solidFill>
                  <a:schemeClr val="bg1"/>
                </a:solidFill>
              </a:rPr>
              <a:t>Seasonal Cost Shifts :</a:t>
            </a:r>
            <a:r>
              <a:rPr lang="en-US" dirty="0">
                <a:solidFill>
                  <a:schemeClr val="bg1"/>
                </a:solidFill>
              </a:rPr>
              <a:t>January post-holiday surge ₹32.6M: use pre-holiday outreach, corporate wellness tie-ups, targeted promotions, and front-load staff, and medicines to manage demand and maximize revenue</a:t>
            </a:r>
          </a:p>
          <a:p>
            <a:pPr eaLnBrk="0" fontAlgn="base" hangingPunct="0">
              <a:lnSpc>
                <a:spcPct val="150000"/>
              </a:lnSpc>
              <a:spcBef>
                <a:spcPct val="0"/>
              </a:spcBef>
              <a:spcAft>
                <a:spcPct val="0"/>
              </a:spcAft>
            </a:pPr>
            <a:endParaRPr lang="en-US" dirty="0">
              <a:solidFill>
                <a:schemeClr val="bg1"/>
              </a:solidFill>
            </a:endParaRPr>
          </a:p>
          <a:p>
            <a:pPr marL="285750" indent="-285750" eaLnBrk="0" fontAlgn="base" hangingPunct="0">
              <a:lnSpc>
                <a:spcPct val="150000"/>
              </a:lnSpc>
              <a:spcBef>
                <a:spcPct val="0"/>
              </a:spcBef>
              <a:spcAft>
                <a:spcPct val="0"/>
              </a:spcAft>
              <a:buFont typeface="Wingdings" panose="05000000000000000000" pitchFamily="2" charset="2"/>
              <a:buChar char="q"/>
            </a:pPr>
            <a:r>
              <a:rPr kumimoji="0" lang="en-US" altLang="en-US" sz="1800" b="1" i="0" u="none" strike="noStrike" cap="none" normalizeH="0" baseline="0" dirty="0">
                <a:ln>
                  <a:noFill/>
                </a:ln>
                <a:solidFill>
                  <a:schemeClr val="bg1"/>
                </a:solidFill>
                <a:effectLst/>
                <a:latin typeface="Arial" panose="020B0604020202020204" pitchFamily="34" charset="0"/>
              </a:rPr>
              <a:t>Resource Planning:</a:t>
            </a:r>
            <a:r>
              <a:rPr kumimoji="0" lang="en-US" altLang="en-US" sz="1800" b="0" i="0" u="none" strike="noStrike" cap="none" normalizeH="0" baseline="0" dirty="0">
                <a:ln>
                  <a:noFill/>
                </a:ln>
                <a:solidFill>
                  <a:schemeClr val="bg1"/>
                </a:solidFill>
                <a:effectLst/>
                <a:latin typeface="Arial" panose="020B0604020202020204" pitchFamily="34" charset="0"/>
              </a:rPr>
              <a:t> Ensure adequate medicines, beds, and staff to handle predictable patient inflow</a:t>
            </a:r>
          </a:p>
          <a:p>
            <a:pPr eaLnBrk="0" fontAlgn="base" hangingPunct="0">
              <a:lnSpc>
                <a:spcPct val="150000"/>
              </a:lnSpc>
              <a:spcBef>
                <a:spcPct val="0"/>
              </a:spcBef>
              <a:spcAft>
                <a:spcPct val="0"/>
              </a:spcAft>
            </a:pPr>
            <a:endParaRPr lang="en-US" dirty="0">
              <a:solidFill>
                <a:schemeClr val="bg1"/>
              </a:solidFill>
            </a:endParaRPr>
          </a:p>
          <a:p>
            <a:pPr marL="285750" indent="-285750">
              <a:lnSpc>
                <a:spcPct val="150000"/>
              </a:lnSpc>
              <a:buFont typeface="Wingdings" panose="05000000000000000000" pitchFamily="2" charset="2"/>
              <a:buChar char="q"/>
            </a:pPr>
            <a:r>
              <a:rPr lang="en-US" b="1" dirty="0">
                <a:solidFill>
                  <a:schemeClr val="bg1"/>
                </a:solidFill>
              </a:rPr>
              <a:t>Uneven Weekly Demand: </a:t>
            </a:r>
            <a:r>
              <a:rPr lang="en-US" dirty="0">
                <a:solidFill>
                  <a:schemeClr val="bg1"/>
                </a:solidFill>
              </a:rPr>
              <a:t>With 71.5% of admissions on weekdays, schedule follow-ups, routine checkups, or minor procedures on weekends, and use weekends for training or non-critical services to balance load and optimize efficiency.</a:t>
            </a:r>
          </a:p>
          <a:p>
            <a:pPr>
              <a:lnSpc>
                <a:spcPct val="150000"/>
              </a:lnSpc>
            </a:pPr>
            <a:endParaRPr lang="en-US" dirty="0">
              <a:solidFill>
                <a:schemeClr val="bg1"/>
              </a:solidFill>
            </a:endParaRPr>
          </a:p>
          <a:p>
            <a:pPr marL="285750" indent="-285750">
              <a:lnSpc>
                <a:spcPct val="150000"/>
              </a:lnSpc>
              <a:buFont typeface="Wingdings" panose="05000000000000000000" pitchFamily="2" charset="2"/>
              <a:buChar char="q"/>
            </a:pPr>
            <a:r>
              <a:rPr kumimoji="0" lang="en-US" altLang="en-US" sz="1800" b="1" i="0" u="none" strike="noStrike" cap="none" normalizeH="0" baseline="0" dirty="0">
                <a:ln>
                  <a:noFill/>
                </a:ln>
                <a:solidFill>
                  <a:schemeClr val="bg1"/>
                </a:solidFill>
                <a:effectLst/>
                <a:latin typeface="Arial" panose="020B0604020202020204" pitchFamily="34" charset="0"/>
              </a:rPr>
              <a:t>Proactive &amp; Digital Care: </a:t>
            </a:r>
            <a:r>
              <a:rPr kumimoji="0" lang="en-US" altLang="en-US" sz="1800" i="0" u="none" strike="noStrike" cap="none" normalizeH="0" baseline="0" dirty="0">
                <a:ln>
                  <a:noFill/>
                </a:ln>
                <a:solidFill>
                  <a:schemeClr val="bg1"/>
                </a:solidFill>
                <a:effectLst/>
                <a:latin typeface="Arial" panose="020B0604020202020204" pitchFamily="34" charset="0"/>
              </a:rPr>
              <a:t>Intervene early for moderate-risk patients to prevent escalation to high risk and elderly patients with apps or remote monitoring for continuous support</a:t>
            </a:r>
            <a:endParaRPr lang="en-US" dirty="0">
              <a:solidFill>
                <a:schemeClr val="bg1"/>
              </a:solidFill>
            </a:endParaRPr>
          </a:p>
        </p:txBody>
      </p:sp>
      <p:pic>
        <p:nvPicPr>
          <p:cNvPr id="8" name="Graphic 7" descr="Research with solid fill">
            <a:extLst>
              <a:ext uri="{FF2B5EF4-FFF2-40B4-BE49-F238E27FC236}">
                <a16:creationId xmlns:a16="http://schemas.microsoft.com/office/drawing/2014/main" id="{5B2C55B3-49FC-11B2-D5A5-BAC00437DE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2381" y="448806"/>
            <a:ext cx="662418" cy="662418"/>
          </a:xfrm>
          <a:prstGeom prst="rect">
            <a:avLst/>
          </a:prstGeom>
        </p:spPr>
      </p:pic>
    </p:spTree>
    <p:extLst>
      <p:ext uri="{BB962C8B-B14F-4D97-AF65-F5344CB8AC3E}">
        <p14:creationId xmlns:p14="http://schemas.microsoft.com/office/powerpoint/2010/main" val="821796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429F02-7E8D-405F-86D3-2E794F83D8FE}"/>
              </a:ext>
            </a:extLst>
          </p:cNvPr>
          <p:cNvSpPr>
            <a:spLocks noGrp="1"/>
          </p:cNvSpPr>
          <p:nvPr>
            <p:ph type="sldNum" sz="quarter" idx="11"/>
          </p:nvPr>
        </p:nvSpPr>
        <p:spPr/>
        <p:txBody>
          <a:bodyPr/>
          <a:lstStyle/>
          <a:p>
            <a:fld id="{EECC7194-A4D0-457B-9D3E-53681723AFF7}" type="slidenum">
              <a:rPr lang="en-US" smtClean="0"/>
              <a:pPr/>
              <a:t>13</a:t>
            </a:fld>
            <a:endParaRPr lang="en-US" dirty="0"/>
          </a:p>
        </p:txBody>
      </p:sp>
      <p:sp>
        <p:nvSpPr>
          <p:cNvPr id="6" name="TextBox 5">
            <a:extLst>
              <a:ext uri="{FF2B5EF4-FFF2-40B4-BE49-F238E27FC236}">
                <a16:creationId xmlns:a16="http://schemas.microsoft.com/office/drawing/2014/main" id="{AEEC9043-0134-6247-15A8-2B24404C7C9D}"/>
              </a:ext>
            </a:extLst>
          </p:cNvPr>
          <p:cNvSpPr txBox="1"/>
          <p:nvPr/>
        </p:nvSpPr>
        <p:spPr>
          <a:xfrm>
            <a:off x="238539" y="820593"/>
            <a:ext cx="11337225" cy="5216813"/>
          </a:xfrm>
          <a:prstGeom prst="rect">
            <a:avLst/>
          </a:prstGeom>
          <a:noFill/>
        </p:spPr>
        <p:txBody>
          <a:bodyPr wrap="square">
            <a:spAutoFit/>
          </a:bodyPr>
          <a:lstStyle/>
          <a:p>
            <a:endParaRPr lang="en-US" dirty="0">
              <a:solidFill>
                <a:schemeClr val="bg1"/>
              </a:solidFill>
            </a:endParaRPr>
          </a:p>
          <a:p>
            <a:pPr marL="285750" indent="-285750">
              <a:lnSpc>
                <a:spcPct val="150000"/>
              </a:lnSpc>
              <a:buFont typeface="Wingdings" panose="05000000000000000000" pitchFamily="2" charset="2"/>
              <a:buChar char="q"/>
            </a:pPr>
            <a:r>
              <a:rPr lang="en-US" b="1" dirty="0">
                <a:solidFill>
                  <a:schemeClr val="bg1"/>
                </a:solidFill>
              </a:rPr>
              <a:t>Specialty Risk :</a:t>
            </a:r>
            <a:r>
              <a:rPr lang="en-US" dirty="0">
                <a:solidFill>
                  <a:schemeClr val="bg1"/>
                </a:solidFill>
              </a:rPr>
              <a:t> Some departments (like Cardiology) keep patients longer than others. Long stays mean fewer patients can be treated, reducing hospital revenue potential. Improve recovery processes in these departments to speed up discharges.</a:t>
            </a:r>
          </a:p>
          <a:p>
            <a:endParaRPr lang="en-US" dirty="0">
              <a:solidFill>
                <a:schemeClr val="bg1"/>
              </a:solidFill>
            </a:endParaRPr>
          </a:p>
          <a:p>
            <a:pPr marL="285750" indent="-285750">
              <a:lnSpc>
                <a:spcPct val="150000"/>
              </a:lnSpc>
              <a:buFont typeface="Wingdings" panose="05000000000000000000" pitchFamily="2" charset="2"/>
              <a:buChar char="q"/>
            </a:pPr>
            <a:r>
              <a:rPr lang="en-US" b="1" dirty="0">
                <a:solidFill>
                  <a:schemeClr val="bg1"/>
                </a:solidFill>
              </a:rPr>
              <a:t>Leverage Star Performers :</a:t>
            </a:r>
            <a:r>
              <a:rPr lang="en-US" dirty="0">
                <a:solidFill>
                  <a:schemeClr val="bg1"/>
                </a:solidFill>
              </a:rPr>
              <a:t>Top 10% of doctors exceed department recovery benchmarks; rotate them through underperforming units for skill diffusion.</a:t>
            </a:r>
          </a:p>
          <a:p>
            <a:pPr marL="285750" indent="-285750">
              <a:lnSpc>
                <a:spcPct val="150000"/>
              </a:lnSpc>
              <a:buFont typeface="Wingdings" panose="05000000000000000000" pitchFamily="2" charset="2"/>
              <a:buChar char="q"/>
            </a:pPr>
            <a:endParaRPr lang="en-US" dirty="0">
              <a:solidFill>
                <a:schemeClr val="bg1"/>
              </a:solidFill>
            </a:endParaRPr>
          </a:p>
          <a:p>
            <a:pPr marL="285750" indent="-285750">
              <a:lnSpc>
                <a:spcPct val="150000"/>
              </a:lnSpc>
              <a:buFont typeface="Wingdings" panose="05000000000000000000" pitchFamily="2" charset="2"/>
              <a:buChar char="q"/>
            </a:pPr>
            <a:r>
              <a:rPr lang="en-US" b="1" dirty="0">
                <a:solidFill>
                  <a:schemeClr val="bg1"/>
                </a:solidFill>
              </a:rPr>
              <a:t>Predictive &amp; Analytical Care: </a:t>
            </a:r>
            <a:r>
              <a:rPr lang="en-US" dirty="0">
                <a:solidFill>
                  <a:schemeClr val="bg1"/>
                </a:solidFill>
              </a:rPr>
              <a:t>Leverage historical data to identify likely readmissions and use patient feedback to explore links with holidays, events, or environmental factors for proactive interventions.</a:t>
            </a:r>
          </a:p>
          <a:p>
            <a:pPr marL="285750" indent="-285750">
              <a:lnSpc>
                <a:spcPct val="150000"/>
              </a:lnSpc>
              <a:buFont typeface="Wingdings" panose="05000000000000000000" pitchFamily="2" charset="2"/>
              <a:buChar char="q"/>
            </a:pPr>
            <a:endParaRPr lang="en-US" dirty="0">
              <a:solidFill>
                <a:schemeClr val="bg1"/>
              </a:solidFill>
            </a:endParaRPr>
          </a:p>
          <a:p>
            <a:pPr marL="285750" indent="-285750">
              <a:buFont typeface="Wingdings" panose="05000000000000000000" pitchFamily="2" charset="2"/>
              <a:buChar char="q"/>
            </a:pPr>
            <a:r>
              <a:rPr lang="en-US" b="1" dirty="0">
                <a:solidFill>
                  <a:schemeClr val="bg1"/>
                </a:solidFill>
              </a:rPr>
              <a:t>Department Expansion: </a:t>
            </a:r>
            <a:r>
              <a:rPr lang="en-US" dirty="0">
                <a:solidFill>
                  <a:schemeClr val="bg1"/>
                </a:solidFill>
              </a:rPr>
              <a:t>Introduce a dedicated Dermatology service to capture growing skin and cosmetic care demand, attract new patients, boost revenue, and position the hospital as a one-stop care provider.</a:t>
            </a:r>
          </a:p>
          <a:p>
            <a:pPr marL="285750" indent="-285750">
              <a:buFont typeface="Wingdings" panose="05000000000000000000" pitchFamily="2" charset="2"/>
              <a:buChar char="q"/>
            </a:pPr>
            <a:endParaRPr lang="en-US" dirty="0">
              <a:solidFill>
                <a:schemeClr val="bg1"/>
              </a:solidFill>
            </a:endParaRPr>
          </a:p>
        </p:txBody>
      </p:sp>
    </p:spTree>
    <p:extLst>
      <p:ext uri="{BB962C8B-B14F-4D97-AF65-F5344CB8AC3E}">
        <p14:creationId xmlns:p14="http://schemas.microsoft.com/office/powerpoint/2010/main" val="4012362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429F02-7E8D-405F-86D3-2E794F83D8FE}"/>
              </a:ext>
            </a:extLst>
          </p:cNvPr>
          <p:cNvSpPr>
            <a:spLocks noGrp="1"/>
          </p:cNvSpPr>
          <p:nvPr>
            <p:ph type="sldNum" sz="quarter" idx="11"/>
          </p:nvPr>
        </p:nvSpPr>
        <p:spPr/>
        <p:txBody>
          <a:bodyPr/>
          <a:lstStyle/>
          <a:p>
            <a:fld id="{EECC7194-A4D0-457B-9D3E-53681723AFF7}" type="slidenum">
              <a:rPr lang="en-US" smtClean="0"/>
              <a:pPr/>
              <a:t>14</a:t>
            </a:fld>
            <a:endParaRPr lang="en-US" dirty="0"/>
          </a:p>
        </p:txBody>
      </p:sp>
      <p:sp>
        <p:nvSpPr>
          <p:cNvPr id="21" name="Title 20">
            <a:extLst>
              <a:ext uri="{FF2B5EF4-FFF2-40B4-BE49-F238E27FC236}">
                <a16:creationId xmlns:a16="http://schemas.microsoft.com/office/drawing/2014/main" id="{BC5F3A4A-2857-4A67-818B-E62AB2121E48}"/>
              </a:ext>
            </a:extLst>
          </p:cNvPr>
          <p:cNvSpPr>
            <a:spLocks noGrp="1"/>
          </p:cNvSpPr>
          <p:nvPr>
            <p:ph type="title"/>
          </p:nvPr>
        </p:nvSpPr>
        <p:spPr>
          <a:xfrm>
            <a:off x="684000" y="808186"/>
            <a:ext cx="9056348" cy="1033708"/>
          </a:xfrm>
        </p:spPr>
        <p:txBody>
          <a:bodyPr/>
          <a:lstStyle/>
          <a:p>
            <a:r>
              <a:rPr lang="en-US" dirty="0"/>
              <a:t>Dashboard</a:t>
            </a:r>
          </a:p>
        </p:txBody>
      </p:sp>
      <p:sp>
        <p:nvSpPr>
          <p:cNvPr id="22" name="object 7" descr="Beige rectangle">
            <a:extLst>
              <a:ext uri="{FF2B5EF4-FFF2-40B4-BE49-F238E27FC236}">
                <a16:creationId xmlns:a16="http://schemas.microsoft.com/office/drawing/2014/main" id="{FEEE4553-844E-49F9-8166-2F2E938E3677}"/>
              </a:ext>
            </a:extLst>
          </p:cNvPr>
          <p:cNvSpPr/>
          <p:nvPr/>
        </p:nvSpPr>
        <p:spPr bwMode="white">
          <a:xfrm flipV="1">
            <a:off x="722099" y="1277068"/>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
        <p:nvSpPr>
          <p:cNvPr id="53" name="Rectangle 52">
            <a:extLst>
              <a:ext uri="{FF2B5EF4-FFF2-40B4-BE49-F238E27FC236}">
                <a16:creationId xmlns:a16="http://schemas.microsoft.com/office/drawing/2014/main" id="{AA951CEE-7CE6-4A91-B2A1-B443273C6F3E}"/>
              </a:ext>
              <a:ext uri="{C183D7F6-B498-43B3-948B-1728B52AA6E4}">
                <adec:decorative xmlns:adec="http://schemas.microsoft.com/office/drawing/2017/decorative" val="1"/>
              </a:ext>
            </a:extLst>
          </p:cNvPr>
          <p:cNvSpPr/>
          <p:nvPr/>
        </p:nvSpPr>
        <p:spPr>
          <a:xfrm>
            <a:off x="1594339" y="1841895"/>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B085FEF7-45BC-4B49-8329-097F23476A6A}"/>
              </a:ext>
              <a:ext uri="{C183D7F6-B498-43B3-948B-1728B52AA6E4}">
                <adec:decorative xmlns:adec="http://schemas.microsoft.com/office/drawing/2017/decorative" val="1"/>
              </a:ext>
            </a:extLst>
          </p:cNvPr>
          <p:cNvSpPr/>
          <p:nvPr/>
        </p:nvSpPr>
        <p:spPr>
          <a:xfrm>
            <a:off x="9119476" y="1841895"/>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5CCC7563-285F-46AC-90A3-8D8D6F494498}"/>
              </a:ext>
              <a:ext uri="{C183D7F6-B498-43B3-948B-1728B52AA6E4}">
                <adec:decorative xmlns:adec="http://schemas.microsoft.com/office/drawing/2017/decorative" val="1"/>
              </a:ext>
            </a:extLst>
          </p:cNvPr>
          <p:cNvSpPr/>
          <p:nvPr/>
        </p:nvSpPr>
        <p:spPr>
          <a:xfrm>
            <a:off x="3475623" y="4170990"/>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23D892D7-D87B-407B-85EF-921DF3E196A0}"/>
              </a:ext>
              <a:ext uri="{C183D7F6-B498-43B3-948B-1728B52AA6E4}">
                <adec:decorative xmlns:adec="http://schemas.microsoft.com/office/drawing/2017/decorative" val="1"/>
              </a:ext>
            </a:extLst>
          </p:cNvPr>
          <p:cNvSpPr/>
          <p:nvPr/>
        </p:nvSpPr>
        <p:spPr>
          <a:xfrm>
            <a:off x="7238191" y="4170990"/>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01A47850-696A-4153-953F-D3D2FB5C31A9}"/>
              </a:ext>
              <a:ext uri="{C183D7F6-B498-43B3-948B-1728B52AA6E4}">
                <adec:decorative xmlns:adec="http://schemas.microsoft.com/office/drawing/2017/decorative" val="1"/>
              </a:ext>
            </a:extLst>
          </p:cNvPr>
          <p:cNvSpPr/>
          <p:nvPr/>
        </p:nvSpPr>
        <p:spPr>
          <a:xfrm>
            <a:off x="5369476" y="1841895"/>
            <a:ext cx="1453048" cy="82020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28560984-791B-B382-91B8-09CB7180C7FE}"/>
              </a:ext>
            </a:extLst>
          </p:cNvPr>
          <p:cNvPicPr>
            <a:picLocks noChangeAspect="1"/>
          </p:cNvPicPr>
          <p:nvPr/>
        </p:nvPicPr>
        <p:blipFill>
          <a:blip r:embed="rId2"/>
          <a:stretch>
            <a:fillRect/>
          </a:stretch>
        </p:blipFill>
        <p:spPr>
          <a:xfrm>
            <a:off x="6399493" y="1464330"/>
            <a:ext cx="5439966" cy="36080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a:extLst>
              <a:ext uri="{FF2B5EF4-FFF2-40B4-BE49-F238E27FC236}">
                <a16:creationId xmlns:a16="http://schemas.microsoft.com/office/drawing/2014/main" id="{A5172A1E-961B-6FD1-48BE-A6B59FA79AE5}"/>
              </a:ext>
            </a:extLst>
          </p:cNvPr>
          <p:cNvPicPr>
            <a:picLocks noChangeAspect="1"/>
          </p:cNvPicPr>
          <p:nvPr/>
        </p:nvPicPr>
        <p:blipFill>
          <a:blip r:embed="rId3"/>
          <a:stretch>
            <a:fillRect/>
          </a:stretch>
        </p:blipFill>
        <p:spPr>
          <a:xfrm>
            <a:off x="25981" y="1485140"/>
            <a:ext cx="6373512" cy="35060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86406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Scientist looking at test tube">
            <a:extLst>
              <a:ext uri="{FF2B5EF4-FFF2-40B4-BE49-F238E27FC236}">
                <a16:creationId xmlns:a16="http://schemas.microsoft.com/office/drawing/2014/main" id="{F923CFB6-5709-405C-8762-B310D3F21953}"/>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sp>
        <p:nvSpPr>
          <p:cNvPr id="18" name="Rectangle 17">
            <a:extLst>
              <a:ext uri="{FF2B5EF4-FFF2-40B4-BE49-F238E27FC236}">
                <a16:creationId xmlns:a16="http://schemas.microsoft.com/office/drawing/2014/main" id="{AAF39051-1049-4508-8373-6A289966AA59}"/>
              </a:ext>
              <a:ext uri="{C183D7F6-B498-43B3-948B-1728B52AA6E4}">
                <adec:decorative xmlns:adec="http://schemas.microsoft.com/office/drawing/2017/decorative" val="1"/>
              </a:ext>
            </a:extLst>
          </p:cNvPr>
          <p:cNvSpPr/>
          <p:nvPr/>
        </p:nvSpPr>
        <p:spPr>
          <a:xfrm>
            <a:off x="781399" y="2238573"/>
            <a:ext cx="10629202" cy="119042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bject 7" descr="Beige rectangle">
            <a:extLst>
              <a:ext uri="{FF2B5EF4-FFF2-40B4-BE49-F238E27FC236}">
                <a16:creationId xmlns:a16="http://schemas.microsoft.com/office/drawing/2014/main" id="{2D7851E8-1907-4C8A-A16F-E461B5BFA940}"/>
              </a:ext>
            </a:extLst>
          </p:cNvPr>
          <p:cNvSpPr/>
          <p:nvPr/>
        </p:nvSpPr>
        <p:spPr bwMode="white">
          <a:xfrm flipV="1">
            <a:off x="1204699" y="3791668"/>
            <a:ext cx="3470764"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grpSp>
        <p:nvGrpSpPr>
          <p:cNvPr id="46" name="Group 45" descr="Icon Phone">
            <a:extLst>
              <a:ext uri="{FF2B5EF4-FFF2-40B4-BE49-F238E27FC236}">
                <a16:creationId xmlns:a16="http://schemas.microsoft.com/office/drawing/2014/main" id="{4BB2D73A-DB1F-47D9-9BDA-D6F01A0EDC06}"/>
              </a:ext>
            </a:extLst>
          </p:cNvPr>
          <p:cNvGrpSpPr/>
          <p:nvPr/>
        </p:nvGrpSpPr>
        <p:grpSpPr>
          <a:xfrm>
            <a:off x="1365937" y="5637315"/>
            <a:ext cx="297521" cy="297521"/>
            <a:chOff x="1334697" y="5606075"/>
            <a:chExt cx="360000" cy="360000"/>
          </a:xfrm>
        </p:grpSpPr>
        <p:sp>
          <p:nvSpPr>
            <p:cNvPr id="47" name="Freeform: Shape 46">
              <a:extLst>
                <a:ext uri="{FF2B5EF4-FFF2-40B4-BE49-F238E27FC236}">
                  <a16:creationId xmlns:a16="http://schemas.microsoft.com/office/drawing/2014/main" id="{3C40AF29-F294-4B60-B5B4-56011134948E}"/>
                </a:ext>
              </a:extLst>
            </p:cNvPr>
            <p:cNvSpPr/>
            <p:nvPr/>
          </p:nvSpPr>
          <p:spPr>
            <a:xfrm>
              <a:off x="1423220" y="562446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accent1"/>
              </a:solidFill>
              <a:prstDash val="solid"/>
              <a:round/>
            </a:ln>
          </p:spPr>
          <p:txBody>
            <a:bodyPr rtlCol="0" anchor="ctr"/>
            <a:lstStyle/>
            <a:p>
              <a:endParaRPr lang="en-US" dirty="0"/>
            </a:p>
          </p:txBody>
        </p:sp>
        <p:sp>
          <p:nvSpPr>
            <p:cNvPr id="48" name="Freeform: Shape 47">
              <a:extLst>
                <a:ext uri="{FF2B5EF4-FFF2-40B4-BE49-F238E27FC236}">
                  <a16:creationId xmlns:a16="http://schemas.microsoft.com/office/drawing/2014/main" id="{82F5782C-5E0E-47EA-861C-88990A8D95DF}"/>
                </a:ext>
              </a:extLst>
            </p:cNvPr>
            <p:cNvSpPr/>
            <p:nvPr/>
          </p:nvSpPr>
          <p:spPr>
            <a:xfrm>
              <a:off x="1491815" y="5800385"/>
              <a:ext cx="9525" cy="9525"/>
            </a:xfrm>
            <a:custGeom>
              <a:avLst/>
              <a:gdLst>
                <a:gd name="connsiteX0" fmla="*/ 0 w 9525"/>
                <a:gd name="connsiteY0" fmla="*/ 0 h 9525"/>
                <a:gd name="connsiteX1" fmla="*/ 17145 w 9525"/>
                <a:gd name="connsiteY1" fmla="*/ 18098 h 9525"/>
              </a:gdLst>
              <a:ahLst/>
              <a:cxnLst>
                <a:cxn ang="0">
                  <a:pos x="connsiteX0" y="connsiteY0"/>
                </a:cxn>
                <a:cxn ang="0">
                  <a:pos x="connsiteX1" y="connsiteY1"/>
                </a:cxn>
              </a:cxnLst>
              <a:rect l="l" t="t" r="r" b="b"/>
              <a:pathLst>
                <a:path w="9525" h="9525">
                  <a:moveTo>
                    <a:pt x="0" y="0"/>
                  </a:moveTo>
                  <a:lnTo>
                    <a:pt x="17145" y="18098"/>
                  </a:lnTo>
                </a:path>
              </a:pathLst>
            </a:custGeom>
            <a:ln w="23813" cap="flat">
              <a:solidFill>
                <a:schemeClr val="accent1"/>
              </a:solidFill>
              <a:prstDash val="solid"/>
              <a:round/>
            </a:ln>
          </p:spPr>
          <p:txBody>
            <a:bodyPr rtlCol="0" anchor="ctr"/>
            <a:lstStyle/>
            <a:p>
              <a:endParaRPr lang="en-US" dirty="0"/>
            </a:p>
          </p:txBody>
        </p:sp>
        <p:sp>
          <p:nvSpPr>
            <p:cNvPr id="49" name="Freeform: Shape 48">
              <a:extLst>
                <a:ext uri="{FF2B5EF4-FFF2-40B4-BE49-F238E27FC236}">
                  <a16:creationId xmlns:a16="http://schemas.microsoft.com/office/drawing/2014/main" id="{0ACDDF69-03CD-491C-A9E4-08E5726C5BD3}"/>
                </a:ext>
              </a:extLst>
            </p:cNvPr>
            <p:cNvSpPr/>
            <p:nvPr/>
          </p:nvSpPr>
          <p:spPr>
            <a:xfrm>
              <a:off x="1334697" y="5606075"/>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1">
                  <a:lumMod val="75000"/>
                </a:schemeClr>
              </a:solidFill>
              <a:prstDash val="solid"/>
              <a:miter/>
            </a:ln>
          </p:spPr>
          <p:txBody>
            <a:bodyPr rtlCol="0" anchor="ctr"/>
            <a:lstStyle/>
            <a:p>
              <a:endParaRPr lang="en-US" dirty="0"/>
            </a:p>
          </p:txBody>
        </p:sp>
      </p:grpSp>
      <p:sp>
        <p:nvSpPr>
          <p:cNvPr id="21" name="Title 20">
            <a:extLst>
              <a:ext uri="{FF2B5EF4-FFF2-40B4-BE49-F238E27FC236}">
                <a16:creationId xmlns:a16="http://schemas.microsoft.com/office/drawing/2014/main" id="{E62C71D6-609D-FE8A-79F1-9831B3017647}"/>
              </a:ext>
            </a:extLst>
          </p:cNvPr>
          <p:cNvSpPr>
            <a:spLocks noGrp="1"/>
          </p:cNvSpPr>
          <p:nvPr>
            <p:ph type="ctrTitle"/>
          </p:nvPr>
        </p:nvSpPr>
        <p:spPr>
          <a:xfrm>
            <a:off x="-247385" y="1"/>
            <a:ext cx="12417287" cy="6857999"/>
          </a:xfrm>
        </p:spPr>
        <p:txBody>
          <a:bodyPr/>
          <a:lstStyle/>
          <a:p>
            <a:r>
              <a:rPr lang="en-US" dirty="0"/>
              <a:t>            </a:t>
            </a:r>
          </a:p>
        </p:txBody>
      </p:sp>
      <p:sp>
        <p:nvSpPr>
          <p:cNvPr id="2" name="TextBox 1">
            <a:extLst>
              <a:ext uri="{FF2B5EF4-FFF2-40B4-BE49-F238E27FC236}">
                <a16:creationId xmlns:a16="http://schemas.microsoft.com/office/drawing/2014/main" id="{168DA788-84C3-A2C7-5976-5087A8F039A3}"/>
              </a:ext>
            </a:extLst>
          </p:cNvPr>
          <p:cNvSpPr txBox="1"/>
          <p:nvPr/>
        </p:nvSpPr>
        <p:spPr>
          <a:xfrm>
            <a:off x="1204699" y="2537254"/>
            <a:ext cx="5208584" cy="1107996"/>
          </a:xfrm>
          <a:prstGeom prst="rect">
            <a:avLst/>
          </a:prstGeom>
          <a:noFill/>
        </p:spPr>
        <p:txBody>
          <a:bodyPr wrap="square" rtlCol="0">
            <a:spAutoFit/>
          </a:bodyPr>
          <a:lstStyle/>
          <a:p>
            <a:r>
              <a:rPr lang="en-US" sz="6600" b="1" dirty="0">
                <a:solidFill>
                  <a:schemeClr val="bg1"/>
                </a:solidFill>
              </a:rPr>
              <a:t>THANK YOU</a:t>
            </a:r>
          </a:p>
        </p:txBody>
      </p:sp>
      <p:sp>
        <p:nvSpPr>
          <p:cNvPr id="3" name="object 7" descr="Beige rectangle">
            <a:extLst>
              <a:ext uri="{FF2B5EF4-FFF2-40B4-BE49-F238E27FC236}">
                <a16:creationId xmlns:a16="http://schemas.microsoft.com/office/drawing/2014/main" id="{1393BE1A-0014-06C6-5B21-ACEA09CB954B}"/>
              </a:ext>
            </a:extLst>
          </p:cNvPr>
          <p:cNvSpPr/>
          <p:nvPr/>
        </p:nvSpPr>
        <p:spPr bwMode="white">
          <a:xfrm flipV="1">
            <a:off x="1182601" y="952617"/>
            <a:ext cx="3470764" cy="288477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dirty="0"/>
          </a:p>
        </p:txBody>
      </p:sp>
    </p:spTree>
    <p:extLst>
      <p:ext uri="{BB962C8B-B14F-4D97-AF65-F5344CB8AC3E}">
        <p14:creationId xmlns:p14="http://schemas.microsoft.com/office/powerpoint/2010/main" val="3476954114"/>
      </p:ext>
    </p:extLst>
  </p:cSld>
  <p:clrMapOvr>
    <a:masterClrMapping/>
  </p:clrMapOvr>
</p:sld>
</file>

<file path=ppt/theme/theme1.xml><?xml version="1.0" encoding="utf-8"?>
<a:theme xmlns:a="http://schemas.openxmlformats.org/drawingml/2006/main" name="Office Theme">
  <a:themeElements>
    <a:clrScheme name="MS Healthcare Pitch">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MS Healthcare Pitch">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tx2"/>
            </a:gs>
            <a:gs pos="100000">
              <a:schemeClr val="accent2"/>
            </a:gs>
          </a:gsLst>
          <a:lin ang="144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MB Healthcare Pitch Deck SB_v3" id="{F20654C3-30CB-4A23-AE37-CA3918CCFD51}" vid="{71C4247B-9648-406B-9B0E-E712402798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C66BDC7-24D2-4343-8D41-18F9C23F860A}">
  <ds:schemaRefs>
    <ds:schemaRef ds:uri="http://schemas.microsoft.com/sharepoint/v3/contenttype/forms"/>
  </ds:schemaRefs>
</ds:datastoreItem>
</file>

<file path=customXml/itemProps2.xml><?xml version="1.0" encoding="utf-8"?>
<ds:datastoreItem xmlns:ds="http://schemas.openxmlformats.org/officeDocument/2006/customXml" ds:itemID="{AF4BDB64-2AF8-42D4-96C8-B6B6F098993C}">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533BAED8-F9E7-4D41-86E9-333473F909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Healthcare office pitch deck</Template>
  <TotalTime>5391</TotalTime>
  <Words>1464</Words>
  <Application>Microsoft Office PowerPoint</Application>
  <PresentationFormat>Widescreen</PresentationFormat>
  <Paragraphs>194</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vt:lpstr>
      <vt:lpstr>Calibri</vt:lpstr>
      <vt:lpstr>Courier New</vt:lpstr>
      <vt:lpstr>Gill Sans MT</vt:lpstr>
      <vt:lpstr>Wingdings</vt:lpstr>
      <vt:lpstr>Office Theme</vt:lpstr>
      <vt:lpstr>Hospital Patient Flow &amp; Medical Services Analytics</vt:lpstr>
      <vt:lpstr>    Objective</vt:lpstr>
      <vt:lpstr>Data Cleaning &amp; Transformation:</vt:lpstr>
      <vt:lpstr>Admissions  Trend &amp; Cost Analysis by  Department</vt:lpstr>
      <vt:lpstr>Top Performing Doctors &amp; recovery rate by age group</vt:lpstr>
      <vt:lpstr>Treatment and Admission Trends</vt:lpstr>
      <vt:lpstr>Cost &amp; Length of stay</vt:lpstr>
      <vt:lpstr>Patients by risk level &amp; weekday vs END</vt:lpstr>
      <vt:lpstr>Performance &amp; Patient Flow Analysis</vt:lpstr>
      <vt:lpstr>Yearly Trends &amp; Peak Months</vt:lpstr>
      <vt:lpstr>Patient Readmission &amp; Care Continuity</vt:lpstr>
      <vt:lpstr>Key insights &amp; Recommendations                          </vt:lpstr>
      <vt:lpstr>PowerPoint Presentation</vt:lpstr>
      <vt:lpstr>Dashboard</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Patient Flow &amp; Medical Services Analytics</dc:title>
  <dc:creator>Seneka Ravi</dc:creator>
  <cp:lastModifiedBy>Seneka Ravi</cp:lastModifiedBy>
  <cp:revision>26</cp:revision>
  <dcterms:created xsi:type="dcterms:W3CDTF">2025-08-05T12:39:40Z</dcterms:created>
  <dcterms:modified xsi:type="dcterms:W3CDTF">2025-08-28T18:28:55Z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