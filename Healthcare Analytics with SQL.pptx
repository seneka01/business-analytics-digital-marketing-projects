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4"/>
  </p:notesMasterIdLst>
  <p:handoutMasterIdLst>
    <p:handoutMasterId r:id="rId15"/>
  </p:handoutMasterIdLst>
  <p:sldIdLst>
    <p:sldId id="257" r:id="rId2"/>
    <p:sldId id="268" r:id="rId3"/>
    <p:sldId id="258" r:id="rId4"/>
    <p:sldId id="259" r:id="rId5"/>
    <p:sldId id="260" r:id="rId6"/>
    <p:sldId id="261" r:id="rId7"/>
    <p:sldId id="262" r:id="rId8"/>
    <p:sldId id="265" r:id="rId9"/>
    <p:sldId id="264" r:id="rId10"/>
    <p:sldId id="263" r:id="rId11"/>
    <p:sldId id="266" r:id="rId12"/>
    <p:sldId id="267" r:id="rId1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888">
          <p15:clr>
            <a:srgbClr val="A4A3A4"/>
          </p15:clr>
        </p15:guide>
        <p15:guide id="4" orient="horz" pos="864" userDrawn="1">
          <p15:clr>
            <a:srgbClr val="A4A3A4"/>
          </p15:clr>
        </p15:guide>
        <p15:guide id="5" pos="3839">
          <p15:clr>
            <a:srgbClr val="A4A3A4"/>
          </p15:clr>
        </p15:guide>
        <p15:guide id="6" pos="1007">
          <p15:clr>
            <a:srgbClr val="A4A3A4"/>
          </p15:clr>
        </p15:guide>
        <p15:guide id="7" pos="717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BFCF23-3B69-468F-B69F-88F6DE6A72F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howGuides="1">
      <p:cViewPr varScale="1">
        <p:scale>
          <a:sx n="68" d="100"/>
          <a:sy n="68" d="100"/>
        </p:scale>
        <p:origin x="822" y="66"/>
      </p:cViewPr>
      <p:guideLst>
        <p:guide orient="horz" pos="2160"/>
        <p:guide orient="horz" pos="1008"/>
        <p:guide orient="horz" pos="3888"/>
        <p:guide orient="horz" pos="864"/>
        <p:guide pos="3839"/>
        <p:guide pos="1007"/>
        <p:guide pos="7173"/>
      </p:guideLst>
    </p:cSldViewPr>
  </p:slideViewPr>
  <p:notesTextViewPr>
    <p:cViewPr>
      <p:scale>
        <a:sx n="3" d="2"/>
        <a:sy n="3" d="2"/>
      </p:scale>
      <p:origin x="0" y="0"/>
    </p:cViewPr>
  </p:notesTextViewPr>
  <p:notesViewPr>
    <p:cSldViewPr showGuides="1">
      <p:cViewPr varScale="1">
        <p:scale>
          <a:sx n="76" d="100"/>
          <a:sy n="76" d="100"/>
        </p:scale>
        <p:origin x="256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8054B8-6168-4F3C-B3AB-8E597AC26295}" type="doc">
      <dgm:prSet loTypeId="urn:microsoft.com/office/officeart/2005/8/layout/hProcess9" loCatId="process" qsTypeId="urn:microsoft.com/office/officeart/2005/8/quickstyle/simple4" qsCatId="simple" csTypeId="urn:microsoft.com/office/officeart/2005/8/colors/accent1_4" csCatId="accent1" phldr="1"/>
      <dgm:spPr/>
      <dgm:t>
        <a:bodyPr/>
        <a:lstStyle/>
        <a:p>
          <a:endParaRPr lang="en-US"/>
        </a:p>
      </dgm:t>
    </dgm:pt>
    <dgm:pt modelId="{4E9BF6C5-0857-4144-BCD7-6167E7E83B28}">
      <dgm:prSet/>
      <dgm:spPr/>
      <dgm:t>
        <a:bodyPr/>
        <a:lstStyle/>
        <a:p>
          <a:pPr algn="just"/>
          <a:r>
            <a:rPr lang="en-US" dirty="0"/>
            <a:t>The project aims to analyze healthcare data, focusing on extracting meaningful insights about patients, doctors, appointments, diagnoses, and treatments using advanced SQL techniques. Learners will apply SQL operations like joins, subqueries, window functions, and more to analyze healthcare metrics.</a:t>
          </a:r>
        </a:p>
      </dgm:t>
    </dgm:pt>
    <dgm:pt modelId="{107128A9-94E0-4A4F-B951-C0640CB07A65}" type="parTrans" cxnId="{ADF3370D-5D7F-4F91-964B-4E6854306785}">
      <dgm:prSet/>
      <dgm:spPr/>
      <dgm:t>
        <a:bodyPr/>
        <a:lstStyle/>
        <a:p>
          <a:endParaRPr lang="en-US"/>
        </a:p>
      </dgm:t>
    </dgm:pt>
    <dgm:pt modelId="{A26C7E9F-C4B6-46BC-936C-91D91B83982E}" type="sibTrans" cxnId="{ADF3370D-5D7F-4F91-964B-4E6854306785}">
      <dgm:prSet/>
      <dgm:spPr/>
      <dgm:t>
        <a:bodyPr/>
        <a:lstStyle/>
        <a:p>
          <a:endParaRPr lang="en-US"/>
        </a:p>
      </dgm:t>
    </dgm:pt>
    <dgm:pt modelId="{0A3BF2EB-C5AF-4A86-B077-D7F10764762C}" type="pres">
      <dgm:prSet presAssocID="{468054B8-6168-4F3C-B3AB-8E597AC26295}" presName="CompostProcess" presStyleCnt="0">
        <dgm:presLayoutVars>
          <dgm:dir/>
          <dgm:resizeHandles val="exact"/>
        </dgm:presLayoutVars>
      </dgm:prSet>
      <dgm:spPr/>
    </dgm:pt>
    <dgm:pt modelId="{E9B3B0B5-9E4E-4FAB-8361-E4244B8070BC}" type="pres">
      <dgm:prSet presAssocID="{468054B8-6168-4F3C-B3AB-8E597AC26295}" presName="arrow" presStyleLbl="bgShp" presStyleIdx="0" presStyleCnt="1"/>
      <dgm:spPr/>
    </dgm:pt>
    <dgm:pt modelId="{CE6C209F-6322-4734-BDDC-4C9A251A1FE1}" type="pres">
      <dgm:prSet presAssocID="{468054B8-6168-4F3C-B3AB-8E597AC26295}" presName="linearProcess" presStyleCnt="0"/>
      <dgm:spPr/>
    </dgm:pt>
    <dgm:pt modelId="{6C055893-223C-446B-B3E5-6A3C877C12BE}" type="pres">
      <dgm:prSet presAssocID="{4E9BF6C5-0857-4144-BCD7-6167E7E83B28}" presName="textNode" presStyleLbl="node1" presStyleIdx="0" presStyleCnt="1" custScaleX="102884" custScaleY="150000">
        <dgm:presLayoutVars>
          <dgm:bulletEnabled val="1"/>
        </dgm:presLayoutVars>
      </dgm:prSet>
      <dgm:spPr/>
    </dgm:pt>
  </dgm:ptLst>
  <dgm:cxnLst>
    <dgm:cxn modelId="{ADF3370D-5D7F-4F91-964B-4E6854306785}" srcId="{468054B8-6168-4F3C-B3AB-8E597AC26295}" destId="{4E9BF6C5-0857-4144-BCD7-6167E7E83B28}" srcOrd="0" destOrd="0" parTransId="{107128A9-94E0-4A4F-B951-C0640CB07A65}" sibTransId="{A26C7E9F-C4B6-46BC-936C-91D91B83982E}"/>
    <dgm:cxn modelId="{C8572999-A711-4653-AB30-0E9F38093A48}" type="presOf" srcId="{468054B8-6168-4F3C-B3AB-8E597AC26295}" destId="{0A3BF2EB-C5AF-4A86-B077-D7F10764762C}" srcOrd="0" destOrd="0" presId="urn:microsoft.com/office/officeart/2005/8/layout/hProcess9"/>
    <dgm:cxn modelId="{5D3919ED-E7DA-412A-A674-64DA6EB2D547}" type="presOf" srcId="{4E9BF6C5-0857-4144-BCD7-6167E7E83B28}" destId="{6C055893-223C-446B-B3E5-6A3C877C12BE}" srcOrd="0" destOrd="0" presId="urn:microsoft.com/office/officeart/2005/8/layout/hProcess9"/>
    <dgm:cxn modelId="{B1DEF193-3B8F-4928-8840-8A5E83D2F571}" type="presParOf" srcId="{0A3BF2EB-C5AF-4A86-B077-D7F10764762C}" destId="{E9B3B0B5-9E4E-4FAB-8361-E4244B8070BC}" srcOrd="0" destOrd="0" presId="urn:microsoft.com/office/officeart/2005/8/layout/hProcess9"/>
    <dgm:cxn modelId="{9B261784-8C35-4A8B-8066-8022FA0AAF5F}" type="presParOf" srcId="{0A3BF2EB-C5AF-4A86-B077-D7F10764762C}" destId="{CE6C209F-6322-4734-BDDC-4C9A251A1FE1}" srcOrd="1" destOrd="0" presId="urn:microsoft.com/office/officeart/2005/8/layout/hProcess9"/>
    <dgm:cxn modelId="{5F9DA5EC-9F49-483B-B305-AD62DD1EA467}" type="presParOf" srcId="{CE6C209F-6322-4734-BDDC-4C9A251A1FE1}" destId="{6C055893-223C-446B-B3E5-6A3C877C12BE}"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B3B0B5-9E4E-4FAB-8361-E4244B8070BC}">
      <dsp:nvSpPr>
        <dsp:cNvPr id="0" name=""/>
        <dsp:cNvSpPr/>
      </dsp:nvSpPr>
      <dsp:spPr>
        <a:xfrm>
          <a:off x="710461" y="0"/>
          <a:ext cx="8051900" cy="3429000"/>
        </a:xfrm>
        <a:prstGeom prst="rightArrow">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C055893-223C-446B-B3E5-6A3C877C12BE}">
      <dsp:nvSpPr>
        <dsp:cNvPr id="0" name=""/>
        <dsp:cNvSpPr/>
      </dsp:nvSpPr>
      <dsp:spPr>
        <a:xfrm>
          <a:off x="609581" y="685799"/>
          <a:ext cx="8253660" cy="2057400"/>
        </a:xfrm>
        <a:prstGeom prst="roundRect">
          <a:avLst/>
        </a:prstGeom>
        <a:gradFill rotWithShape="0">
          <a:gsLst>
            <a:gs pos="0">
              <a:schemeClr val="accent1">
                <a:shade val="50000"/>
                <a:hueOff val="0"/>
                <a:satOff val="0"/>
                <a:lumOff val="0"/>
                <a:alphaOff val="0"/>
                <a:satMod val="103000"/>
                <a:lumMod val="102000"/>
                <a:tint val="94000"/>
              </a:schemeClr>
            </a:gs>
            <a:gs pos="50000">
              <a:schemeClr val="accent1">
                <a:shade val="50000"/>
                <a:hueOff val="0"/>
                <a:satOff val="0"/>
                <a:lumOff val="0"/>
                <a:alphaOff val="0"/>
                <a:satMod val="110000"/>
                <a:lumMod val="100000"/>
                <a:shade val="100000"/>
              </a:schemeClr>
            </a:gs>
            <a:gs pos="100000">
              <a:schemeClr val="accent1">
                <a:shade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None/>
          </a:pPr>
          <a:r>
            <a:rPr lang="en-US" sz="2200" kern="1200" dirty="0"/>
            <a:t>The project aims to analyze healthcare data, focusing on extracting meaningful insights about patients, doctors, appointments, diagnoses, and treatments using advanced SQL techniques. Learners will apply SQL operations like joins, subqueries, window functions, and more to analyze healthcare metrics.</a:t>
          </a:r>
        </a:p>
      </dsp:txBody>
      <dsp:txXfrm>
        <a:off x="710015" y="786233"/>
        <a:ext cx="8052792" cy="185653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5/8/2025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5/8/2025</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232957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3635406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23116364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gradFill rotWithShape="1">
          <a:gsLst>
            <a:gs pos="0">
              <a:schemeClr val="tx2">
                <a:lumMod val="20000"/>
                <a:lumOff val="80000"/>
              </a:schemeClr>
            </a:gs>
            <a:gs pos="90000">
              <a:schemeClr val="tx2">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428669" y="1600200"/>
            <a:ext cx="8329031" cy="2680127"/>
          </a:xfrm>
        </p:spPr>
        <p:txBody>
          <a:bodyPr>
            <a:noAutofit/>
          </a:bodyPr>
          <a:lstStyle>
            <a:lvl1pPr>
              <a:defRPr sz="5400">
                <a:solidFill>
                  <a:schemeClr val="tx2">
                    <a:lumMod val="75000"/>
                  </a:schemeClr>
                </a:solidFill>
              </a:defRPr>
            </a:lvl1pPr>
          </a:lstStyle>
          <a:p>
            <a:r>
              <a:rPr lang="en-US"/>
              <a:t>Click to edit Master title style</a:t>
            </a:r>
            <a:endParaRPr dirty="0"/>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699025" y="6356351"/>
            <a:ext cx="1218883" cy="365125"/>
          </a:xfrm>
        </p:spPr>
        <p:txBody>
          <a:bodyPr/>
          <a:lstStyle>
            <a:lvl1pPr>
              <a:defRPr>
                <a:solidFill>
                  <a:schemeClr val="tx1"/>
                </a:solidFill>
              </a:defRPr>
            </a:lvl1pPr>
          </a:lstStyle>
          <a:p>
            <a:fld id="{80BBE6BF-C811-45BB-8BA9-22EFF2B83FFA}" type="datetime1">
              <a:rPr lang="en-US" smtClean="0"/>
              <a:t>5/8/2025</a:t>
            </a:fld>
            <a:endParaRPr lang="en-US"/>
          </a:p>
        </p:txBody>
      </p:sp>
      <p:sp>
        <p:nvSpPr>
          <p:cNvPr id="5" name="Footer Placeholder 4"/>
          <p:cNvSpPr>
            <a:spLocks noGrp="1"/>
          </p:cNvSpPr>
          <p:nvPr>
            <p:ph type="ftr" sz="quarter" idx="11"/>
          </p:nvPr>
        </p:nvSpPr>
        <p:spPr>
          <a:xfrm>
            <a:off x="6114708" y="6356351"/>
            <a:ext cx="3974065" cy="365125"/>
          </a:xfrm>
        </p:spPr>
        <p:txBody>
          <a:bodyPr/>
          <a:lstStyle>
            <a:lvl1pPr>
              <a:defRPr>
                <a:solidFill>
                  <a:schemeClr val="tx1"/>
                </a:solidFill>
              </a:defRPr>
            </a:lvl1pPr>
          </a:lstStyle>
          <a:p>
            <a:r>
              <a:rPr lang="en-US" dirty="0"/>
              <a:t>Add a footer</a:t>
            </a:r>
          </a:p>
        </p:txBody>
      </p:sp>
      <p:sp>
        <p:nvSpPr>
          <p:cNvPr id="6" name="Slide Number Placeholder 5"/>
          <p:cNvSpPr>
            <a:spLocks noGrp="1"/>
          </p:cNvSpPr>
          <p:nvPr>
            <p:ph type="sldNum" sz="quarter" idx="12"/>
          </p:nvPr>
        </p:nvSpPr>
        <p:spPr>
          <a:xfrm>
            <a:off x="10285571" y="6356351"/>
            <a:ext cx="609441" cy="365125"/>
          </a:xfrm>
        </p:spPr>
        <p:txBody>
          <a:bodyPr/>
          <a:lstStyle>
            <a:lvl1pPr>
              <a:defRPr>
                <a:solidFill>
                  <a:schemeClr val="tx1"/>
                </a:solidFill>
              </a:defRPr>
            </a:lvl1pPr>
          </a:lstStyle>
          <a:p>
            <a:fld id="{7DC1BBB0-96F0-4077-A278-0F3FB5C104D3}" type="slidenum">
              <a:rPr lang="en-US" smtClean="0"/>
              <a:pPr/>
              <a:t>‹#›</a:t>
            </a:fld>
            <a:endParaRPr lang="en-US"/>
          </a:p>
        </p:txBody>
      </p:sp>
      <p:pic>
        <p:nvPicPr>
          <p:cNvPr id="55" name="Picture 2"/>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ltGray">
          <a:xfrm>
            <a:off x="0" y="0"/>
            <a:ext cx="1803400" cy="6858000"/>
          </a:xfrm>
          <a:prstGeom prst="rect">
            <a:avLst/>
          </a:prstGeom>
          <a:noFill/>
          <a:ln>
            <a:noFill/>
          </a:ln>
        </p:spPr>
      </p:pic>
      <p:sp>
        <p:nvSpPr>
          <p:cNvPr id="36" name="Rectangle 35"/>
          <p:cNvSpPr/>
          <p:nvPr userDrawn="1"/>
        </p:nvSpPr>
        <p:spPr>
          <a:xfrm>
            <a:off x="11892563" y="0"/>
            <a:ext cx="304721"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301147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Content Placeholder 2"/>
          <p:cNvSpPr>
            <a:spLocks noGrp="1"/>
          </p:cNvSpPr>
          <p:nvPr>
            <p:ph idx="1"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F39362CC-4597-4E8E-AFE5-237B3DA1FF07}" type="datetime1">
              <a:rPr lang="en-US" smtClean="0"/>
              <a:t>5/8/2025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1532199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19454" y="1600201"/>
            <a:ext cx="8283272" cy="2654064"/>
          </a:xfrm>
        </p:spPr>
        <p:txBody>
          <a:bodyPr anchor="b">
            <a:normAutofit/>
          </a:bodyPr>
          <a:lstStyle>
            <a:lvl1pPr algn="l">
              <a:defRPr sz="5400" b="0" cap="none" baseline="0">
                <a:solidFill>
                  <a:schemeClr val="tx2">
                    <a:lumMod val="75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919454" y="4259996"/>
            <a:ext cx="7264623" cy="1150203"/>
          </a:xfrm>
        </p:spPr>
        <p:txBody>
          <a:bodyPr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E1F63988-78D4-46C4-B808-1786C6A42859}" type="datetime1">
              <a:rPr lang="en-US" smtClean="0"/>
              <a:t>5/8/2025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pic>
        <p:nvPicPr>
          <p:cNvPr id="7"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ltGray">
          <a:xfrm>
            <a:off x="0" y="0"/>
            <a:ext cx="1803400" cy="6858000"/>
          </a:xfrm>
          <a:prstGeom prst="rect">
            <a:avLst/>
          </a:prstGeom>
          <a:noFill/>
          <a:ln>
            <a:noFill/>
          </a:ln>
        </p:spPr>
      </p:pic>
      <p:sp>
        <p:nvSpPr>
          <p:cNvPr id="9" name="Rectangle 8"/>
          <p:cNvSpPr/>
          <p:nvPr/>
        </p:nvSpPr>
        <p:spPr>
          <a:xfrm>
            <a:off x="11892563" y="0"/>
            <a:ext cx="304721"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312873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a:p>
        </p:txBody>
      </p:sp>
      <p:sp>
        <p:nvSpPr>
          <p:cNvPr id="3" name="Content Placeholder 2"/>
          <p:cNvSpPr>
            <a:spLocks noGrp="1"/>
          </p:cNvSpPr>
          <p:nvPr>
            <p:ph sz="half" idx="1" hasCustomPrompt="1"/>
          </p:nvPr>
        </p:nvSpPr>
        <p:spPr>
          <a:xfrm>
            <a:off x="1935496" y="1600200"/>
            <a:ext cx="4572000" cy="4572000"/>
          </a:xfr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hasCustomPrompt="1"/>
          </p:nvPr>
        </p:nvSpPr>
        <p:spPr>
          <a:xfrm>
            <a:off x="6824328" y="1600200"/>
            <a:ext cx="4572000" cy="4572000"/>
          </a:xfr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baseline="0"/>
            </a:lvl6pPr>
            <a:lvl7pPr>
              <a:defRPr sz="1800" baseline="0"/>
            </a:lvl7pPr>
            <a:lvl8pPr>
              <a:defRPr sz="1800" baseline="0"/>
            </a:lvl8pPr>
            <a:lvl9pPr>
              <a:defRPr sz="18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lvl1pPr>
              <a:defRPr>
                <a:solidFill>
                  <a:schemeClr val="tx1"/>
                </a:solidFill>
              </a:defRPr>
            </a:lvl1pPr>
          </a:lstStyle>
          <a:p>
            <a:fld id="{A482C1EE-CCC0-4F27-8918-BF938AC1419F}" type="datetime1">
              <a:rPr lang="en-US" smtClean="0"/>
              <a:t>5/8/2025</a:t>
            </a:fld>
            <a:endParaRPr lang="en-US"/>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105384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03413" y="177800"/>
            <a:ext cx="9472824" cy="1239837"/>
          </a:xfrm>
        </p:spPr>
        <p:txBody>
          <a:bodyPr/>
          <a:lstStyle>
            <a:lvl1pPr>
              <a:defRPr>
                <a:solidFill>
                  <a:schemeClr val="tx2">
                    <a:lumMod val="75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936615" y="1499616"/>
            <a:ext cx="4572000" cy="938784"/>
          </a:xfrm>
        </p:spPr>
        <p:txBody>
          <a:bodyPr anchor="b">
            <a:noAutofit/>
          </a:bodyPr>
          <a:lstStyle>
            <a:lvl1pPr marL="0" indent="0">
              <a:spcBef>
                <a:spcPts val="0"/>
              </a:spcBef>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1936615" y="2514706"/>
            <a:ext cx="4572000" cy="3657493"/>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baseline="0"/>
            </a:lvl8pPr>
            <a:lvl9pPr>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824328" y="1499616"/>
            <a:ext cx="4572000" cy="938784"/>
          </a:xfrm>
        </p:spPr>
        <p:txBody>
          <a:bodyPr anchor="b">
            <a:noAutofit/>
          </a:bodyPr>
          <a:lstStyle>
            <a:lvl1pPr marL="0" indent="0">
              <a:spcBef>
                <a:spcPts val="0"/>
              </a:spcBef>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hasCustomPrompt="1"/>
          </p:nvPr>
        </p:nvSpPr>
        <p:spPr>
          <a:xfrm>
            <a:off x="6824328" y="2514600"/>
            <a:ext cx="4572000" cy="3655568"/>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lvl1pPr>
              <a:defRPr>
                <a:solidFill>
                  <a:schemeClr val="tx1"/>
                </a:solidFill>
              </a:defRPr>
            </a:lvl1pPr>
          </a:lstStyle>
          <a:p>
            <a:fld id="{B9A0C48B-9D86-4C33-9BD3-2929B1D74E3D}" type="datetime1">
              <a:rPr lang="en-US" smtClean="0"/>
              <a:t>5/8/2025</a:t>
            </a:fld>
            <a:endParaRPr lang="en-US"/>
          </a:p>
        </p:txBody>
      </p:sp>
      <p:sp>
        <p:nvSpPr>
          <p:cNvPr id="8" name="Footer Placeholder 7"/>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2848964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Date Placeholder 2"/>
          <p:cNvSpPr>
            <a:spLocks noGrp="1"/>
          </p:cNvSpPr>
          <p:nvPr>
            <p:ph type="dt" sz="half" idx="10"/>
          </p:nvPr>
        </p:nvSpPr>
        <p:spPr/>
        <p:txBody>
          <a:bodyPr/>
          <a:lstStyle>
            <a:lvl1pPr>
              <a:defRPr>
                <a:solidFill>
                  <a:schemeClr val="tx1"/>
                </a:solidFill>
              </a:defRPr>
            </a:lvl1pPr>
          </a:lstStyle>
          <a:p>
            <a:fld id="{E87B711C-F9D6-42CE-B848-D107B7756573}" type="datetime1">
              <a:rPr lang="en-US" smtClean="0"/>
              <a:t>5/8/2025</a:t>
            </a:fld>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208792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2"/>
          <p:cNvSpPr>
            <a:spLocks noGrp="1"/>
          </p:cNvSpPr>
          <p:nvPr>
            <p:ph type="dt" sz="half" idx="10"/>
          </p:nvPr>
        </p:nvSpPr>
        <p:spPr>
          <a:xfrm>
            <a:off x="5180250" y="6356351"/>
            <a:ext cx="1218883" cy="365125"/>
          </a:xfrm>
        </p:spPr>
        <p:txBody>
          <a:bodyPr/>
          <a:lstStyle/>
          <a:p>
            <a:fld id="{4C1EAC44-87EE-4E25-9BCB-D1B8F4FDD9D1}" type="datetime1">
              <a:rPr lang="en-US" smtClean="0"/>
              <a:t>5/8/2025</a:t>
            </a:fld>
            <a:endParaRPr lang="en-US"/>
          </a:p>
        </p:txBody>
      </p:sp>
      <p:sp>
        <p:nvSpPr>
          <p:cNvPr id="6" name="Footer Placeholder 3"/>
          <p:cNvSpPr>
            <a:spLocks noGrp="1"/>
          </p:cNvSpPr>
          <p:nvPr>
            <p:ph type="ftr" sz="quarter" idx="11"/>
          </p:nvPr>
        </p:nvSpPr>
        <p:spPr>
          <a:xfrm>
            <a:off x="6595933" y="6356351"/>
            <a:ext cx="3974065" cy="365125"/>
          </a:xfrm>
        </p:spPr>
        <p:txBody>
          <a:bodyPr/>
          <a:lstStyle/>
          <a:p>
            <a:r>
              <a:rPr lang="en-US" dirty="0"/>
              <a:t>Add a footer</a:t>
            </a:r>
          </a:p>
        </p:txBody>
      </p:sp>
      <p:sp>
        <p:nvSpPr>
          <p:cNvPr id="7" name="Slide Number Placeholder 4"/>
          <p:cNvSpPr>
            <a:spLocks noGrp="1"/>
          </p:cNvSpPr>
          <p:nvPr>
            <p:ph type="sldNum" sz="quarter" idx="12"/>
          </p:nvPr>
        </p:nvSpPr>
        <p:spPr>
          <a:xfrm>
            <a:off x="10766796" y="6356351"/>
            <a:ext cx="609441" cy="365125"/>
          </a:xfrm>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2973289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74240" y="381000"/>
            <a:ext cx="3293422" cy="1371600"/>
          </a:xfrm>
        </p:spPr>
        <p:txBody>
          <a:bodyPr anchor="b">
            <a:normAutofit/>
          </a:bodyPr>
          <a:lstStyle>
            <a:lvl1pPr algn="l">
              <a:defRPr sz="2800" b="0" cap="all" baseline="0">
                <a:solidFill>
                  <a:schemeClr val="tx2">
                    <a:lumMod val="75000"/>
                  </a:schemeClr>
                </a:solidFill>
              </a:defRPr>
            </a:lvl1pPr>
          </a:lstStyle>
          <a:p>
            <a:r>
              <a:rPr lang="en-US"/>
              <a:t>Click to edit Master title style</a:t>
            </a:r>
            <a:endParaRPr dirty="0"/>
          </a:p>
        </p:txBody>
      </p:sp>
      <p:sp>
        <p:nvSpPr>
          <p:cNvPr id="3" name="Content Placeholder 2"/>
          <p:cNvSpPr>
            <a:spLocks noGrp="1"/>
          </p:cNvSpPr>
          <p:nvPr>
            <p:ph idx="1" hasCustomPrompt="1"/>
          </p:nvPr>
        </p:nvSpPr>
        <p:spPr>
          <a:xfrm>
            <a:off x="5180251" y="482600"/>
            <a:ext cx="6195986" cy="5689600"/>
          </a:xfrm>
        </p:spPr>
        <p:txBody>
          <a:bodyP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baseline="0"/>
            </a:lvl8pPr>
            <a:lvl9pPr>
              <a:defRPr sz="18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bwMode="white">
          <a:xfrm>
            <a:off x="1074240" y="1828800"/>
            <a:ext cx="3293422"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1"/>
                </a:solidFill>
              </a:defRPr>
            </a:lvl1pPr>
          </a:lstStyle>
          <a:p>
            <a:fld id="{E68E44B9-3FFE-4574-9630-3E5A6F960186}" type="datetime1">
              <a:rPr lang="en-US" smtClean="0"/>
              <a:t>5/8/2025</a:t>
            </a:fld>
            <a:endParaRPr lang="en-US"/>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
        <p:nvSpPr>
          <p:cNvPr id="9" name="Rectangle 8"/>
          <p:cNvSpPr/>
          <p:nvPr/>
        </p:nvSpPr>
        <p:spPr>
          <a:xfrm>
            <a:off x="11884104" y="0"/>
            <a:ext cx="30472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3476394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4240" y="381000"/>
            <a:ext cx="3293422" cy="1371600"/>
          </a:xfrm>
        </p:spPr>
        <p:txBody>
          <a:bodyPr anchor="b">
            <a:normAutofit/>
          </a:bodyPr>
          <a:lstStyle>
            <a:lvl1pPr algn="l">
              <a:defRPr sz="2800" b="0" cap="all" baseline="0">
                <a:solidFill>
                  <a:schemeClr val="tx2">
                    <a:lumMod val="75000"/>
                  </a:schemeClr>
                </a:solidFill>
              </a:defRPr>
            </a:lvl1pPr>
          </a:lstStyle>
          <a:p>
            <a:r>
              <a:rPr lang="en-US"/>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bwMode="auto">
          <a:xfrm>
            <a:off x="5180251" y="482600"/>
            <a:ext cx="6195986" cy="5689600"/>
          </a:xfrm>
          <a:ln w="19050">
            <a:solidFill>
              <a:schemeClr val="bg1"/>
            </a:solidFill>
          </a:ln>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74240" y="1828800"/>
            <a:ext cx="3293422"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66F492-7803-4716-B969-A5873965FF8A}" type="datetime1">
              <a:rPr lang="en-US" smtClean="0"/>
              <a:t>5/8/2025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9" name="Rectangle 8"/>
          <p:cNvSpPr/>
          <p:nvPr/>
        </p:nvSpPr>
        <p:spPr>
          <a:xfrm>
            <a:off x="11884104" y="0"/>
            <a:ext cx="30472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225645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Vertical Text Placeholder 2"/>
          <p:cNvSpPr>
            <a:spLocks noGrp="1"/>
          </p:cNvSpPr>
          <p:nvPr>
            <p:ph type="body" orient="vert" idx="1" hasCustomPrompt="1"/>
          </p:nvPr>
        </p:nvSpPr>
        <p:spPr/>
        <p:txBody>
          <a:bodyPr vert="eaVert"/>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42DF41C5-B5F2-469F-BA25-292CFCDAF6E0}" type="datetime1">
              <a:rPr lang="en-US" smtClean="0"/>
              <a:t>5/8/2025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23496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9612" y="685800"/>
            <a:ext cx="1787526" cy="5486400"/>
          </a:xfrm>
        </p:spPr>
        <p:txBody>
          <a:bodyPr vert="eaVert"/>
          <a:lstStyle/>
          <a:p>
            <a:r>
              <a:rPr lang="en-US"/>
              <a:t>Click to edit Master title style</a:t>
            </a:r>
            <a:endParaRPr dirty="0"/>
          </a:p>
        </p:txBody>
      </p:sp>
      <p:sp>
        <p:nvSpPr>
          <p:cNvPr id="3" name="Vertical Text Placeholder 2"/>
          <p:cNvSpPr>
            <a:spLocks noGrp="1"/>
          </p:cNvSpPr>
          <p:nvPr>
            <p:ph type="body" orient="vert" idx="1" hasCustomPrompt="1"/>
          </p:nvPr>
        </p:nvSpPr>
        <p:spPr>
          <a:xfrm>
            <a:off x="1598613" y="685800"/>
            <a:ext cx="7848599" cy="5486400"/>
          </a:xfrm>
        </p:spPr>
        <p:txBody>
          <a:bodyPr vert="eaVert"/>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E69D85FE-5443-4629-8A1C-6F6EA57CBD60}" type="datetime1">
              <a:rPr lang="en-US" smtClean="0"/>
              <a:t>5/8/2025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DC1BBB0-96F0-4077-A278-0F3FB5C104D3}" type="slidenum">
              <a:rPr lang="en-US" smtClean="0"/>
              <a:t>‹#›</a:t>
            </a:fld>
            <a:endParaRPr lang="en-US"/>
          </a:p>
        </p:txBody>
      </p:sp>
      <p:sp>
        <p:nvSpPr>
          <p:cNvPr id="8" name="Rectangle 7"/>
          <p:cNvSpPr/>
          <p:nvPr userDrawn="1"/>
        </p:nvSpPr>
        <p:spPr>
          <a:xfrm>
            <a:off x="11885691" y="0"/>
            <a:ext cx="304721" cy="6858000"/>
          </a:xfrm>
          <a:prstGeom prst="rect">
            <a:avLst/>
          </a:prstGeom>
          <a:solidFill>
            <a:schemeClr val="tx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2848637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tx2">
                <a:lumMod val="20000"/>
                <a:lumOff val="80000"/>
              </a:schemeClr>
            </a:gs>
            <a:gs pos="90000">
              <a:schemeClr val="tx2">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03413" y="177800"/>
            <a:ext cx="9472824" cy="1239837"/>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903413" y="1600200"/>
            <a:ext cx="9472824"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100" cap="all" baseline="0">
                <a:solidFill>
                  <a:schemeClr val="tx1"/>
                </a:solidFill>
              </a:defRPr>
            </a:lvl1pPr>
          </a:lstStyle>
          <a:p>
            <a:fld id="{FD004168-AADC-4457-9784-543656FEE4FC}" type="datetime1">
              <a:rPr lang="en-US" smtClean="0"/>
              <a:pPr/>
              <a:t>5/8/2025</a:t>
            </a:fld>
            <a:endParaRPr lang="en-US"/>
          </a:p>
        </p:txBody>
      </p:sp>
      <p:sp>
        <p:nvSpPr>
          <p:cNvPr id="5" name="Footer Placeholder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100" cap="all" baseline="0">
                <a:solidFill>
                  <a:schemeClr val="tx1"/>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100" cap="all" baseline="0">
                <a:solidFill>
                  <a:schemeClr val="tx1"/>
                </a:solidFill>
              </a:defRPr>
            </a:lvl1pPr>
          </a:lstStyle>
          <a:p>
            <a:fld id="{7DC1BBB0-96F0-4077-A278-0F3FB5C104D3}" type="slidenum">
              <a:rPr lang="en-US" smtClean="0"/>
              <a:pPr/>
              <a:t>‹#›</a:t>
            </a:fld>
            <a:endParaRPr lang="en-US"/>
          </a:p>
        </p:txBody>
      </p:sp>
      <p:sp>
        <p:nvSpPr>
          <p:cNvPr id="9" name="Rectangle 8"/>
          <p:cNvSpPr/>
          <p:nvPr/>
        </p:nvSpPr>
        <p:spPr>
          <a:xfrm>
            <a:off x="11885691" y="0"/>
            <a:ext cx="304721" cy="6858000"/>
          </a:xfrm>
          <a:prstGeom prst="rect">
            <a:avLst/>
          </a:prstGeom>
          <a:solidFill>
            <a:schemeClr val="tx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pic>
        <p:nvPicPr>
          <p:cNvPr id="46" name="Picture 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ltGray">
          <a:xfrm>
            <a:off x="0" y="0"/>
            <a:ext cx="1803400" cy="6858000"/>
          </a:xfrm>
          <a:prstGeom prst="rect">
            <a:avLst/>
          </a:prstGeom>
          <a:noFill/>
          <a:ln>
            <a:noFill/>
          </a:ln>
        </p:spPr>
      </p:pic>
    </p:spTree>
    <p:extLst>
      <p:ext uri="{BB962C8B-B14F-4D97-AF65-F5344CB8AC3E}">
        <p14:creationId xmlns:p14="http://schemas.microsoft.com/office/powerpoint/2010/main" val="41415188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600" kern="1200">
          <a:solidFill>
            <a:schemeClr val="tx2">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39" userDrawn="1">
          <p15:clr>
            <a:srgbClr val="F26B43"/>
          </p15:clr>
        </p15:guide>
        <p15:guide id="2" pos="1199" userDrawn="1">
          <p15:clr>
            <a:srgbClr val="F26B43"/>
          </p15:clr>
        </p15:guide>
        <p15:guide id="3" pos="719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8669" y="1905000"/>
            <a:ext cx="9304543" cy="2438400"/>
          </a:xfrm>
        </p:spPr>
        <p:txBody>
          <a:bodyPr/>
          <a:lstStyle/>
          <a:p>
            <a:r>
              <a:rPr lang="en-US" b="1" dirty="0">
                <a:effectLst>
                  <a:outerShdw blurRad="38100" dist="38100" dir="2700000" algn="tl">
                    <a:srgbClr val="000000">
                      <a:alpha val="43137"/>
                    </a:srgbClr>
                  </a:outerShdw>
                </a:effectLst>
                <a:latin typeface="Copperplate Gothic Bold" panose="020E0705020206020404" pitchFamily="34" charset="0"/>
              </a:rPr>
              <a:t>Healthcare Analytics with SQL</a:t>
            </a:r>
          </a:p>
        </p:txBody>
      </p:sp>
    </p:spTree>
    <p:extLst>
      <p:ext uri="{BB962C8B-B14F-4D97-AF65-F5344CB8AC3E}">
        <p14:creationId xmlns:p14="http://schemas.microsoft.com/office/powerpoint/2010/main" val="66759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F456B-A9F9-3300-C9DF-2B2132000F86}"/>
              </a:ext>
            </a:extLst>
          </p:cNvPr>
          <p:cNvSpPr>
            <a:spLocks noGrp="1"/>
          </p:cNvSpPr>
          <p:nvPr>
            <p:ph type="title"/>
          </p:nvPr>
        </p:nvSpPr>
        <p:spPr>
          <a:xfrm>
            <a:off x="1903413" y="0"/>
            <a:ext cx="9472824" cy="1371600"/>
          </a:xfrm>
        </p:spPr>
        <p:txBody>
          <a:bodyPr/>
          <a:lstStyle/>
          <a:p>
            <a:r>
              <a:rPr lang="en-US" u="sng" dirty="0"/>
              <a:t>Problem Statement:</a:t>
            </a:r>
          </a:p>
        </p:txBody>
      </p:sp>
      <p:graphicFrame>
        <p:nvGraphicFramePr>
          <p:cNvPr id="7" name="Content Placeholder 6">
            <a:extLst>
              <a:ext uri="{FF2B5EF4-FFF2-40B4-BE49-F238E27FC236}">
                <a16:creationId xmlns:a16="http://schemas.microsoft.com/office/drawing/2014/main" id="{EBB426D6-15E5-1818-8FEC-A16885A81151}"/>
              </a:ext>
            </a:extLst>
          </p:cNvPr>
          <p:cNvGraphicFramePr>
            <a:graphicFrameLocks noGrp="1"/>
          </p:cNvGraphicFramePr>
          <p:nvPr>
            <p:ph idx="1"/>
            <p:extLst>
              <p:ext uri="{D42A27DB-BD31-4B8C-83A1-F6EECF244321}">
                <p14:modId xmlns:p14="http://schemas.microsoft.com/office/powerpoint/2010/main" val="1552658655"/>
              </p:ext>
            </p:extLst>
          </p:nvPr>
        </p:nvGraphicFramePr>
        <p:xfrm>
          <a:off x="1903413" y="1600200"/>
          <a:ext cx="9472824" cy="34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063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2055812" y="65881"/>
            <a:ext cx="9472824" cy="1239837"/>
          </a:xfrm>
        </p:spPr>
        <p:txBody>
          <a:bodyPr/>
          <a:lstStyle/>
          <a:p>
            <a:r>
              <a:rPr lang="en-US" u="sng" dirty="0"/>
              <a:t>Inner and Equi Joins</a:t>
            </a:r>
          </a:p>
        </p:txBody>
      </p:sp>
      <p:sp>
        <p:nvSpPr>
          <p:cNvPr id="14" name="Content Placeholder 13"/>
          <p:cNvSpPr>
            <a:spLocks noGrp="1"/>
          </p:cNvSpPr>
          <p:nvPr>
            <p:ph idx="1"/>
          </p:nvPr>
        </p:nvSpPr>
        <p:spPr>
          <a:xfrm>
            <a:off x="2055811" y="1752600"/>
            <a:ext cx="9601201" cy="3429000"/>
          </a:xfrm>
        </p:spPr>
        <p:txBody>
          <a:bodyPr>
            <a:normAutofit/>
          </a:bodyPr>
          <a:lstStyle/>
          <a:p>
            <a:pPr>
              <a:buFont typeface="Wingdings" panose="05000000000000000000" pitchFamily="2" charset="2"/>
              <a:buChar char="Ø"/>
            </a:pPr>
            <a:r>
              <a:rPr lang="en-US" sz="2400" dirty="0">
                <a:latin typeface="Arial" panose="020B0604020202020204" pitchFamily="34" charset="0"/>
                <a:cs typeface="Arial" panose="020B0604020202020204" pitchFamily="34" charset="0"/>
              </a:rPr>
              <a:t>  </a:t>
            </a:r>
            <a:r>
              <a:rPr lang="en-US" sz="1800" dirty="0">
                <a:latin typeface="Arial" panose="020B0604020202020204" pitchFamily="34" charset="0"/>
              </a:rPr>
              <a:t>The inner join command returns rows that have matching values in both table</a:t>
            </a:r>
            <a:r>
              <a:rPr lang="en-US" sz="1800" dirty="0">
                <a:latin typeface="Arial" panose="020B0604020202020204" pitchFamily="34" charset="0"/>
                <a:cs typeface="Arial" panose="020B0604020202020204" pitchFamily="34" charset="0"/>
              </a:rPr>
              <a:t>. </a:t>
            </a:r>
          </a:p>
          <a:p>
            <a:pPr lvl="0"/>
            <a:r>
              <a:rPr lang="en-US" sz="1800" b="1" dirty="0">
                <a:latin typeface="Arial" panose="020B0604020202020204" pitchFamily="34" charset="0"/>
                <a:ea typeface="Arial" panose="020B0604020202020204" pitchFamily="34" charset="0"/>
              </a:rPr>
              <a:t>Task 1:</a:t>
            </a:r>
            <a:endParaRPr lang="en-US" sz="1800" b="1" dirty="0">
              <a:effectLst/>
              <a:latin typeface="Arial" panose="020B0604020202020204" pitchFamily="34" charset="0"/>
              <a:ea typeface="Arial" panose="020B0604020202020204" pitchFamily="34" charset="0"/>
            </a:endParaRPr>
          </a:p>
          <a:p>
            <a:pPr marL="0" lvl="0" indent="0">
              <a:buNone/>
            </a:pPr>
            <a:r>
              <a:rPr lang="en-US" sz="1800" dirty="0">
                <a:effectLst/>
                <a:latin typeface="Arial" panose="020B0604020202020204" pitchFamily="34" charset="0"/>
                <a:ea typeface="Arial" panose="020B0604020202020204" pitchFamily="34" charset="0"/>
              </a:rPr>
              <a:t>    To fetch details of all completed appointments, including the patient’s name, doctor’s name, and specialization.</a:t>
            </a:r>
          </a:p>
          <a:p>
            <a:pPr marL="0" lvl="0" indent="0">
              <a:buNone/>
            </a:pPr>
            <a:endParaRPr lang="en-US" sz="1800" dirty="0">
              <a:effectLst/>
              <a:latin typeface="Arial" panose="020B0604020202020204" pitchFamily="34" charset="0"/>
              <a:ea typeface="Arial" panose="020B0604020202020204" pitchFamily="34" charset="0"/>
            </a:endParaRPr>
          </a:p>
          <a:p>
            <a:pPr marL="0" lvl="0" indent="0">
              <a:buNone/>
            </a:pPr>
            <a:r>
              <a:rPr lang="en-US" sz="1800" b="1" dirty="0">
                <a:latin typeface="Arial" panose="020B0604020202020204" pitchFamily="34" charset="0"/>
              </a:rPr>
              <a:t>Insights:  </a:t>
            </a:r>
            <a:r>
              <a:rPr lang="en-US" sz="1800" dirty="0">
                <a:latin typeface="Arial" panose="020B0604020202020204" pitchFamily="34" charset="0"/>
              </a:rPr>
              <a:t>In result of fetching the details, we got to know that most in-demand specialization is Cardiology (823 appointments) has the highest number of completed appointments, indicating a strong need for cardiac care services.</a:t>
            </a:r>
            <a:endParaRPr lang="en-US" sz="2400" dirty="0"/>
          </a:p>
        </p:txBody>
      </p:sp>
    </p:spTree>
    <p:extLst>
      <p:ext uri="{BB962C8B-B14F-4D97-AF65-F5344CB8AC3E}">
        <p14:creationId xmlns:p14="http://schemas.microsoft.com/office/powerpoint/2010/main" val="2970739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title="Title and Content Layout with Chart"/>
          <p:cNvSpPr>
            <a:spLocks noGrp="1"/>
          </p:cNvSpPr>
          <p:nvPr>
            <p:ph type="title"/>
          </p:nvPr>
        </p:nvSpPr>
        <p:spPr/>
        <p:txBody>
          <a:bodyPr/>
          <a:lstStyle/>
          <a:p>
            <a:r>
              <a:rPr lang="en-US" u="sng" dirty="0"/>
              <a:t>Left Join with Null Handling</a:t>
            </a:r>
          </a:p>
        </p:txBody>
      </p:sp>
      <p:sp>
        <p:nvSpPr>
          <p:cNvPr id="4" name="Content Placeholder 3">
            <a:extLst>
              <a:ext uri="{FF2B5EF4-FFF2-40B4-BE49-F238E27FC236}">
                <a16:creationId xmlns:a16="http://schemas.microsoft.com/office/drawing/2014/main" id="{E2F7119B-B838-A1C9-9B88-E47F8E8AF94B}"/>
              </a:ext>
            </a:extLst>
          </p:cNvPr>
          <p:cNvSpPr>
            <a:spLocks noGrp="1"/>
          </p:cNvSpPr>
          <p:nvPr>
            <p:ph idx="1"/>
          </p:nvPr>
        </p:nvSpPr>
        <p:spPr/>
        <p:txBody>
          <a:bodyPr/>
          <a:lstStyle/>
          <a:p>
            <a:endParaRPr lang="en-US" sz="1800" dirty="0">
              <a:effectLst/>
              <a:latin typeface="Arial" panose="020B0604020202020204" pitchFamily="34" charset="0"/>
              <a:ea typeface="Arial" panose="020B0604020202020204" pitchFamily="34" charset="0"/>
            </a:endParaRPr>
          </a:p>
          <a:p>
            <a:pPr>
              <a:buFont typeface="Wingdings" panose="05000000000000000000" pitchFamily="2" charset="2"/>
              <a:buChar char="Ø"/>
            </a:pPr>
            <a:r>
              <a:rPr lang="en-US" sz="1800" dirty="0">
                <a:latin typeface="Arial" panose="020B0604020202020204" pitchFamily="34" charset="0"/>
                <a:ea typeface="Arial" panose="020B0604020202020204" pitchFamily="34" charset="0"/>
              </a:rPr>
              <a:t>     LEFT JOIN used to retrieve all records from the left table (Patients) and the matching records from the right table (Appointments).</a:t>
            </a:r>
            <a:endParaRPr lang="en-US" sz="1800" dirty="0">
              <a:effectLst/>
              <a:latin typeface="Arial" panose="020B0604020202020204" pitchFamily="34" charset="0"/>
              <a:ea typeface="Arial" panose="020B0604020202020204" pitchFamily="34" charset="0"/>
            </a:endParaRPr>
          </a:p>
          <a:p>
            <a:r>
              <a:rPr lang="en-US" sz="1800" b="1" dirty="0">
                <a:latin typeface="Arial" panose="020B0604020202020204" pitchFamily="34" charset="0"/>
                <a:ea typeface="Arial" panose="020B0604020202020204" pitchFamily="34" charset="0"/>
              </a:rPr>
              <a:t>Task 2:</a:t>
            </a:r>
            <a:endParaRPr lang="en-US" sz="1800" b="1" dirty="0">
              <a:effectLst/>
              <a:latin typeface="Arial" panose="020B0604020202020204" pitchFamily="34" charset="0"/>
              <a:ea typeface="Arial" panose="020B0604020202020204" pitchFamily="34" charset="0"/>
            </a:endParaRPr>
          </a:p>
          <a:p>
            <a:pPr marL="0" indent="0">
              <a:buNone/>
            </a:pPr>
            <a:r>
              <a:rPr lang="en-US" sz="1800" dirty="0">
                <a:effectLst/>
                <a:latin typeface="Arial" panose="020B0604020202020204" pitchFamily="34" charset="0"/>
                <a:ea typeface="Arial" panose="020B0604020202020204" pitchFamily="34" charset="0"/>
              </a:rPr>
              <a:t>    Retrieve all patients who have never had an appointment. Include their name, contact details, and address in the output.</a:t>
            </a:r>
          </a:p>
          <a:p>
            <a:pPr marL="0" indent="0">
              <a:buNone/>
            </a:pPr>
            <a:endParaRPr lang="en-US" sz="1800" dirty="0">
              <a:effectLst/>
              <a:latin typeface="Arial" panose="020B0604020202020204" pitchFamily="34" charset="0"/>
              <a:ea typeface="Arial" panose="020B0604020202020204" pitchFamily="34" charset="0"/>
            </a:endParaRPr>
          </a:p>
          <a:p>
            <a:pPr marL="0" indent="0">
              <a:buNone/>
            </a:pPr>
            <a:r>
              <a:rPr lang="en-US" sz="1800" b="1" dirty="0">
                <a:effectLst/>
                <a:latin typeface="Arial" panose="020B0604020202020204" pitchFamily="34" charset="0"/>
                <a:ea typeface="Arial" panose="020B0604020202020204" pitchFamily="34" charset="0"/>
              </a:rPr>
              <a:t>Insights: </a:t>
            </a:r>
            <a:r>
              <a:rPr lang="en-US" sz="1800" dirty="0">
                <a:effectLst/>
                <a:latin typeface="Arial" panose="020B0604020202020204" pitchFamily="34" charset="0"/>
                <a:ea typeface="Arial" panose="020B0604020202020204" pitchFamily="34" charset="0"/>
              </a:rPr>
              <a:t>It </a:t>
            </a:r>
            <a:r>
              <a:rPr lang="en-US" sz="1800" dirty="0">
                <a:latin typeface="Arial" panose="020B0604020202020204" pitchFamily="34" charset="0"/>
                <a:ea typeface="Arial" panose="020B0604020202020204" pitchFamily="34" charset="0"/>
              </a:rPr>
              <a:t>shows that </a:t>
            </a:r>
            <a:r>
              <a:rPr lang="en-US" sz="1800" dirty="0">
                <a:effectLst/>
                <a:latin typeface="Arial" panose="020B0604020202020204" pitchFamily="34" charset="0"/>
                <a:ea typeface="Arial" panose="020B0604020202020204" pitchFamily="34" charset="0"/>
              </a:rPr>
              <a:t>the total patient database is 5000 out of total only 662 patients (13.24% of 100) have never scheduled an appointment</a:t>
            </a:r>
            <a:r>
              <a:rPr lang="en-US" sz="1800" b="1" dirty="0">
                <a:latin typeface="Arial" panose="020B0604020202020204" pitchFamily="34" charset="0"/>
                <a:ea typeface="Arial" panose="020B0604020202020204" pitchFamily="34" charset="0"/>
              </a:rPr>
              <a:t>. </a:t>
            </a:r>
            <a:r>
              <a:rPr lang="en-US" sz="1800" dirty="0">
                <a:latin typeface="Arial" panose="020B0604020202020204" pitchFamily="34" charset="0"/>
                <a:ea typeface="Arial" panose="020B0604020202020204" pitchFamily="34" charset="0"/>
              </a:rPr>
              <a:t>It seems to be a good sign which indicates that healthcare providing a better service.</a:t>
            </a:r>
            <a:br>
              <a:rPr lang="en-US" sz="1800" dirty="0">
                <a:effectLst/>
                <a:latin typeface="Arial" panose="020B0604020202020204" pitchFamily="34" charset="0"/>
                <a:ea typeface="Arial" panose="020B0604020202020204" pitchFamily="34" charset="0"/>
              </a:rPr>
            </a:br>
            <a:r>
              <a:rPr lang="en-US" sz="1800" dirty="0">
                <a:effectLst/>
                <a:latin typeface="Arial" panose="020B0604020202020204" pitchFamily="34" charset="0"/>
                <a:ea typeface="Arial" panose="020B0604020202020204" pitchFamily="34" charset="0"/>
              </a:rPr>
              <a:t> </a:t>
            </a:r>
            <a:endParaRPr lang="en-US" dirty="0"/>
          </a:p>
        </p:txBody>
      </p:sp>
    </p:spTree>
    <p:extLst>
      <p:ext uri="{BB962C8B-B14F-4D97-AF65-F5344CB8AC3E}">
        <p14:creationId xmlns:p14="http://schemas.microsoft.com/office/powerpoint/2010/main" val="3295254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Right Join and Aggregate Functions</a:t>
            </a:r>
          </a:p>
        </p:txBody>
      </p:sp>
      <p:sp>
        <p:nvSpPr>
          <p:cNvPr id="11" name="Content Placeholder 10"/>
          <p:cNvSpPr>
            <a:spLocks noGrp="1"/>
          </p:cNvSpPr>
          <p:nvPr>
            <p:ph sz="half" idx="2"/>
          </p:nvPr>
        </p:nvSpPr>
        <p:spPr>
          <a:xfrm>
            <a:off x="1903414" y="1828800"/>
            <a:ext cx="9472824" cy="4343400"/>
          </a:xfrm>
        </p:spPr>
        <p:txBody>
          <a:bodyPr/>
          <a:lstStyle/>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The RIGHT JOIN returns all rows from right table and matching rows from the left table.</a:t>
            </a:r>
            <a:endParaRPr lang="en-US" dirty="0"/>
          </a:p>
          <a:p>
            <a:r>
              <a:rPr lang="en-US" sz="1800" b="1" dirty="0">
                <a:latin typeface="Arial" panose="020B0604020202020204" pitchFamily="34" charset="0"/>
                <a:cs typeface="Arial" panose="020B0604020202020204" pitchFamily="34" charset="0"/>
              </a:rPr>
              <a:t>Task 3:</a:t>
            </a:r>
          </a:p>
          <a:p>
            <a:pPr marL="0" indent="0">
              <a:buNone/>
            </a:pPr>
            <a:r>
              <a:rPr lang="en-US" sz="1800" b="1" dirty="0">
                <a:latin typeface="Arial" panose="020B0604020202020204" pitchFamily="34" charset="0"/>
                <a:cs typeface="Arial" panose="020B0604020202020204" pitchFamily="34" charset="0"/>
              </a:rPr>
              <a:t>     </a:t>
            </a:r>
            <a:r>
              <a:rPr lang="en-US" sz="1800" dirty="0">
                <a:effectLst/>
                <a:latin typeface="Arial" panose="020B0604020202020204" pitchFamily="34" charset="0"/>
                <a:ea typeface="Arial" panose="020B0604020202020204" pitchFamily="34" charset="0"/>
              </a:rPr>
              <a:t>Find the total number of diagnoses for each doctor, including doctors who haven’t diagnosed any patients. Display the doctor’s name, specialization, and total diagnoses.</a:t>
            </a:r>
            <a:br>
              <a:rPr lang="en-US" sz="1800" dirty="0">
                <a:effectLst/>
                <a:latin typeface="Arial" panose="020B0604020202020204" pitchFamily="34" charset="0"/>
                <a:ea typeface="Arial" panose="020B0604020202020204" pitchFamily="34" charset="0"/>
              </a:rPr>
            </a:br>
            <a:endParaRPr lang="en-US" sz="1800" b="1" dirty="0">
              <a:latin typeface="Arial" panose="020B0604020202020204" pitchFamily="34" charset="0"/>
              <a:cs typeface="Arial" panose="020B0604020202020204" pitchFamily="34" charset="0"/>
            </a:endParaRPr>
          </a:p>
          <a:p>
            <a:pPr marL="0" indent="0">
              <a:buNone/>
            </a:pPr>
            <a:r>
              <a:rPr lang="en-US" sz="1800" b="1" dirty="0">
                <a:latin typeface="Arial" panose="020B0604020202020204" pitchFamily="34" charset="0"/>
                <a:cs typeface="Arial" panose="020B0604020202020204" pitchFamily="34" charset="0"/>
              </a:rPr>
              <a:t>Insights </a:t>
            </a:r>
            <a:r>
              <a:rPr lang="en-US" sz="1800" dirty="0">
                <a:latin typeface="Arial" panose="020B0604020202020204" pitchFamily="34" charset="0"/>
                <a:cs typeface="Arial" panose="020B0604020202020204" pitchFamily="34" charset="0"/>
              </a:rPr>
              <a:t>:Cardiology and Pediatrics have the highest patient interactions, possibly indicating a need for more doctors in these fields. Also, there are 0 Doctors with  no diagnoses.</a:t>
            </a:r>
          </a:p>
          <a:p>
            <a:pPr marL="0" indent="0">
              <a:buNone/>
            </a:pPr>
            <a:endParaRPr lang="en-US" sz="1800"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14223DE0-2AFE-14FC-2B49-0A7033C54B63}"/>
              </a:ext>
            </a:extLst>
          </p:cNvPr>
          <p:cNvGraphicFramePr>
            <a:graphicFrameLocks noGrp="1"/>
          </p:cNvGraphicFramePr>
          <p:nvPr>
            <p:extLst>
              <p:ext uri="{D42A27DB-BD31-4B8C-83A1-F6EECF244321}">
                <p14:modId xmlns:p14="http://schemas.microsoft.com/office/powerpoint/2010/main" val="2159007985"/>
              </p:ext>
            </p:extLst>
          </p:nvPr>
        </p:nvGraphicFramePr>
        <p:xfrm>
          <a:off x="2817812" y="4495800"/>
          <a:ext cx="6553200" cy="1699103"/>
        </p:xfrm>
        <a:graphic>
          <a:graphicData uri="http://schemas.openxmlformats.org/drawingml/2006/table">
            <a:tbl>
              <a:tblPr firstRow="1" lastRow="1" bandRow="1">
                <a:effectLst>
                  <a:innerShdw blurRad="63500" dist="50800" dir="5400000">
                    <a:prstClr val="black">
                      <a:alpha val="50000"/>
                    </a:prstClr>
                  </a:innerShdw>
                </a:effectLst>
              </a:tblPr>
              <a:tblGrid>
                <a:gridCol w="1676400">
                  <a:extLst>
                    <a:ext uri="{9D8B030D-6E8A-4147-A177-3AD203B41FA5}">
                      <a16:colId xmlns:a16="http://schemas.microsoft.com/office/drawing/2014/main" val="1659377143"/>
                    </a:ext>
                  </a:extLst>
                </a:gridCol>
                <a:gridCol w="2584999">
                  <a:extLst>
                    <a:ext uri="{9D8B030D-6E8A-4147-A177-3AD203B41FA5}">
                      <a16:colId xmlns:a16="http://schemas.microsoft.com/office/drawing/2014/main" val="359761932"/>
                    </a:ext>
                  </a:extLst>
                </a:gridCol>
                <a:gridCol w="2291801">
                  <a:extLst>
                    <a:ext uri="{9D8B030D-6E8A-4147-A177-3AD203B41FA5}">
                      <a16:colId xmlns:a16="http://schemas.microsoft.com/office/drawing/2014/main" val="906199560"/>
                    </a:ext>
                  </a:extLst>
                </a:gridCol>
              </a:tblGrid>
              <a:tr h="230661">
                <a:tc>
                  <a:txBody>
                    <a:bodyPr/>
                    <a:lstStyle/>
                    <a:p>
                      <a:pPr algn="l" fontAlgn="b"/>
                      <a:r>
                        <a:rPr lang="en-US" sz="1600" b="1" i="0" u="none" strike="noStrike" dirty="0">
                          <a:solidFill>
                            <a:srgbClr val="000000"/>
                          </a:solidFill>
                          <a:effectLst/>
                          <a:latin typeface="Calibri" panose="020F0502020204030204" pitchFamily="34" charset="0"/>
                        </a:rPr>
                        <a:t>Specialization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a:txBody>
                    <a:bodyPr/>
                    <a:lstStyle/>
                    <a:p>
                      <a:pPr algn="l" fontAlgn="b"/>
                      <a:r>
                        <a:rPr lang="en-US" sz="1600" b="1" i="0" u="none" strike="noStrike">
                          <a:solidFill>
                            <a:srgbClr val="000000"/>
                          </a:solidFill>
                          <a:effectLst/>
                          <a:latin typeface="Calibri" panose="020F0502020204030204" pitchFamily="34" charset="0"/>
                        </a:rPr>
                        <a:t>Sum of total_diagnoses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a:txBody>
                    <a:bodyPr/>
                    <a:lstStyle/>
                    <a:p>
                      <a:pPr algn="l" fontAlgn="b"/>
                      <a:r>
                        <a:rPr lang="en-US" sz="1600" b="1" i="0" u="none" strike="noStrike" dirty="0">
                          <a:solidFill>
                            <a:srgbClr val="000000"/>
                          </a:solidFill>
                          <a:effectLst/>
                          <a:latin typeface="Calibri" panose="020F0502020204030204" pitchFamily="34" charset="0"/>
                        </a:rPr>
                        <a:t>Count of </a:t>
                      </a:r>
                      <a:r>
                        <a:rPr lang="en-US" sz="1600" b="1" i="0" u="none" strike="noStrike" dirty="0" err="1">
                          <a:solidFill>
                            <a:srgbClr val="000000"/>
                          </a:solidFill>
                          <a:effectLst/>
                          <a:latin typeface="Calibri" panose="020F0502020204030204" pitchFamily="34" charset="0"/>
                        </a:rPr>
                        <a:t>doctor_name</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extLst>
                  <a:ext uri="{0D108BD9-81ED-4DB2-BD59-A6C34878D82A}">
                    <a16:rowId xmlns:a16="http://schemas.microsoft.com/office/drawing/2014/main" val="3554827479"/>
                  </a:ext>
                </a:extLst>
              </a:tr>
              <a:tr h="250913">
                <a:tc>
                  <a:txBody>
                    <a:bodyPr/>
                    <a:lstStyle/>
                    <a:p>
                      <a:pPr algn="l" fontAlgn="b"/>
                      <a:r>
                        <a:rPr lang="en-US" sz="1400" b="1" i="0" u="none" strike="noStrike" dirty="0">
                          <a:solidFill>
                            <a:srgbClr val="000000"/>
                          </a:solidFill>
                          <a:effectLst/>
                          <a:latin typeface="Calibri" panose="020F0502020204030204" pitchFamily="34" charset="0"/>
                        </a:rPr>
                        <a:t>Cardiology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b"/>
                      <a:r>
                        <a:rPr lang="en-US" sz="1400" b="0" i="0" u="none" strike="noStrike" dirty="0">
                          <a:solidFill>
                            <a:srgbClr val="000000"/>
                          </a:solidFill>
                          <a:effectLst/>
                          <a:latin typeface="Calibri" panose="020F0502020204030204" pitchFamily="34" charset="0"/>
                        </a:rPr>
                        <a:t>3676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73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3705330"/>
                  </a:ext>
                </a:extLst>
              </a:tr>
              <a:tr h="238965">
                <a:tc>
                  <a:txBody>
                    <a:bodyPr/>
                    <a:lstStyle/>
                    <a:p>
                      <a:pPr algn="l" fontAlgn="b"/>
                      <a:r>
                        <a:rPr lang="en-US" sz="1400" b="0" i="0" u="none" strike="noStrike" dirty="0">
                          <a:solidFill>
                            <a:srgbClr val="000000"/>
                          </a:solidFill>
                          <a:effectLst/>
                          <a:latin typeface="Calibri" panose="020F0502020204030204" pitchFamily="34" charset="0"/>
                        </a:rPr>
                        <a:t>General Medicine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2737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7547275"/>
                  </a:ext>
                </a:extLst>
              </a:tr>
              <a:tr h="238965">
                <a:tc>
                  <a:txBody>
                    <a:bodyPr/>
                    <a:lstStyle/>
                    <a:p>
                      <a:pPr algn="l" fontAlgn="b"/>
                      <a:r>
                        <a:rPr lang="en-US" sz="1400" b="0" i="0" u="none" strike="noStrike" dirty="0">
                          <a:solidFill>
                            <a:srgbClr val="000000"/>
                          </a:solidFill>
                          <a:effectLst/>
                          <a:latin typeface="Calibri" panose="020F0502020204030204" pitchFamily="34" charset="0"/>
                        </a:rPr>
                        <a:t>Neurology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2508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5218659"/>
                  </a:ext>
                </a:extLst>
              </a:tr>
              <a:tr h="238965">
                <a:tc>
                  <a:txBody>
                    <a:bodyPr/>
                    <a:lstStyle/>
                    <a:p>
                      <a:pPr algn="l" fontAlgn="b"/>
                      <a:r>
                        <a:rPr lang="en-US" sz="1400" b="0" i="0" u="none" strike="noStrike" dirty="0">
                          <a:solidFill>
                            <a:srgbClr val="000000"/>
                          </a:solidFill>
                          <a:effectLst/>
                          <a:latin typeface="Calibri" panose="020F0502020204030204" pitchFamily="34" charset="0"/>
                        </a:rPr>
                        <a:t>Orthopedics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2771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0349892"/>
                  </a:ext>
                </a:extLst>
              </a:tr>
              <a:tr h="238965">
                <a:tc>
                  <a:txBody>
                    <a:bodyPr/>
                    <a:lstStyle/>
                    <a:p>
                      <a:pPr algn="l" fontAlgn="b"/>
                      <a:r>
                        <a:rPr lang="en-US" sz="1400" b="1" i="0" u="none" strike="noStrike" dirty="0">
                          <a:solidFill>
                            <a:srgbClr val="000000"/>
                          </a:solidFill>
                          <a:effectLst/>
                          <a:latin typeface="Calibri" panose="020F0502020204030204" pitchFamily="34" charset="0"/>
                        </a:rPr>
                        <a:t>Pediatrics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3308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Calibri" panose="020F0502020204030204" pitchFamily="34" charset="0"/>
                        </a:rPr>
                        <a:t>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533704"/>
                  </a:ext>
                </a:extLst>
              </a:tr>
              <a:tr h="238965">
                <a:tc>
                  <a:txBody>
                    <a:bodyPr/>
                    <a:lstStyle/>
                    <a:p>
                      <a:pPr algn="l" fontAlgn="b"/>
                      <a:r>
                        <a:rPr lang="en-US" sz="1400" b="1" i="0" u="none" strike="noStrike" dirty="0">
                          <a:solidFill>
                            <a:srgbClr val="000000"/>
                          </a:solidFill>
                          <a:effectLst/>
                          <a:latin typeface="Calibri" panose="020F0502020204030204" pitchFamily="34" charset="0"/>
                        </a:rPr>
                        <a:t>Grand Total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a:txBody>
                    <a:bodyPr/>
                    <a:lstStyle/>
                    <a:p>
                      <a:pPr algn="r" fontAlgn="b"/>
                      <a:r>
                        <a:rPr lang="en-US" sz="1400" b="1" i="0" u="none" strike="noStrike" dirty="0">
                          <a:solidFill>
                            <a:srgbClr val="000000"/>
                          </a:solidFill>
                          <a:effectLst/>
                          <a:latin typeface="Calibri" panose="020F0502020204030204" pitchFamily="34" charset="0"/>
                        </a:rPr>
                        <a:t>15000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a:txBody>
                    <a:bodyPr/>
                    <a:lstStyle/>
                    <a:p>
                      <a:pPr algn="r" fontAlgn="b"/>
                      <a:r>
                        <a:rPr lang="en-US" sz="1400" b="1" i="0" u="none" strike="noStrike" dirty="0">
                          <a:solidFill>
                            <a:srgbClr val="000000"/>
                          </a:solidFill>
                          <a:effectLst/>
                          <a:latin typeface="Calibri" panose="020F0502020204030204" pitchFamily="34" charset="0"/>
                        </a:rPr>
                        <a:t>300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extLst>
                  <a:ext uri="{0D108BD9-81ED-4DB2-BD59-A6C34878D82A}">
                    <a16:rowId xmlns:a16="http://schemas.microsoft.com/office/drawing/2014/main" val="3124129608"/>
                  </a:ext>
                </a:extLst>
              </a:tr>
            </a:tbl>
          </a:graphicData>
        </a:graphic>
      </p:graphicFrame>
    </p:spTree>
    <p:extLst>
      <p:ext uri="{BB962C8B-B14F-4D97-AF65-F5344CB8AC3E}">
        <p14:creationId xmlns:p14="http://schemas.microsoft.com/office/powerpoint/2010/main" val="1843700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n-NO" u="sng" dirty="0"/>
              <a:t>Full Join for Overlapping Data</a:t>
            </a:r>
            <a:endParaRPr lang="en-US" u="sng" dirty="0"/>
          </a:p>
        </p:txBody>
      </p:sp>
      <p:sp>
        <p:nvSpPr>
          <p:cNvPr id="10" name="Content Placeholder 9"/>
          <p:cNvSpPr>
            <a:spLocks noGrp="1"/>
          </p:cNvSpPr>
          <p:nvPr>
            <p:ph sz="half" idx="1"/>
          </p:nvPr>
        </p:nvSpPr>
        <p:spPr>
          <a:xfrm>
            <a:off x="1935496" y="1600200"/>
            <a:ext cx="9035716" cy="4572000"/>
          </a:xfrm>
        </p:spPr>
        <p:txBody>
          <a:bodyPr/>
          <a:lstStyle/>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     The FULL JOIN returns all the records of both table even if they don’t have match.</a:t>
            </a:r>
          </a:p>
          <a:p>
            <a:r>
              <a:rPr lang="en-US" sz="1800" b="1" dirty="0">
                <a:latin typeface="Arial" panose="020B0604020202020204" pitchFamily="34" charset="0"/>
                <a:cs typeface="Arial" panose="020B0604020202020204" pitchFamily="34" charset="0"/>
              </a:rPr>
              <a:t>Task 4:</a:t>
            </a:r>
          </a:p>
          <a:p>
            <a:pPr marL="0" indent="0">
              <a:buNone/>
            </a:pPr>
            <a:r>
              <a:rPr lang="en-US" sz="1800" dirty="0">
                <a:effectLst/>
                <a:latin typeface="Arial" panose="020B0604020202020204" pitchFamily="34" charset="0"/>
                <a:ea typeface="Arial" panose="020B0604020202020204" pitchFamily="34" charset="0"/>
                <a:cs typeface="Arial" panose="020B0604020202020204" pitchFamily="34" charset="0"/>
              </a:rPr>
              <a:t>         Write a query to identify mismatches between the appointments and diagnoses tables. Include all appointments and diagnoses with their corresponding patient and doctor details.</a:t>
            </a:r>
          </a:p>
          <a:p>
            <a:pPr marL="0" indent="0">
              <a:buNone/>
            </a:pPr>
            <a:r>
              <a:rPr lang="en-US" sz="1800" b="1" dirty="0">
                <a:latin typeface="Arial" panose="020B0604020202020204" pitchFamily="34" charset="0"/>
                <a:cs typeface="Arial" panose="020B0604020202020204" pitchFamily="34" charset="0"/>
              </a:rPr>
              <a:t>Insights:  </a:t>
            </a:r>
            <a:r>
              <a:rPr lang="en-US" sz="1800" dirty="0">
                <a:latin typeface="Arial" panose="020B0604020202020204" pitchFamily="34" charset="0"/>
                <a:cs typeface="Arial" panose="020B0604020202020204" pitchFamily="34" charset="0"/>
              </a:rPr>
              <a:t>While checking after the query some of the rows has null values which indicates that some appointments don’t have diagnoses (i.e. Canceled or missed visits). Some diagnoses don’t have appointments, reason behind no appointments may be because of emergency cases, walk-ins.</a:t>
            </a:r>
          </a:p>
        </p:txBody>
      </p:sp>
    </p:spTree>
    <p:extLst>
      <p:ext uri="{BB962C8B-B14F-4D97-AF65-F5344CB8AC3E}">
        <p14:creationId xmlns:p14="http://schemas.microsoft.com/office/powerpoint/2010/main" val="840664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E4759-B205-3D2D-E248-96FCBB27D637}"/>
              </a:ext>
            </a:extLst>
          </p:cNvPr>
          <p:cNvSpPr>
            <a:spLocks noGrp="1"/>
          </p:cNvSpPr>
          <p:nvPr>
            <p:ph type="title"/>
          </p:nvPr>
        </p:nvSpPr>
        <p:spPr/>
        <p:txBody>
          <a:bodyPr/>
          <a:lstStyle/>
          <a:p>
            <a:r>
              <a:rPr lang="en-US" u="sng" dirty="0"/>
              <a:t>Window Functions (Ranking and Aggregation)</a:t>
            </a:r>
          </a:p>
        </p:txBody>
      </p:sp>
      <p:sp>
        <p:nvSpPr>
          <p:cNvPr id="3" name="Content Placeholder 2">
            <a:extLst>
              <a:ext uri="{FF2B5EF4-FFF2-40B4-BE49-F238E27FC236}">
                <a16:creationId xmlns:a16="http://schemas.microsoft.com/office/drawing/2014/main" id="{9D39831B-0579-5E17-285D-30B4947137E6}"/>
              </a:ext>
            </a:extLst>
          </p:cNvPr>
          <p:cNvSpPr>
            <a:spLocks noGrp="1"/>
          </p:cNvSpPr>
          <p:nvPr>
            <p:ph sz="half" idx="1"/>
          </p:nvPr>
        </p:nvSpPr>
        <p:spPr>
          <a:xfrm>
            <a:off x="1935496" y="1600200"/>
            <a:ext cx="9035716" cy="4572000"/>
          </a:xfrm>
        </p:spPr>
        <p:txBody>
          <a:bodyPr/>
          <a:lstStyle/>
          <a:p>
            <a:pPr>
              <a:buFont typeface="Wingdings" panose="05000000000000000000" pitchFamily="2" charset="2"/>
              <a:buChar char="Ø"/>
            </a:pPr>
            <a:r>
              <a:rPr lang="en-US" sz="1800" dirty="0">
                <a:solidFill>
                  <a:srgbClr val="000000"/>
                </a:solidFill>
                <a:effectLst/>
                <a:latin typeface="Arial" panose="020B0604020202020204" pitchFamily="34" charset="0"/>
                <a:ea typeface="Arial" panose="020B0604020202020204" pitchFamily="34" charset="0"/>
              </a:rPr>
              <a:t>Window Functions perform calculations across a set of rows related to the current row, enabling tasks like ranking, running totals, and moving averages. In this project, they help rank patients for each doctor based on how frequently they visit, offering deeper insights without losing individual row data.</a:t>
            </a:r>
            <a:endParaRPr lang="en-US" sz="1800" b="1" dirty="0">
              <a:solidFill>
                <a:srgbClr val="000000"/>
              </a:solidFill>
              <a:latin typeface="Arial" panose="020B0604020202020204" pitchFamily="34" charset="0"/>
              <a:ea typeface="Arial" panose="020B0604020202020204" pitchFamily="34" charset="0"/>
            </a:endParaRPr>
          </a:p>
          <a:p>
            <a:pPr marL="0" indent="0">
              <a:buNone/>
            </a:pPr>
            <a:r>
              <a:rPr lang="en-US" sz="1800" b="1" dirty="0">
                <a:solidFill>
                  <a:srgbClr val="000000"/>
                </a:solidFill>
                <a:effectLst/>
                <a:latin typeface="Arial" panose="020B0604020202020204" pitchFamily="34" charset="0"/>
                <a:ea typeface="Arial" panose="020B0604020202020204" pitchFamily="34" charset="0"/>
              </a:rPr>
              <a:t>Task 5:</a:t>
            </a:r>
          </a:p>
          <a:p>
            <a:pPr marL="0" indent="0">
              <a:buNone/>
            </a:pPr>
            <a:r>
              <a:rPr lang="en-US" sz="1800" dirty="0">
                <a:solidFill>
                  <a:srgbClr val="000000"/>
                </a:solidFill>
                <a:effectLst/>
                <a:latin typeface="Arial" panose="020B0604020202020204" pitchFamily="34" charset="0"/>
                <a:ea typeface="Arial" panose="020B0604020202020204" pitchFamily="34" charset="0"/>
              </a:rPr>
              <a:t>      For each doctor, rank their patients based on the number of appointments in descending order.</a:t>
            </a:r>
          </a:p>
          <a:p>
            <a:pPr marL="0" indent="0">
              <a:buNone/>
            </a:pPr>
            <a:r>
              <a:rPr lang="en-US" sz="1800" b="1" dirty="0">
                <a:latin typeface="Arial" panose="020B0604020202020204" pitchFamily="34" charset="0"/>
                <a:cs typeface="Arial" panose="020B0604020202020204" pitchFamily="34" charset="0"/>
              </a:rPr>
              <a:t>Insights:</a:t>
            </a:r>
            <a:endParaRPr lang="en-US" sz="1800" dirty="0">
              <a:solidFill>
                <a:srgbClr val="000000"/>
              </a:solidFill>
              <a:latin typeface="Arial" panose="020B0604020202020204" pitchFamily="34" charset="0"/>
              <a:ea typeface="Arial" panose="020B0604020202020204" pitchFamily="34" charset="0"/>
            </a:endParaRPr>
          </a:p>
          <a:p>
            <a:pPr marL="0" indent="0">
              <a:buNone/>
            </a:pPr>
            <a:r>
              <a:rPr lang="en-US" sz="1800" dirty="0">
                <a:solidFill>
                  <a:srgbClr val="000000"/>
                </a:solidFill>
                <a:effectLst/>
                <a:latin typeface="Arial" panose="020B0604020202020204" pitchFamily="34" charset="0"/>
                <a:ea typeface="Arial" panose="020B0604020202020204" pitchFamily="34" charset="0"/>
              </a:rPr>
              <a:t>We can Identify top patients per doctor based on appointment frequency and some patients have the same rank due to the same appointment count.</a:t>
            </a:r>
            <a:br>
              <a:rPr lang="en-US" sz="1800" dirty="0">
                <a:solidFill>
                  <a:srgbClr val="000000"/>
                </a:solidFill>
                <a:effectLst/>
                <a:latin typeface="Arial" panose="020B0604020202020204" pitchFamily="34" charset="0"/>
                <a:ea typeface="Arial" panose="020B0604020202020204" pitchFamily="34" charset="0"/>
              </a:rPr>
            </a:br>
            <a:endParaRPr lang="en-US" dirty="0"/>
          </a:p>
        </p:txBody>
      </p:sp>
    </p:spTree>
    <p:extLst>
      <p:ext uri="{BB962C8B-B14F-4D97-AF65-F5344CB8AC3E}">
        <p14:creationId xmlns:p14="http://schemas.microsoft.com/office/powerpoint/2010/main" val="2479376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4CE38-A890-4135-278F-4A9D7EDC30F4}"/>
              </a:ext>
            </a:extLst>
          </p:cNvPr>
          <p:cNvSpPr>
            <a:spLocks noGrp="1"/>
          </p:cNvSpPr>
          <p:nvPr>
            <p:ph type="title"/>
          </p:nvPr>
        </p:nvSpPr>
        <p:spPr>
          <a:xfrm>
            <a:off x="1935496" y="152400"/>
            <a:ext cx="9472824" cy="1239837"/>
          </a:xfrm>
        </p:spPr>
        <p:txBody>
          <a:bodyPr/>
          <a:lstStyle/>
          <a:p>
            <a:r>
              <a:rPr lang="en-US" u="sng" dirty="0"/>
              <a:t>Conditional Expressions</a:t>
            </a:r>
          </a:p>
        </p:txBody>
      </p:sp>
      <p:sp>
        <p:nvSpPr>
          <p:cNvPr id="3" name="Content Placeholder 2">
            <a:extLst>
              <a:ext uri="{FF2B5EF4-FFF2-40B4-BE49-F238E27FC236}">
                <a16:creationId xmlns:a16="http://schemas.microsoft.com/office/drawing/2014/main" id="{1D9E7BE4-86EB-15FE-B60B-DCED1728E940}"/>
              </a:ext>
            </a:extLst>
          </p:cNvPr>
          <p:cNvSpPr>
            <a:spLocks noGrp="1"/>
          </p:cNvSpPr>
          <p:nvPr>
            <p:ph sz="half" idx="1"/>
          </p:nvPr>
        </p:nvSpPr>
        <p:spPr>
          <a:xfrm>
            <a:off x="1935496" y="685800"/>
            <a:ext cx="8883316" cy="5486400"/>
          </a:xfrm>
        </p:spPr>
        <p:txBody>
          <a:bodyPr/>
          <a:lstStyle/>
          <a:p>
            <a:pPr marL="0" indent="0">
              <a:buNone/>
            </a:pPr>
            <a:r>
              <a:rPr lang="en-US" sz="1800" b="1" dirty="0">
                <a:solidFill>
                  <a:srgbClr val="000000"/>
                </a:solidFill>
                <a:effectLst/>
                <a:latin typeface="Arial" panose="020B0604020202020204" pitchFamily="34" charset="0"/>
                <a:ea typeface="Arial" panose="020B0604020202020204" pitchFamily="34" charset="0"/>
              </a:rPr>
              <a:t>   </a:t>
            </a:r>
          </a:p>
          <a:p>
            <a:pPr marL="0" indent="0">
              <a:buNone/>
            </a:pPr>
            <a:endParaRPr lang="en-US" sz="1800" b="1" dirty="0">
              <a:solidFill>
                <a:srgbClr val="000000"/>
              </a:solidFill>
              <a:effectLst/>
              <a:latin typeface="Arial" panose="020B0604020202020204" pitchFamily="34" charset="0"/>
              <a:ea typeface="Arial" panose="020B0604020202020204" pitchFamily="34" charset="0"/>
            </a:endParaRPr>
          </a:p>
          <a:p>
            <a:pPr>
              <a:buFont typeface="Wingdings" panose="05000000000000000000" pitchFamily="2" charset="2"/>
              <a:buChar char="Ø"/>
            </a:pPr>
            <a:r>
              <a:rPr lang="en-US" sz="1800" dirty="0">
                <a:effectLst/>
                <a:latin typeface="Arial" panose="020B0604020202020204" pitchFamily="34" charset="0"/>
                <a:ea typeface="Aptos" panose="020B0004020202020204" pitchFamily="34" charset="0"/>
                <a:cs typeface="Arial" panose="020B0604020202020204" pitchFamily="34" charset="0"/>
              </a:rPr>
              <a:t>       The CASE statement in SQL is used for conditional logic—it works like an IF-ELSE statement in programming. It allows to categorize or transform data based on conditions</a:t>
            </a:r>
          </a:p>
          <a:p>
            <a:pPr marL="0" indent="0">
              <a:buNone/>
            </a:pPr>
            <a:r>
              <a:rPr lang="en-US" sz="1800" b="1" dirty="0">
                <a:solidFill>
                  <a:srgbClr val="000000"/>
                </a:solidFill>
                <a:effectLst/>
                <a:latin typeface="Arial" panose="020B0604020202020204" pitchFamily="34" charset="0"/>
                <a:ea typeface="Arial" panose="020B0604020202020204" pitchFamily="34" charset="0"/>
                <a:cs typeface="Arial" panose="020B0604020202020204" pitchFamily="34" charset="0"/>
              </a:rPr>
              <a:t>Task 6: </a:t>
            </a:r>
          </a:p>
          <a:p>
            <a:pPr marL="0" indent="0">
              <a:buNone/>
            </a:pPr>
            <a:r>
              <a:rPr lang="en-US" sz="1800" dirty="0">
                <a:solidFill>
                  <a:srgbClr val="000000"/>
                </a:solidFill>
                <a:effectLst/>
                <a:latin typeface="Arial" panose="020B0604020202020204" pitchFamily="34" charset="0"/>
                <a:ea typeface="Arial" panose="020B0604020202020204" pitchFamily="34" charset="0"/>
                <a:cs typeface="Arial" panose="020B0604020202020204" pitchFamily="34" charset="0"/>
              </a:rPr>
              <a:t>  Write a query to categorize patients by age group (e.g., 18-30, 31-50, 51+). Count the number of patients in each age group.</a:t>
            </a:r>
            <a:r>
              <a:rPr lang="en-US" sz="1800" dirty="0">
                <a:effectLst/>
                <a:latin typeface="Arial" panose="020B0604020202020204" pitchFamily="34" charset="0"/>
                <a:ea typeface="Aptos" panose="020B0004020202020204" pitchFamily="34" charset="0"/>
                <a:cs typeface="Arial" panose="020B0604020202020204" pitchFamily="34" charset="0"/>
              </a:rPr>
              <a:t> </a:t>
            </a:r>
          </a:p>
          <a:p>
            <a:pPr marL="0" indent="0">
              <a:buNone/>
            </a:pPr>
            <a:endParaRPr lang="en-US" sz="1800" dirty="0">
              <a:effectLst/>
              <a:latin typeface="Arial" panose="020B0604020202020204" pitchFamily="34" charset="0"/>
              <a:ea typeface="Aptos" panose="020B0004020202020204" pitchFamily="34" charset="0"/>
              <a:cs typeface="Arial" panose="020B0604020202020204" pitchFamily="34" charset="0"/>
            </a:endParaRPr>
          </a:p>
          <a:p>
            <a:pPr marL="0" indent="0">
              <a:buNone/>
            </a:pPr>
            <a:r>
              <a:rPr lang="en-US" sz="1800" b="1" dirty="0">
                <a:solidFill>
                  <a:srgbClr val="000000"/>
                </a:solidFill>
                <a:latin typeface="Arial" panose="020B0604020202020204" pitchFamily="34" charset="0"/>
                <a:ea typeface="Arial" panose="020B0604020202020204" pitchFamily="34" charset="0"/>
                <a:cs typeface="Arial" panose="020B0604020202020204" pitchFamily="34" charset="0"/>
              </a:rPr>
              <a:t>Insights: </a:t>
            </a:r>
            <a:r>
              <a:rPr lang="en-US" sz="1800" dirty="0">
                <a:solidFill>
                  <a:srgbClr val="000000"/>
                </a:solidFill>
                <a:latin typeface="Arial" panose="020B0604020202020204" pitchFamily="34" charset="0"/>
                <a:ea typeface="Arial" panose="020B0604020202020204" pitchFamily="34" charset="0"/>
                <a:cs typeface="Arial" panose="020B0604020202020204" pitchFamily="34" charset="0"/>
              </a:rPr>
              <a:t>The 51+ age group has the highest number of patients, indicating a higher demand for healthcare services among older individuals</a:t>
            </a:r>
            <a:r>
              <a:rPr lang="en-US" sz="1800" b="1" dirty="0">
                <a:solidFill>
                  <a:srgbClr val="000000"/>
                </a:solidFill>
                <a:latin typeface="Arial" panose="020B0604020202020204" pitchFamily="34" charset="0"/>
                <a:ea typeface="Arial" panose="020B0604020202020204" pitchFamily="34" charset="0"/>
                <a:cs typeface="Arial" panose="020B0604020202020204" pitchFamily="34" charset="0"/>
              </a:rPr>
              <a:t>. </a:t>
            </a:r>
            <a:r>
              <a:rPr lang="en-US" sz="1800" dirty="0">
                <a:solidFill>
                  <a:srgbClr val="000000"/>
                </a:solidFill>
                <a:latin typeface="Arial" panose="020B0604020202020204" pitchFamily="34" charset="0"/>
                <a:ea typeface="Arial" panose="020B0604020202020204" pitchFamily="34" charset="0"/>
                <a:cs typeface="Arial" panose="020B0604020202020204" pitchFamily="34" charset="0"/>
              </a:rPr>
              <a:t>The youngest age group (18-30) has the lowest patient count.</a:t>
            </a:r>
            <a:br>
              <a:rPr lang="en-US" sz="1800" b="1" dirty="0">
                <a:solidFill>
                  <a:srgbClr val="000000"/>
                </a:solidFill>
                <a:effectLst/>
                <a:latin typeface="Arial" panose="020B0604020202020204" pitchFamily="34" charset="0"/>
                <a:ea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869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83D4C-70AD-BFED-2A4A-DD10A537CF1A}"/>
              </a:ext>
            </a:extLst>
          </p:cNvPr>
          <p:cNvSpPr>
            <a:spLocks noGrp="1"/>
          </p:cNvSpPr>
          <p:nvPr>
            <p:ph type="title"/>
          </p:nvPr>
        </p:nvSpPr>
        <p:spPr/>
        <p:txBody>
          <a:bodyPr/>
          <a:lstStyle/>
          <a:p>
            <a:r>
              <a:rPr lang="en-US" u="sng" dirty="0"/>
              <a:t>Numeric and String Functions</a:t>
            </a:r>
          </a:p>
        </p:txBody>
      </p:sp>
      <p:sp>
        <p:nvSpPr>
          <p:cNvPr id="4" name="Content Placeholder 3">
            <a:extLst>
              <a:ext uri="{FF2B5EF4-FFF2-40B4-BE49-F238E27FC236}">
                <a16:creationId xmlns:a16="http://schemas.microsoft.com/office/drawing/2014/main" id="{046FDA10-8C3C-4009-59B6-AC8A648435CC}"/>
              </a:ext>
            </a:extLst>
          </p:cNvPr>
          <p:cNvSpPr>
            <a:spLocks noGrp="1"/>
          </p:cNvSpPr>
          <p:nvPr>
            <p:ph sz="half" idx="2"/>
          </p:nvPr>
        </p:nvSpPr>
        <p:spPr>
          <a:xfrm>
            <a:off x="2360612" y="1524000"/>
            <a:ext cx="9035716" cy="4648200"/>
          </a:xfrm>
        </p:spPr>
        <p:txBody>
          <a:bodyPr/>
          <a:lstStyle/>
          <a:p>
            <a:pPr>
              <a:buFont typeface="Wingdings" panose="05000000000000000000" pitchFamily="2" charset="2"/>
              <a:buChar char="Ø"/>
            </a:pPr>
            <a:r>
              <a:rPr lang="en-US" sz="1800" dirty="0">
                <a:latin typeface="Aptos" panose="020B0004020202020204" pitchFamily="34" charset="0"/>
              </a:rPr>
              <a:t>      </a:t>
            </a:r>
            <a:r>
              <a:rPr lang="en-US" sz="1800" dirty="0">
                <a:latin typeface="Arial" panose="020B0604020202020204" pitchFamily="34" charset="0"/>
                <a:cs typeface="Arial" panose="020B0604020202020204" pitchFamily="34" charset="0"/>
              </a:rPr>
              <a:t>The  Numeric functions using for mathematical operations and string functions for text manipulation.</a:t>
            </a:r>
            <a:endParaRPr lang="en-US" dirty="0">
              <a:latin typeface="Arial" panose="020B0604020202020204" pitchFamily="34" charset="0"/>
              <a:cs typeface="Arial" panose="020B0604020202020204" pitchFamily="34" charset="0"/>
            </a:endParaRPr>
          </a:p>
          <a:p>
            <a:r>
              <a:rPr lang="en-US" sz="1800" b="1" dirty="0">
                <a:effectLst/>
                <a:latin typeface="Arial" panose="020B0604020202020204" pitchFamily="34" charset="0"/>
                <a:ea typeface="Arial" panose="020B0604020202020204" pitchFamily="34" charset="0"/>
                <a:cs typeface="Arial" panose="020B0604020202020204" pitchFamily="34" charset="0"/>
              </a:rPr>
              <a:t>Task 7:</a:t>
            </a: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ea typeface="Arial" panose="020B0604020202020204" pitchFamily="34" charset="0"/>
                <a:cs typeface="Arial" panose="020B0604020202020204" pitchFamily="34" charset="0"/>
              </a:rPr>
              <a:t>       </a:t>
            </a:r>
            <a:r>
              <a:rPr lang="en-US" sz="1800" dirty="0">
                <a:effectLst/>
                <a:latin typeface="Arial" panose="020B0604020202020204" pitchFamily="34" charset="0"/>
                <a:ea typeface="Arial" panose="020B0604020202020204" pitchFamily="34" charset="0"/>
                <a:cs typeface="Arial" panose="020B0604020202020204" pitchFamily="34" charset="0"/>
              </a:rPr>
              <a:t>Retrieve a list of patients whose contact numbers end with "1234" and display their names in uppercase</a:t>
            </a:r>
          </a:p>
          <a:p>
            <a:pPr marL="0" indent="0">
              <a:buNone/>
            </a:pPr>
            <a:endParaRPr lang="en-US" sz="1800" dirty="0">
              <a:effectLst/>
              <a:latin typeface="Arial" panose="020B0604020202020204" pitchFamily="34" charset="0"/>
              <a:ea typeface="Arial" panose="020B0604020202020204" pitchFamily="34" charset="0"/>
              <a:cs typeface="Arial" panose="020B0604020202020204" pitchFamily="34" charset="0"/>
            </a:endParaRPr>
          </a:p>
          <a:p>
            <a:pPr marL="0" indent="0">
              <a:buNone/>
            </a:pPr>
            <a:r>
              <a:rPr lang="en-US" sz="1800" b="1" dirty="0">
                <a:latin typeface="Arial" panose="020B0604020202020204" pitchFamily="34" charset="0"/>
                <a:cs typeface="Arial" panose="020B0604020202020204" pitchFamily="34" charset="0"/>
              </a:rPr>
              <a:t>Insights: </a:t>
            </a:r>
            <a:r>
              <a:rPr lang="en-US" sz="1800" dirty="0">
                <a:latin typeface="Arial" panose="020B0604020202020204" pitchFamily="34" charset="0"/>
                <a:cs typeface="Arial" panose="020B0604020202020204" pitchFamily="34" charset="0"/>
              </a:rPr>
              <a:t>The use of UPPER(name) ensures consistency in formatting, especially useful for reports and comparisons. The LIKE '%1234' filter helps in finding specific patterns in phone numbers.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1957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B3E08-21F9-D23F-A53A-7BC2C63D0B76}"/>
              </a:ext>
            </a:extLst>
          </p:cNvPr>
          <p:cNvSpPr>
            <a:spLocks noGrp="1"/>
          </p:cNvSpPr>
          <p:nvPr>
            <p:ph type="title"/>
          </p:nvPr>
        </p:nvSpPr>
        <p:spPr/>
        <p:txBody>
          <a:bodyPr/>
          <a:lstStyle/>
          <a:p>
            <a:r>
              <a:rPr lang="en-US" u="sng" dirty="0"/>
              <a:t>Subqueries for Filtering</a:t>
            </a:r>
          </a:p>
        </p:txBody>
      </p:sp>
      <p:sp>
        <p:nvSpPr>
          <p:cNvPr id="3" name="Content Placeholder 2">
            <a:extLst>
              <a:ext uri="{FF2B5EF4-FFF2-40B4-BE49-F238E27FC236}">
                <a16:creationId xmlns:a16="http://schemas.microsoft.com/office/drawing/2014/main" id="{EE46609B-701B-40EC-90C0-325768468547}"/>
              </a:ext>
            </a:extLst>
          </p:cNvPr>
          <p:cNvSpPr>
            <a:spLocks noGrp="1"/>
          </p:cNvSpPr>
          <p:nvPr>
            <p:ph sz="half" idx="1"/>
          </p:nvPr>
        </p:nvSpPr>
        <p:spPr>
          <a:xfrm>
            <a:off x="1935495" y="1600200"/>
            <a:ext cx="9440741" cy="4572000"/>
          </a:xfrm>
        </p:spPr>
        <p:txBody>
          <a:bodyPr>
            <a:normAutofit/>
          </a:bodyPr>
          <a:lstStyle/>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       Subqueries are queries within queries used to filter data dynamically. Instead of hardcoding conditions, a subquery helps retrieve relevant values from another table and use them in the main query.</a:t>
            </a:r>
            <a:endParaRPr lang="en-US" dirty="0"/>
          </a:p>
          <a:p>
            <a:r>
              <a:rPr lang="en-US" sz="1800" b="1" dirty="0">
                <a:effectLst/>
                <a:latin typeface="Arial" panose="020B0604020202020204" pitchFamily="34" charset="0"/>
                <a:ea typeface="Arial" panose="020B0604020202020204" pitchFamily="34" charset="0"/>
              </a:rPr>
              <a:t>Task 8:</a:t>
            </a:r>
            <a:endParaRPr lang="en-US" sz="1800" dirty="0">
              <a:effectLst/>
              <a:latin typeface="Arial" panose="020B0604020202020204" pitchFamily="34" charset="0"/>
              <a:ea typeface="Arial" panose="020B0604020202020204" pitchFamily="34" charset="0"/>
            </a:endParaRPr>
          </a:p>
          <a:p>
            <a:pPr marL="0" indent="0">
              <a:buNone/>
            </a:pPr>
            <a:r>
              <a:rPr lang="en-US" sz="1800" dirty="0">
                <a:latin typeface="Arial" panose="020B0604020202020204" pitchFamily="34" charset="0"/>
                <a:ea typeface="Arial" panose="020B0604020202020204" pitchFamily="34" charset="0"/>
              </a:rPr>
              <a:t>     </a:t>
            </a:r>
            <a:r>
              <a:rPr lang="en-US" sz="1800" dirty="0">
                <a:effectLst/>
                <a:latin typeface="Arial" panose="020B0604020202020204" pitchFamily="34" charset="0"/>
                <a:ea typeface="Arial" panose="020B0604020202020204" pitchFamily="34" charset="0"/>
              </a:rPr>
              <a:t>Find patients who have only been prescribed "Insulin" in any of their diagnoses.</a:t>
            </a:r>
          </a:p>
          <a:p>
            <a:pPr marL="0" indent="0">
              <a:buNone/>
            </a:pPr>
            <a:endParaRPr lang="en-US" sz="1800" dirty="0">
              <a:effectLst/>
              <a:latin typeface="Arial" panose="020B0604020202020204" pitchFamily="34" charset="0"/>
              <a:ea typeface="Arial" panose="020B0604020202020204" pitchFamily="34" charset="0"/>
            </a:endParaRPr>
          </a:p>
          <a:p>
            <a:pPr marL="0" marR="0" indent="0">
              <a:lnSpc>
                <a:spcPct val="107000"/>
              </a:lnSpc>
              <a:spcBef>
                <a:spcPts val="0"/>
              </a:spcBef>
              <a:spcAft>
                <a:spcPts val="800"/>
              </a:spcAft>
              <a:buNone/>
            </a:pPr>
            <a:r>
              <a:rPr lang="en-US" sz="1800" b="1" dirty="0">
                <a:effectLst/>
                <a:latin typeface="Arial" panose="020B0604020202020204" pitchFamily="34" charset="0"/>
                <a:ea typeface="Arial" panose="020B0604020202020204" pitchFamily="34" charset="0"/>
              </a:rPr>
              <a:t>Insights:  </a:t>
            </a:r>
            <a:r>
              <a:rPr lang="en-US" sz="1800" dirty="0">
                <a:latin typeface="Arial" panose="020B0604020202020204" pitchFamily="34" charset="0"/>
                <a:cs typeface="Arial" panose="020B0604020202020204" pitchFamily="34" charset="0"/>
              </a:rPr>
              <a:t>The results indicates that out of 5000 total patients, 292 patients are prescribed only Insulin. This highlights a </a:t>
            </a:r>
            <a:r>
              <a:rPr lang="en-US" sz="1800">
                <a:latin typeface="Arial" panose="020B0604020202020204" pitchFamily="34" charset="0"/>
                <a:cs typeface="Arial" panose="020B0604020202020204" pitchFamily="34" charset="0"/>
              </a:rPr>
              <a:t>number of diabetic </a:t>
            </a:r>
            <a:r>
              <a:rPr lang="en-US" sz="1800" dirty="0">
                <a:latin typeface="Arial" panose="020B0604020202020204" pitchFamily="34" charset="0"/>
                <a:cs typeface="Arial" panose="020B0604020202020204" pitchFamily="34" charset="0"/>
              </a:rPr>
              <a:t>patient population within the healthcare facility.</a:t>
            </a:r>
          </a:p>
          <a:p>
            <a:pPr marL="0" marR="0">
              <a:lnSpc>
                <a:spcPct val="107000"/>
              </a:lnSpc>
              <a:spcBef>
                <a:spcPts val="0"/>
              </a:spcBef>
              <a:spcAft>
                <a:spcPts val="800"/>
              </a:spcAft>
            </a:pPr>
            <a:endParaRPr lang="en-US" sz="1800" dirty="0">
              <a:latin typeface="Arial" panose="020B0604020202020204" pitchFamily="34" charset="0"/>
              <a:cs typeface="Arial" panose="020B0604020202020204" pitchFamily="34" charset="0"/>
            </a:endParaRPr>
          </a:p>
          <a:p>
            <a:pPr marL="0" indent="0">
              <a:buNone/>
            </a:pPr>
            <a:br>
              <a:rPr lang="en-US" sz="1800" dirty="0">
                <a:effectLst/>
                <a:latin typeface="Arial" panose="020B0604020202020204" pitchFamily="34" charset="0"/>
                <a:ea typeface="Arial" panose="020B0604020202020204" pitchFamily="34" charset="0"/>
              </a:rPr>
            </a:br>
            <a:endParaRPr lang="en-US" dirty="0"/>
          </a:p>
        </p:txBody>
      </p:sp>
    </p:spTree>
    <p:extLst>
      <p:ext uri="{BB962C8B-B14F-4D97-AF65-F5344CB8AC3E}">
        <p14:creationId xmlns:p14="http://schemas.microsoft.com/office/powerpoint/2010/main" val="3209443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0368D-FB3E-C38E-C563-F35A3C05D07C}"/>
              </a:ext>
            </a:extLst>
          </p:cNvPr>
          <p:cNvSpPr>
            <a:spLocks noGrp="1"/>
          </p:cNvSpPr>
          <p:nvPr>
            <p:ph type="title"/>
          </p:nvPr>
        </p:nvSpPr>
        <p:spPr/>
        <p:txBody>
          <a:bodyPr/>
          <a:lstStyle/>
          <a:p>
            <a:r>
              <a:rPr lang="en-US" u="sng" dirty="0"/>
              <a:t>Date and Time Functions</a:t>
            </a:r>
          </a:p>
        </p:txBody>
      </p:sp>
      <p:sp>
        <p:nvSpPr>
          <p:cNvPr id="3" name="Content Placeholder 2">
            <a:extLst>
              <a:ext uri="{FF2B5EF4-FFF2-40B4-BE49-F238E27FC236}">
                <a16:creationId xmlns:a16="http://schemas.microsoft.com/office/drawing/2014/main" id="{DCE2C9E7-9D01-A47E-C0CA-6A90F2F5CB59}"/>
              </a:ext>
            </a:extLst>
          </p:cNvPr>
          <p:cNvSpPr>
            <a:spLocks noGrp="1"/>
          </p:cNvSpPr>
          <p:nvPr>
            <p:ph sz="half" idx="1"/>
          </p:nvPr>
        </p:nvSpPr>
        <p:spPr>
          <a:xfrm>
            <a:off x="1903413" y="1524000"/>
            <a:ext cx="8807116" cy="4572000"/>
          </a:xfrm>
        </p:spPr>
        <p:txBody>
          <a:bodyPr>
            <a:normAutofit/>
          </a:bodyPr>
          <a:lstStyle/>
          <a:p>
            <a:pPr>
              <a:buFont typeface="Wingdings" panose="05000000000000000000" pitchFamily="2" charset="2"/>
              <a:buChar char="Ø"/>
            </a:pPr>
            <a:r>
              <a:rPr lang="en-IN" sz="1600" dirty="0">
                <a:effectLst/>
                <a:latin typeface="Arial" panose="020B0604020202020204" pitchFamily="34" charset="0"/>
                <a:ea typeface="Aptos" panose="020B0004020202020204" pitchFamily="34" charset="0"/>
                <a:cs typeface="Arial" panose="020B0604020202020204" pitchFamily="34" charset="0"/>
              </a:rPr>
              <a:t>Date and Time Functions like DATEDIFF() are used to calculate the difference between two dates. In this task, they help measure how long medications are prescribed for each diagnosis, allowing analysis of treatment duration and consistency in patient care.</a:t>
            </a:r>
            <a:endParaRPr lang="en-US" sz="1600" dirty="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0" indent="0">
              <a:buNone/>
            </a:pPr>
            <a:r>
              <a:rPr lang="en-US" sz="1600" b="1" dirty="0">
                <a:solidFill>
                  <a:srgbClr val="000000"/>
                </a:solidFill>
                <a:latin typeface="Arial" panose="020B0604020202020204" pitchFamily="34" charset="0"/>
                <a:ea typeface="Arial" panose="020B0604020202020204" pitchFamily="34" charset="0"/>
                <a:cs typeface="Arial" panose="020B0604020202020204" pitchFamily="34" charset="0"/>
              </a:rPr>
              <a:t>  </a:t>
            </a:r>
            <a:r>
              <a:rPr lang="en-US" sz="1600" b="1" dirty="0">
                <a:solidFill>
                  <a:srgbClr val="000000"/>
                </a:solidFill>
                <a:effectLst/>
                <a:latin typeface="Arial" panose="020B0604020202020204" pitchFamily="34" charset="0"/>
                <a:ea typeface="Arial" panose="020B0604020202020204" pitchFamily="34" charset="0"/>
                <a:cs typeface="Arial" panose="020B0604020202020204" pitchFamily="34" charset="0"/>
              </a:rPr>
              <a:t>Task 9:</a:t>
            </a:r>
          </a:p>
          <a:p>
            <a:pPr marL="0" indent="0">
              <a:buNone/>
            </a:pPr>
            <a:r>
              <a:rPr lang="en-US" sz="1600" dirty="0">
                <a:solidFill>
                  <a:srgbClr val="000000"/>
                </a:solidFill>
                <a:latin typeface="Arial" panose="020B0604020202020204" pitchFamily="34" charset="0"/>
                <a:ea typeface="Arial" panose="020B0604020202020204" pitchFamily="34" charset="0"/>
                <a:cs typeface="Arial" panose="020B0604020202020204" pitchFamily="34" charset="0"/>
              </a:rPr>
              <a:t>   </a:t>
            </a:r>
            <a:r>
              <a:rPr lang="en-US" sz="1600" dirty="0">
                <a:solidFill>
                  <a:srgbClr val="000000"/>
                </a:solidFill>
                <a:effectLst/>
                <a:latin typeface="Arial" panose="020B0604020202020204" pitchFamily="34" charset="0"/>
                <a:ea typeface="Arial" panose="020B0604020202020204" pitchFamily="34" charset="0"/>
                <a:cs typeface="Arial" panose="020B0604020202020204" pitchFamily="34" charset="0"/>
              </a:rPr>
              <a:t>Calculate the average duration (in days) for which medications are prescribed for each diagnosis.</a:t>
            </a:r>
            <a:endParaRPr lang="en-US" sz="1600" dirty="0">
              <a:latin typeface="Arial" panose="020B0604020202020204" pitchFamily="34" charset="0"/>
              <a:cs typeface="Arial" panose="020B0604020202020204" pitchFamily="34" charset="0"/>
            </a:endParaRPr>
          </a:p>
          <a:p>
            <a:pPr marL="0" indent="0">
              <a:buNone/>
            </a:pPr>
            <a:r>
              <a:rPr lang="en-US" sz="1600" b="1" dirty="0">
                <a:latin typeface="Arial" panose="020B0604020202020204" pitchFamily="34" charset="0"/>
                <a:cs typeface="Arial" panose="020B0604020202020204" pitchFamily="34" charset="0"/>
              </a:rPr>
              <a:t>  Insights</a:t>
            </a:r>
            <a:r>
              <a:rPr lang="en-US" sz="1600" dirty="0">
                <a:latin typeface="Arial" panose="020B0604020202020204" pitchFamily="34" charset="0"/>
                <a:cs typeface="Arial" panose="020B0604020202020204" pitchFamily="34" charset="0"/>
              </a:rPr>
              <a:t> :The average duration for which medications are prescribed varies across diagnoses. average medication duration is highest for fracture (368 days) and lowest for Flu (360 days), suggesting that conditions like this require prolonged medication</a:t>
            </a:r>
            <a:r>
              <a:rPr lang="en-US" sz="1100" dirty="0"/>
              <a:t>, </a:t>
            </a:r>
            <a:r>
              <a:rPr lang="en-US" sz="1600" dirty="0">
                <a:latin typeface="Arial" panose="020B0604020202020204" pitchFamily="34" charset="0"/>
                <a:cs typeface="Arial" panose="020B0604020202020204" pitchFamily="34" charset="0"/>
              </a:rPr>
              <a:t>indicating prolonged treatment due to pain management and recovery</a:t>
            </a:r>
          </a:p>
          <a:p>
            <a:pPr marL="0" indent="0">
              <a:buNone/>
            </a:pPr>
            <a:endParaRPr lang="en-US"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CCC61B1-88F7-E2D4-A188-91CC8D97CD36}"/>
              </a:ext>
            </a:extLst>
          </p:cNvPr>
          <p:cNvPicPr>
            <a:picLocks noChangeAspect="1"/>
          </p:cNvPicPr>
          <p:nvPr/>
        </p:nvPicPr>
        <p:blipFill>
          <a:blip r:embed="rId2"/>
          <a:stretch>
            <a:fillRect/>
          </a:stretch>
        </p:blipFill>
        <p:spPr>
          <a:xfrm>
            <a:off x="4418012" y="4502657"/>
            <a:ext cx="2838729" cy="1662685"/>
          </a:xfrm>
          <a:prstGeom prst="rect">
            <a:avLst/>
          </a:prstGeom>
          <a:ln>
            <a:solidFill>
              <a:schemeClr val="tx1">
                <a:lumMod val="95000"/>
                <a:lumOff val="5000"/>
              </a:schemeClr>
            </a:solidFill>
          </a:ln>
        </p:spPr>
      </p:pic>
    </p:spTree>
    <p:extLst>
      <p:ext uri="{BB962C8B-B14F-4D97-AF65-F5344CB8AC3E}">
        <p14:creationId xmlns:p14="http://schemas.microsoft.com/office/powerpoint/2010/main" val="2336484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E395-ED70-8CD1-BE6F-A799C41A307E}"/>
              </a:ext>
            </a:extLst>
          </p:cNvPr>
          <p:cNvSpPr>
            <a:spLocks noGrp="1"/>
          </p:cNvSpPr>
          <p:nvPr>
            <p:ph type="title"/>
          </p:nvPr>
        </p:nvSpPr>
        <p:spPr/>
        <p:txBody>
          <a:bodyPr/>
          <a:lstStyle/>
          <a:p>
            <a:r>
              <a:rPr lang="en-US" u="sng" dirty="0"/>
              <a:t>Complex Joins and Aggregation</a:t>
            </a:r>
          </a:p>
        </p:txBody>
      </p:sp>
      <p:sp>
        <p:nvSpPr>
          <p:cNvPr id="3" name="Content Placeholder 2">
            <a:extLst>
              <a:ext uri="{FF2B5EF4-FFF2-40B4-BE49-F238E27FC236}">
                <a16:creationId xmlns:a16="http://schemas.microsoft.com/office/drawing/2014/main" id="{49992607-2826-0010-4957-F48F91A912C1}"/>
              </a:ext>
            </a:extLst>
          </p:cNvPr>
          <p:cNvSpPr>
            <a:spLocks noGrp="1"/>
          </p:cNvSpPr>
          <p:nvPr>
            <p:ph sz="half" idx="1"/>
          </p:nvPr>
        </p:nvSpPr>
        <p:spPr>
          <a:xfrm>
            <a:off x="1935496" y="1600200"/>
            <a:ext cx="8578516" cy="4572000"/>
          </a:xfrm>
        </p:spPr>
        <p:txBody>
          <a:bodyPr>
            <a:normAutofit/>
          </a:bodyPr>
          <a:lstStyle/>
          <a:p>
            <a:pPr>
              <a:buFont typeface="Wingdings" panose="05000000000000000000" pitchFamily="2" charset="2"/>
              <a:buChar char="Ø"/>
            </a:pPr>
            <a:r>
              <a:rPr lang="en-US" dirty="0"/>
              <a:t>     </a:t>
            </a:r>
            <a:r>
              <a:rPr lang="en-US" sz="1800" dirty="0">
                <a:effectLst/>
                <a:latin typeface="Arial" panose="020B0604020202020204" pitchFamily="34" charset="0"/>
                <a:ea typeface="Times New Roman" panose="02020603050405020304" pitchFamily="18" charset="0"/>
                <a:cs typeface="Arial" panose="020B0604020202020204" pitchFamily="34" charset="0"/>
              </a:rPr>
              <a:t>Joins and Aggregations combine data from multiple tables and summarize information using functions like COUNT() and SUM().</a:t>
            </a:r>
            <a:endParaRPr lang="en-US" sz="1800" dirty="0">
              <a:effectLst/>
              <a:latin typeface="Arial" panose="020B0604020202020204" pitchFamily="34" charset="0"/>
              <a:ea typeface="Aptos" panose="020B00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rPr>
              <a:t>Task 10:</a:t>
            </a:r>
          </a:p>
          <a:p>
            <a:pPr marL="0" indent="0">
              <a:buNone/>
            </a:pPr>
            <a:r>
              <a:rPr lang="en-US" sz="1800" dirty="0">
                <a:solidFill>
                  <a:srgbClr val="000000"/>
                </a:solidFill>
                <a:effectLst/>
                <a:latin typeface="Arial" panose="020B0604020202020204" pitchFamily="34" charset="0"/>
                <a:ea typeface="Arial" panose="020B0604020202020204" pitchFamily="34" charset="0"/>
              </a:rPr>
              <a:t>      Write a query to identify the doctor who has attended the most unique patients. Include the doctor’s name, specialization, and the count of unique patients.</a:t>
            </a:r>
            <a:br>
              <a:rPr lang="en-US" sz="1800" dirty="0">
                <a:solidFill>
                  <a:srgbClr val="000000"/>
                </a:solidFill>
                <a:effectLst/>
                <a:latin typeface="Arial" panose="020B0604020202020204" pitchFamily="34" charset="0"/>
                <a:ea typeface="Arial" panose="020B0604020202020204" pitchFamily="34" charset="0"/>
              </a:rPr>
            </a:br>
            <a:endParaRPr lang="en-US" sz="1800" dirty="0">
              <a:solidFill>
                <a:srgbClr val="000000"/>
              </a:solidFill>
              <a:effectLst/>
              <a:latin typeface="Arial" panose="020B0604020202020204" pitchFamily="34" charset="0"/>
              <a:ea typeface="Arial" panose="020B0604020202020204" pitchFamily="34" charset="0"/>
            </a:endParaRPr>
          </a:p>
          <a:p>
            <a:pPr marL="0" indent="0">
              <a:buNone/>
            </a:pPr>
            <a:r>
              <a:rPr lang="en-US" sz="1800" b="1" dirty="0">
                <a:solidFill>
                  <a:srgbClr val="000000"/>
                </a:solidFill>
                <a:latin typeface="Arial" panose="020B0604020202020204" pitchFamily="34" charset="0"/>
              </a:rPr>
              <a:t>Insights:</a:t>
            </a:r>
          </a:p>
          <a:p>
            <a:pPr marL="0" indent="0">
              <a:buNone/>
            </a:pPr>
            <a:r>
              <a:rPr lang="en-US" sz="1800" dirty="0">
                <a:solidFill>
                  <a:srgbClr val="000000"/>
                </a:solidFill>
                <a:latin typeface="Arial" panose="020B0604020202020204" pitchFamily="34" charset="0"/>
              </a:rPr>
              <a:t>   We can identify that doctor_37 has attended the most unique patients specialize in General medicine count of the patients is 51. General Medicine doctors often have the highest number of unique patients because they handle a wide range of common illnesses.</a:t>
            </a:r>
            <a:endParaRPr lang="en-US" dirty="0"/>
          </a:p>
        </p:txBody>
      </p:sp>
    </p:spTree>
    <p:extLst>
      <p:ext uri="{BB962C8B-B14F-4D97-AF65-F5344CB8AC3E}">
        <p14:creationId xmlns:p14="http://schemas.microsoft.com/office/powerpoint/2010/main" val="970554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harmacy design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2"/>
        </a:lnRef>
        <a:fillRef idx="3">
          <a:schemeClr val="accent2"/>
        </a:fillRef>
        <a:effectRef idx="2">
          <a:schemeClr val="accent2"/>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tx2">
              <a:lumMod val="20000"/>
              <a:lumOff val="80000"/>
            </a:schemeClr>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Pharmacy design slides.potx" id="{BDD4D5A3-0C20-4887-95F2-BFAB47634035}" vid="{397845B7-7EB0-4CC3-ABEB-6754AD0875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Pharmacy design slides</Template>
  <TotalTime>628</TotalTime>
  <Words>1082</Words>
  <Application>Microsoft Office PowerPoint</Application>
  <PresentationFormat>Custom</PresentationFormat>
  <Paragraphs>89</Paragraphs>
  <Slides>12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Calibri</vt:lpstr>
      <vt:lpstr>Copperplate Gothic Bold</vt:lpstr>
      <vt:lpstr>Euphemia</vt:lpstr>
      <vt:lpstr>Franklin Gothic Book</vt:lpstr>
      <vt:lpstr>Wingdings</vt:lpstr>
      <vt:lpstr>Pharmacy design template</vt:lpstr>
      <vt:lpstr>Healthcare Analytics with SQL</vt:lpstr>
      <vt:lpstr>Problem Statement:</vt:lpstr>
      <vt:lpstr>Inner and Equi Joins</vt:lpstr>
      <vt:lpstr>Left Join with Null Handling</vt:lpstr>
      <vt:lpstr>Right Join and Aggregate Functions</vt:lpstr>
      <vt:lpstr>Full Join for Overlapping Data</vt:lpstr>
      <vt:lpstr>Window Functions (Ranking and Aggregation)</vt:lpstr>
      <vt:lpstr>Conditional Expressions</vt:lpstr>
      <vt:lpstr>Numeric and String Functions</vt:lpstr>
      <vt:lpstr>Subqueries for Filtering</vt:lpstr>
      <vt:lpstr>Date and Time Functions</vt:lpstr>
      <vt:lpstr>Complex Joins and Aggregation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Analytics with SQL</dc:title>
  <dc:creator>Seneka Ravi</dc:creator>
  <cp:lastModifiedBy>Seneka Ravi</cp:lastModifiedBy>
  <cp:revision>6</cp:revision>
  <dcterms:created xsi:type="dcterms:W3CDTF">2025-03-30T15:21:37Z</dcterms:created>
  <dcterms:modified xsi:type="dcterms:W3CDTF">2025-05-08T12:53:04Z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