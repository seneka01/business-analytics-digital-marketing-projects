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2" r:id="rId4"/>
  </p:sldMasterIdLst>
  <p:notesMasterIdLst>
    <p:notesMasterId r:id="rId15"/>
  </p:notesMasterIdLst>
  <p:sldIdLst>
    <p:sldId id="259" r:id="rId5"/>
    <p:sldId id="260" r:id="rId6"/>
    <p:sldId id="273" r:id="rId7"/>
    <p:sldId id="261" r:id="rId8"/>
    <p:sldId id="264" r:id="rId9"/>
    <p:sldId id="258" r:id="rId10"/>
    <p:sldId id="262" r:id="rId11"/>
    <p:sldId id="266" r:id="rId12"/>
    <p:sldId id="257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8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202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outlineViewPr>
    <p:cViewPr>
      <p:scale>
        <a:sx n="33" d="100"/>
        <a:sy n="33" d="100"/>
      </p:scale>
      <p:origin x="0" y="-588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0150DD-4B2B-4EA3-B86D-86736D0AFB98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88EE0C5-D02C-4C32-9F38-196EEFCD4100}">
      <dgm:prSet/>
      <dgm:spPr/>
      <dgm:t>
        <a:bodyPr/>
        <a:lstStyle/>
        <a:p>
          <a:r>
            <a:rPr lang="en-US"/>
            <a:t>This project aims to audit the website's current digital strategy and recommend actionable improvements to strengthen its online impact and conversion potential.</a:t>
          </a:r>
        </a:p>
      </dgm:t>
    </dgm:pt>
    <dgm:pt modelId="{63DC2F45-9404-4FB4-B832-EEB9F526CFE2}" type="parTrans" cxnId="{84C87ADB-0039-450E-949B-2E8274F22C29}">
      <dgm:prSet/>
      <dgm:spPr/>
      <dgm:t>
        <a:bodyPr/>
        <a:lstStyle/>
        <a:p>
          <a:endParaRPr lang="en-US"/>
        </a:p>
      </dgm:t>
    </dgm:pt>
    <dgm:pt modelId="{7F2D4152-54A2-427C-8295-38B7A61CC940}" type="sibTrans" cxnId="{84C87ADB-0039-450E-949B-2E8274F22C29}">
      <dgm:prSet/>
      <dgm:spPr/>
      <dgm:t>
        <a:bodyPr/>
        <a:lstStyle/>
        <a:p>
          <a:endParaRPr lang="en-US"/>
        </a:p>
      </dgm:t>
    </dgm:pt>
    <dgm:pt modelId="{7B56E90F-D612-454F-8B13-0A17D1DE8F92}" type="pres">
      <dgm:prSet presAssocID="{290150DD-4B2B-4EA3-B86D-86736D0AFB98}" presName="Name0" presStyleCnt="0">
        <dgm:presLayoutVars>
          <dgm:dir/>
          <dgm:animLvl val="lvl"/>
          <dgm:resizeHandles val="exact"/>
        </dgm:presLayoutVars>
      </dgm:prSet>
      <dgm:spPr/>
    </dgm:pt>
    <dgm:pt modelId="{3D9A3574-DC55-4A8C-AF34-9425D6C13582}" type="pres">
      <dgm:prSet presAssocID="{988EE0C5-D02C-4C32-9F38-196EEFCD4100}" presName="parTxOnly" presStyleLbl="node1" presStyleIdx="0" presStyleCnt="1">
        <dgm:presLayoutVars>
          <dgm:chMax val="0"/>
          <dgm:chPref val="0"/>
          <dgm:bulletEnabled val="1"/>
        </dgm:presLayoutVars>
      </dgm:prSet>
      <dgm:spPr/>
    </dgm:pt>
  </dgm:ptLst>
  <dgm:cxnLst>
    <dgm:cxn modelId="{EDDF3D25-42FD-4732-A0FE-57F6A3606FC9}" type="presOf" srcId="{988EE0C5-D02C-4C32-9F38-196EEFCD4100}" destId="{3D9A3574-DC55-4A8C-AF34-9425D6C13582}" srcOrd="0" destOrd="0" presId="urn:microsoft.com/office/officeart/2005/8/layout/chevron1"/>
    <dgm:cxn modelId="{84C87ADB-0039-450E-949B-2E8274F22C29}" srcId="{290150DD-4B2B-4EA3-B86D-86736D0AFB98}" destId="{988EE0C5-D02C-4C32-9F38-196EEFCD4100}" srcOrd="0" destOrd="0" parTransId="{63DC2F45-9404-4FB4-B832-EEB9F526CFE2}" sibTransId="{7F2D4152-54A2-427C-8295-38B7A61CC940}"/>
    <dgm:cxn modelId="{FFDDEDEA-ED49-472E-A36C-75146EFC442F}" type="presOf" srcId="{290150DD-4B2B-4EA3-B86D-86736D0AFB98}" destId="{7B56E90F-D612-454F-8B13-0A17D1DE8F92}" srcOrd="0" destOrd="0" presId="urn:microsoft.com/office/officeart/2005/8/layout/chevron1"/>
    <dgm:cxn modelId="{1F993D91-7B12-4354-A506-21EF2E263F58}" type="presParOf" srcId="{7B56E90F-D612-454F-8B13-0A17D1DE8F92}" destId="{3D9A3574-DC55-4A8C-AF34-9425D6C13582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60B8F5-9AAF-42CF-B3F5-89369A76FCBE}" type="doc">
      <dgm:prSet loTypeId="urn:microsoft.com/office/officeart/2005/8/layout/hProcess11" loCatId="process" qsTypeId="urn:microsoft.com/office/officeart/2005/8/quickstyle/3d3" qsCatId="3D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338D52BB-BB28-424A-B473-927C0DCF6556}">
      <dgm:prSet custT="1"/>
      <dgm:spPr/>
      <dgm:t>
        <a:bodyPr/>
        <a:lstStyle/>
        <a:p>
          <a:r>
            <a:rPr lang="en-US" sz="1200" b="1" i="0" dirty="0"/>
            <a:t>SEO Optimization-</a:t>
          </a:r>
        </a:p>
        <a:p>
          <a:r>
            <a:rPr lang="en-US" sz="1200" b="0" i="0" dirty="0"/>
            <a:t> </a:t>
          </a:r>
          <a:r>
            <a:rPr lang="en-US" sz="1200" dirty="0"/>
            <a:t>Naturals should try to rectify the mistakes that was pinpointed in audit for SEO ranking since the digital presence is predominant nowadays.</a:t>
          </a:r>
        </a:p>
      </dgm:t>
    </dgm:pt>
    <dgm:pt modelId="{FB5DC1A0-A91F-47B7-A3E2-E68BFBCBF395}" type="parTrans" cxnId="{E48F4BAB-8478-4BD7-9371-C9C48F5229DF}">
      <dgm:prSet/>
      <dgm:spPr/>
      <dgm:t>
        <a:bodyPr/>
        <a:lstStyle/>
        <a:p>
          <a:endParaRPr lang="en-US"/>
        </a:p>
      </dgm:t>
    </dgm:pt>
    <dgm:pt modelId="{46F6524E-26AA-4904-BE95-C48D3DF1157F}" type="sibTrans" cxnId="{E48F4BAB-8478-4BD7-9371-C9C48F5229DF}">
      <dgm:prSet/>
      <dgm:spPr/>
      <dgm:t>
        <a:bodyPr/>
        <a:lstStyle/>
        <a:p>
          <a:endParaRPr lang="en-US"/>
        </a:p>
      </dgm:t>
    </dgm:pt>
    <dgm:pt modelId="{C4DFC689-50D1-4955-9FBF-6238465126E4}">
      <dgm:prSet custT="1"/>
      <dgm:spPr/>
      <dgm:t>
        <a:bodyPr/>
        <a:lstStyle/>
        <a:p>
          <a:r>
            <a:rPr lang="en-US" sz="1200" b="1" i="0" dirty="0"/>
            <a:t>Channel : </a:t>
          </a:r>
          <a:r>
            <a:rPr lang="en-US" sz="1200" b="0" i="0" dirty="0"/>
            <a:t>Start a branded channel with bridal looks, hair care tips, customer stories</a:t>
          </a:r>
          <a:r>
            <a:rPr lang="en-US" sz="1200" dirty="0"/>
            <a:t> </a:t>
          </a:r>
        </a:p>
      </dgm:t>
    </dgm:pt>
    <dgm:pt modelId="{FB15ED0E-CF4F-4E85-B837-0CA2200B5113}" type="parTrans" cxnId="{74300C8D-1706-413D-B6D1-3FBE3248AFB1}">
      <dgm:prSet/>
      <dgm:spPr/>
      <dgm:t>
        <a:bodyPr/>
        <a:lstStyle/>
        <a:p>
          <a:endParaRPr lang="en-US"/>
        </a:p>
      </dgm:t>
    </dgm:pt>
    <dgm:pt modelId="{EF3A2CB8-329E-4DB7-86FD-59477A3E66BD}" type="sibTrans" cxnId="{74300C8D-1706-413D-B6D1-3FBE3248AFB1}">
      <dgm:prSet/>
      <dgm:spPr/>
      <dgm:t>
        <a:bodyPr/>
        <a:lstStyle/>
        <a:p>
          <a:endParaRPr lang="en-US"/>
        </a:p>
      </dgm:t>
    </dgm:pt>
    <dgm:pt modelId="{CA9F6C45-30C1-4C26-A2D0-6BCF8A184EDD}">
      <dgm:prSet custT="1"/>
      <dgm:spPr/>
      <dgm:t>
        <a:bodyPr/>
        <a:lstStyle/>
        <a:p>
          <a:r>
            <a:rPr lang="en-US" sz="1400" b="1" dirty="0"/>
            <a:t>Reviews</a:t>
          </a:r>
          <a:r>
            <a:rPr lang="en-US" sz="1400" dirty="0"/>
            <a:t>: Encourage customer reviews with location tags</a:t>
          </a:r>
        </a:p>
      </dgm:t>
    </dgm:pt>
    <dgm:pt modelId="{A712A87D-A799-4041-94F4-6D0817DBDB9A}" type="parTrans" cxnId="{E8691C18-BAB9-48FD-8C51-8323E08CA807}">
      <dgm:prSet/>
      <dgm:spPr/>
      <dgm:t>
        <a:bodyPr/>
        <a:lstStyle/>
        <a:p>
          <a:endParaRPr lang="en-US"/>
        </a:p>
      </dgm:t>
    </dgm:pt>
    <dgm:pt modelId="{D0015B6E-D632-4AAE-8C89-7F2D82876010}" type="sibTrans" cxnId="{E8691C18-BAB9-48FD-8C51-8323E08CA807}">
      <dgm:prSet/>
      <dgm:spPr/>
      <dgm:t>
        <a:bodyPr/>
        <a:lstStyle/>
        <a:p>
          <a:endParaRPr lang="en-US"/>
        </a:p>
      </dgm:t>
    </dgm:pt>
    <dgm:pt modelId="{4F780E9A-1B4B-4D08-B41D-FFAFA50253CF}">
      <dgm:prSet custT="1"/>
      <dgm:spPr/>
      <dgm:t>
        <a:bodyPr/>
        <a:lstStyle/>
        <a:p>
          <a:r>
            <a:rPr lang="en-US" sz="1200" b="1" dirty="0"/>
            <a:t>Content Marketing </a:t>
          </a:r>
          <a:r>
            <a:rPr lang="en-US" sz="1200" dirty="0"/>
            <a:t>:Blog post for Content Marketing</a:t>
          </a:r>
        </a:p>
      </dgm:t>
    </dgm:pt>
    <dgm:pt modelId="{B9A04CCB-8A57-4FA3-B3EC-87C67A5B314C}" type="parTrans" cxnId="{609605EA-B7CC-47A9-A51C-A06943B9F93F}">
      <dgm:prSet/>
      <dgm:spPr/>
      <dgm:t>
        <a:bodyPr/>
        <a:lstStyle/>
        <a:p>
          <a:endParaRPr lang="en-US"/>
        </a:p>
      </dgm:t>
    </dgm:pt>
    <dgm:pt modelId="{D76EA9B7-78F6-4161-B7BF-0396D4CA291C}" type="sibTrans" cxnId="{609605EA-B7CC-47A9-A51C-A06943B9F93F}">
      <dgm:prSet/>
      <dgm:spPr/>
      <dgm:t>
        <a:bodyPr/>
        <a:lstStyle/>
        <a:p>
          <a:endParaRPr lang="en-US"/>
        </a:p>
      </dgm:t>
    </dgm:pt>
    <dgm:pt modelId="{1FD7355F-3744-4AE0-BAA0-9E6DE87FDA7A}">
      <dgm:prSet custT="1"/>
      <dgm:spPr/>
      <dgm:t>
        <a:bodyPr/>
        <a:lstStyle/>
        <a:p>
          <a:r>
            <a:rPr lang="en-US" sz="1200" b="1" dirty="0"/>
            <a:t>Churn Retention:</a:t>
          </a:r>
        </a:p>
        <a:p>
          <a:r>
            <a:rPr lang="en-US" sz="1200" b="0" dirty="0"/>
            <a:t>Monitor churn rate and offer loyalty benefits or re-engagement campaigns</a:t>
          </a:r>
          <a:endParaRPr lang="en-US" sz="1200" b="1" dirty="0"/>
        </a:p>
        <a:p>
          <a:endParaRPr lang="en-US" sz="1200" dirty="0"/>
        </a:p>
      </dgm:t>
    </dgm:pt>
    <dgm:pt modelId="{895A6D97-C348-402B-B150-1E2CE5B64CDB}" type="parTrans" cxnId="{BEC7112B-7BF3-4C9F-8009-722577EABF16}">
      <dgm:prSet/>
      <dgm:spPr/>
      <dgm:t>
        <a:bodyPr/>
        <a:lstStyle/>
        <a:p>
          <a:endParaRPr lang="en-US"/>
        </a:p>
      </dgm:t>
    </dgm:pt>
    <dgm:pt modelId="{3D05CADE-E488-4EAA-9CD0-A9DE138EBE83}" type="sibTrans" cxnId="{BEC7112B-7BF3-4C9F-8009-722577EABF16}">
      <dgm:prSet/>
      <dgm:spPr/>
      <dgm:t>
        <a:bodyPr/>
        <a:lstStyle/>
        <a:p>
          <a:endParaRPr lang="en-US"/>
        </a:p>
      </dgm:t>
    </dgm:pt>
    <dgm:pt modelId="{3226B2B4-7FA0-4A7F-B9EB-931D90A35E31}">
      <dgm:prSet custT="1"/>
      <dgm:spPr/>
      <dgm:t>
        <a:bodyPr/>
        <a:lstStyle/>
        <a:p>
          <a:r>
            <a:rPr lang="en-US" sz="1200" b="1" dirty="0"/>
            <a:t>FAQ </a:t>
          </a:r>
          <a:r>
            <a:rPr lang="en-US" sz="1200" dirty="0"/>
            <a:t>: FAQs with dropdowns for easy reading</a:t>
          </a:r>
        </a:p>
      </dgm:t>
    </dgm:pt>
    <dgm:pt modelId="{96454DC6-280C-4573-A311-BC32B70F7F48}" type="parTrans" cxnId="{5F2D708D-631F-4D0A-B0A1-C082099FF125}">
      <dgm:prSet/>
      <dgm:spPr/>
      <dgm:t>
        <a:bodyPr/>
        <a:lstStyle/>
        <a:p>
          <a:endParaRPr lang="en-US"/>
        </a:p>
      </dgm:t>
    </dgm:pt>
    <dgm:pt modelId="{05BA35CA-2C5F-4ABF-BC39-09DBE9137183}" type="sibTrans" cxnId="{5F2D708D-631F-4D0A-B0A1-C082099FF125}">
      <dgm:prSet/>
      <dgm:spPr/>
      <dgm:t>
        <a:bodyPr/>
        <a:lstStyle/>
        <a:p>
          <a:endParaRPr lang="en-US"/>
        </a:p>
      </dgm:t>
    </dgm:pt>
    <dgm:pt modelId="{B21AA644-5C79-4661-A808-839819FDD0CC}">
      <dgm:prSet custT="1"/>
      <dgm:spPr/>
      <dgm:t>
        <a:bodyPr/>
        <a:lstStyle/>
        <a:p>
          <a:r>
            <a:rPr lang="en-US" sz="1200" b="1" dirty="0"/>
            <a:t>Offers : </a:t>
          </a:r>
          <a:r>
            <a:rPr lang="en-US" sz="1200" dirty="0"/>
            <a:t>Limited-Time Online Offers</a:t>
          </a:r>
        </a:p>
      </dgm:t>
    </dgm:pt>
    <dgm:pt modelId="{36E2580D-6A6B-4DE8-8F5F-B4FD4FEB085A}" type="parTrans" cxnId="{57D19025-F123-46AB-BA75-479A76E97664}">
      <dgm:prSet/>
      <dgm:spPr/>
      <dgm:t>
        <a:bodyPr/>
        <a:lstStyle/>
        <a:p>
          <a:endParaRPr lang="en-US"/>
        </a:p>
      </dgm:t>
    </dgm:pt>
    <dgm:pt modelId="{E8B40C33-DCA5-4E0B-A613-26E3E30F6D09}" type="sibTrans" cxnId="{57D19025-F123-46AB-BA75-479A76E97664}">
      <dgm:prSet/>
      <dgm:spPr/>
      <dgm:t>
        <a:bodyPr/>
        <a:lstStyle/>
        <a:p>
          <a:endParaRPr lang="en-US"/>
        </a:p>
      </dgm:t>
    </dgm:pt>
    <dgm:pt modelId="{D3DE7EE0-39DF-4C25-94A3-A947FF02476B}" type="pres">
      <dgm:prSet presAssocID="{2D60B8F5-9AAF-42CF-B3F5-89369A76FCBE}" presName="Name0" presStyleCnt="0">
        <dgm:presLayoutVars>
          <dgm:dir/>
          <dgm:resizeHandles val="exact"/>
        </dgm:presLayoutVars>
      </dgm:prSet>
      <dgm:spPr/>
    </dgm:pt>
    <dgm:pt modelId="{A552CED7-9BE4-4344-8D98-DDF0EC9D68FB}" type="pres">
      <dgm:prSet presAssocID="{2D60B8F5-9AAF-42CF-B3F5-89369A76FCBE}" presName="arrow" presStyleLbl="bgShp" presStyleIdx="0" presStyleCnt="1" custLinFactNeighborY="595"/>
      <dgm:spPr/>
    </dgm:pt>
    <dgm:pt modelId="{63D8795A-B863-4122-AABF-66B0DD1B0D76}" type="pres">
      <dgm:prSet presAssocID="{2D60B8F5-9AAF-42CF-B3F5-89369A76FCBE}" presName="points" presStyleCnt="0"/>
      <dgm:spPr/>
    </dgm:pt>
    <dgm:pt modelId="{0FC5684A-5CFF-4B82-9E10-D926899903E6}" type="pres">
      <dgm:prSet presAssocID="{338D52BB-BB28-424A-B473-927C0DCF6556}" presName="compositeA" presStyleCnt="0"/>
      <dgm:spPr/>
    </dgm:pt>
    <dgm:pt modelId="{B7A53145-058A-4FE1-8FFC-77E59204FC04}" type="pres">
      <dgm:prSet presAssocID="{338D52BB-BB28-424A-B473-927C0DCF6556}" presName="textA" presStyleLbl="revTx" presStyleIdx="0" presStyleCnt="7" custScaleX="125682" custScaleY="95262">
        <dgm:presLayoutVars>
          <dgm:bulletEnabled val="1"/>
        </dgm:presLayoutVars>
      </dgm:prSet>
      <dgm:spPr/>
    </dgm:pt>
    <dgm:pt modelId="{C9CA2A09-38E8-4474-A1AE-4C5848C4C41A}" type="pres">
      <dgm:prSet presAssocID="{338D52BB-BB28-424A-B473-927C0DCF6556}" presName="circleA" presStyleLbl="node1" presStyleIdx="0" presStyleCnt="7"/>
      <dgm:spPr/>
    </dgm:pt>
    <dgm:pt modelId="{A73ACBB7-E2E8-4252-816E-C476ABF575ED}" type="pres">
      <dgm:prSet presAssocID="{338D52BB-BB28-424A-B473-927C0DCF6556}" presName="spaceA" presStyleCnt="0"/>
      <dgm:spPr/>
    </dgm:pt>
    <dgm:pt modelId="{82A5C881-60C7-4742-B985-2D7849C3F1A7}" type="pres">
      <dgm:prSet presAssocID="{46F6524E-26AA-4904-BE95-C48D3DF1157F}" presName="space" presStyleCnt="0"/>
      <dgm:spPr/>
    </dgm:pt>
    <dgm:pt modelId="{78310449-8E60-48E9-A061-4D5BE577338A}" type="pres">
      <dgm:prSet presAssocID="{C4DFC689-50D1-4955-9FBF-6238465126E4}" presName="compositeB" presStyleCnt="0"/>
      <dgm:spPr/>
    </dgm:pt>
    <dgm:pt modelId="{C703082B-F430-44CF-B2CC-97390DF183BC}" type="pres">
      <dgm:prSet presAssocID="{C4DFC689-50D1-4955-9FBF-6238465126E4}" presName="textB" presStyleLbl="revTx" presStyleIdx="1" presStyleCnt="7">
        <dgm:presLayoutVars>
          <dgm:bulletEnabled val="1"/>
        </dgm:presLayoutVars>
      </dgm:prSet>
      <dgm:spPr/>
    </dgm:pt>
    <dgm:pt modelId="{3E614D2A-1DB2-48B7-B3E5-8CD44301405D}" type="pres">
      <dgm:prSet presAssocID="{C4DFC689-50D1-4955-9FBF-6238465126E4}" presName="circleB" presStyleLbl="node1" presStyleIdx="1" presStyleCnt="7"/>
      <dgm:spPr/>
    </dgm:pt>
    <dgm:pt modelId="{32501ADC-6972-4FA7-9695-20259ACD5869}" type="pres">
      <dgm:prSet presAssocID="{C4DFC689-50D1-4955-9FBF-6238465126E4}" presName="spaceB" presStyleCnt="0"/>
      <dgm:spPr/>
    </dgm:pt>
    <dgm:pt modelId="{55BA415D-6079-4B86-9A23-BA6EC83BE1E7}" type="pres">
      <dgm:prSet presAssocID="{EF3A2CB8-329E-4DB7-86FD-59477A3E66BD}" presName="space" presStyleCnt="0"/>
      <dgm:spPr/>
    </dgm:pt>
    <dgm:pt modelId="{D70BEFA3-A635-4639-8AF4-C2E606427CA8}" type="pres">
      <dgm:prSet presAssocID="{CA9F6C45-30C1-4C26-A2D0-6BCF8A184EDD}" presName="compositeA" presStyleCnt="0"/>
      <dgm:spPr/>
    </dgm:pt>
    <dgm:pt modelId="{075AE257-1876-4D7F-BB68-4C7EAA3E9F2A}" type="pres">
      <dgm:prSet presAssocID="{CA9F6C45-30C1-4C26-A2D0-6BCF8A184EDD}" presName="textA" presStyleLbl="revTx" presStyleIdx="2" presStyleCnt="7">
        <dgm:presLayoutVars>
          <dgm:bulletEnabled val="1"/>
        </dgm:presLayoutVars>
      </dgm:prSet>
      <dgm:spPr/>
    </dgm:pt>
    <dgm:pt modelId="{7AB275C4-444D-470D-8DF7-D6041FE34E97}" type="pres">
      <dgm:prSet presAssocID="{CA9F6C45-30C1-4C26-A2D0-6BCF8A184EDD}" presName="circleA" presStyleLbl="node1" presStyleIdx="2" presStyleCnt="7"/>
      <dgm:spPr/>
    </dgm:pt>
    <dgm:pt modelId="{F52D9109-311C-49A7-9F00-07B573C57503}" type="pres">
      <dgm:prSet presAssocID="{CA9F6C45-30C1-4C26-A2D0-6BCF8A184EDD}" presName="spaceA" presStyleCnt="0"/>
      <dgm:spPr/>
    </dgm:pt>
    <dgm:pt modelId="{206C189F-4AC9-47EB-B561-6552D5A7E48E}" type="pres">
      <dgm:prSet presAssocID="{D0015B6E-D632-4AAE-8C89-7F2D82876010}" presName="space" presStyleCnt="0"/>
      <dgm:spPr/>
    </dgm:pt>
    <dgm:pt modelId="{DB569806-2F1F-49D2-8F7D-A40B2774C9B9}" type="pres">
      <dgm:prSet presAssocID="{4F780E9A-1B4B-4D08-B41D-FFAFA50253CF}" presName="compositeB" presStyleCnt="0"/>
      <dgm:spPr/>
    </dgm:pt>
    <dgm:pt modelId="{532B8340-FE19-4B39-86FA-7D4408B2FFE7}" type="pres">
      <dgm:prSet presAssocID="{4F780E9A-1B4B-4D08-B41D-FFAFA50253CF}" presName="textB" presStyleLbl="revTx" presStyleIdx="3" presStyleCnt="7">
        <dgm:presLayoutVars>
          <dgm:bulletEnabled val="1"/>
        </dgm:presLayoutVars>
      </dgm:prSet>
      <dgm:spPr/>
    </dgm:pt>
    <dgm:pt modelId="{D2FABFA0-6D03-49AF-8A3E-D7760882966B}" type="pres">
      <dgm:prSet presAssocID="{4F780E9A-1B4B-4D08-B41D-FFAFA50253CF}" presName="circleB" presStyleLbl="node1" presStyleIdx="3" presStyleCnt="7"/>
      <dgm:spPr/>
    </dgm:pt>
    <dgm:pt modelId="{0905C342-E6A2-478B-BCC5-DED2AD0438AC}" type="pres">
      <dgm:prSet presAssocID="{4F780E9A-1B4B-4D08-B41D-FFAFA50253CF}" presName="spaceB" presStyleCnt="0"/>
      <dgm:spPr/>
    </dgm:pt>
    <dgm:pt modelId="{5406D2CB-88FE-4D40-B6F8-003AD42CF4E7}" type="pres">
      <dgm:prSet presAssocID="{D76EA9B7-78F6-4161-B7BF-0396D4CA291C}" presName="space" presStyleCnt="0"/>
      <dgm:spPr/>
    </dgm:pt>
    <dgm:pt modelId="{8F2C4F97-CCA4-4540-BDBF-49D0794423AE}" type="pres">
      <dgm:prSet presAssocID="{1FD7355F-3744-4AE0-BAA0-9E6DE87FDA7A}" presName="compositeA" presStyleCnt="0"/>
      <dgm:spPr/>
    </dgm:pt>
    <dgm:pt modelId="{632497C8-60FD-4522-B288-018D1B791303}" type="pres">
      <dgm:prSet presAssocID="{1FD7355F-3744-4AE0-BAA0-9E6DE87FDA7A}" presName="textA" presStyleLbl="revTx" presStyleIdx="4" presStyleCnt="7" custScaleY="119849">
        <dgm:presLayoutVars>
          <dgm:bulletEnabled val="1"/>
        </dgm:presLayoutVars>
      </dgm:prSet>
      <dgm:spPr/>
    </dgm:pt>
    <dgm:pt modelId="{E023E9D2-F5B6-41AA-8B4B-5D75DD80FDDA}" type="pres">
      <dgm:prSet presAssocID="{1FD7355F-3744-4AE0-BAA0-9E6DE87FDA7A}" presName="circleA" presStyleLbl="node1" presStyleIdx="4" presStyleCnt="7"/>
      <dgm:spPr/>
    </dgm:pt>
    <dgm:pt modelId="{BA44A3C8-9370-4963-A29A-2AF64272D309}" type="pres">
      <dgm:prSet presAssocID="{1FD7355F-3744-4AE0-BAA0-9E6DE87FDA7A}" presName="spaceA" presStyleCnt="0"/>
      <dgm:spPr/>
    </dgm:pt>
    <dgm:pt modelId="{A25C6A8A-5F6C-4CA6-9DDB-ACAEA25C6415}" type="pres">
      <dgm:prSet presAssocID="{3D05CADE-E488-4EAA-9CD0-A9DE138EBE83}" presName="space" presStyleCnt="0"/>
      <dgm:spPr/>
    </dgm:pt>
    <dgm:pt modelId="{1757FAF9-95A5-42DA-B396-2E7F1C245630}" type="pres">
      <dgm:prSet presAssocID="{3226B2B4-7FA0-4A7F-B9EB-931D90A35E31}" presName="compositeB" presStyleCnt="0"/>
      <dgm:spPr/>
    </dgm:pt>
    <dgm:pt modelId="{1739DDE6-D416-49A7-AA76-F2CE93B9F196}" type="pres">
      <dgm:prSet presAssocID="{3226B2B4-7FA0-4A7F-B9EB-931D90A35E31}" presName="textB" presStyleLbl="revTx" presStyleIdx="5" presStyleCnt="7">
        <dgm:presLayoutVars>
          <dgm:bulletEnabled val="1"/>
        </dgm:presLayoutVars>
      </dgm:prSet>
      <dgm:spPr/>
    </dgm:pt>
    <dgm:pt modelId="{B070A4AB-52EE-427C-93A2-0AFE961E9BC1}" type="pres">
      <dgm:prSet presAssocID="{3226B2B4-7FA0-4A7F-B9EB-931D90A35E31}" presName="circleB" presStyleLbl="node1" presStyleIdx="5" presStyleCnt="7"/>
      <dgm:spPr/>
    </dgm:pt>
    <dgm:pt modelId="{5B79D084-EE1C-42D7-ABF9-D082000D4CB8}" type="pres">
      <dgm:prSet presAssocID="{3226B2B4-7FA0-4A7F-B9EB-931D90A35E31}" presName="spaceB" presStyleCnt="0"/>
      <dgm:spPr/>
    </dgm:pt>
    <dgm:pt modelId="{B0E67DAA-5232-4235-B4CD-7F38D5E42B99}" type="pres">
      <dgm:prSet presAssocID="{05BA35CA-2C5F-4ABF-BC39-09DBE9137183}" presName="space" presStyleCnt="0"/>
      <dgm:spPr/>
    </dgm:pt>
    <dgm:pt modelId="{A206CE2C-4574-4D44-A3BF-575B9E3F37CA}" type="pres">
      <dgm:prSet presAssocID="{B21AA644-5C79-4661-A808-839819FDD0CC}" presName="compositeA" presStyleCnt="0"/>
      <dgm:spPr/>
    </dgm:pt>
    <dgm:pt modelId="{842E3807-BC3F-4A31-AACF-2B4EBECEBE00}" type="pres">
      <dgm:prSet presAssocID="{B21AA644-5C79-4661-A808-839819FDD0CC}" presName="textA" presStyleLbl="revTx" presStyleIdx="6" presStyleCnt="7">
        <dgm:presLayoutVars>
          <dgm:bulletEnabled val="1"/>
        </dgm:presLayoutVars>
      </dgm:prSet>
      <dgm:spPr/>
    </dgm:pt>
    <dgm:pt modelId="{0CD5FA93-5BC7-4A0A-8D0C-F1FC5E868D09}" type="pres">
      <dgm:prSet presAssocID="{B21AA644-5C79-4661-A808-839819FDD0CC}" presName="circleA" presStyleLbl="node1" presStyleIdx="6" presStyleCnt="7"/>
      <dgm:spPr/>
    </dgm:pt>
    <dgm:pt modelId="{0DD49A15-4DEE-4731-BA02-7B06CC038E17}" type="pres">
      <dgm:prSet presAssocID="{B21AA644-5C79-4661-A808-839819FDD0CC}" presName="spaceA" presStyleCnt="0"/>
      <dgm:spPr/>
    </dgm:pt>
  </dgm:ptLst>
  <dgm:cxnLst>
    <dgm:cxn modelId="{E8691C18-BAB9-48FD-8C51-8323E08CA807}" srcId="{2D60B8F5-9AAF-42CF-B3F5-89369A76FCBE}" destId="{CA9F6C45-30C1-4C26-A2D0-6BCF8A184EDD}" srcOrd="2" destOrd="0" parTransId="{A712A87D-A799-4041-94F4-6D0817DBDB9A}" sibTransId="{D0015B6E-D632-4AAE-8C89-7F2D82876010}"/>
    <dgm:cxn modelId="{57D19025-F123-46AB-BA75-479A76E97664}" srcId="{2D60B8F5-9AAF-42CF-B3F5-89369A76FCBE}" destId="{B21AA644-5C79-4661-A808-839819FDD0CC}" srcOrd="6" destOrd="0" parTransId="{36E2580D-6A6B-4DE8-8F5F-B4FD4FEB085A}" sibTransId="{E8B40C33-DCA5-4E0B-A613-26E3E30F6D09}"/>
    <dgm:cxn modelId="{BEC7112B-7BF3-4C9F-8009-722577EABF16}" srcId="{2D60B8F5-9AAF-42CF-B3F5-89369A76FCBE}" destId="{1FD7355F-3744-4AE0-BAA0-9E6DE87FDA7A}" srcOrd="4" destOrd="0" parTransId="{895A6D97-C348-402B-B150-1E2CE5B64CDB}" sibTransId="{3D05CADE-E488-4EAA-9CD0-A9DE138EBE83}"/>
    <dgm:cxn modelId="{74300C8D-1706-413D-B6D1-3FBE3248AFB1}" srcId="{2D60B8F5-9AAF-42CF-B3F5-89369A76FCBE}" destId="{C4DFC689-50D1-4955-9FBF-6238465126E4}" srcOrd="1" destOrd="0" parTransId="{FB15ED0E-CF4F-4E85-B837-0CA2200B5113}" sibTransId="{EF3A2CB8-329E-4DB7-86FD-59477A3E66BD}"/>
    <dgm:cxn modelId="{5F2D708D-631F-4D0A-B0A1-C082099FF125}" srcId="{2D60B8F5-9AAF-42CF-B3F5-89369A76FCBE}" destId="{3226B2B4-7FA0-4A7F-B9EB-931D90A35E31}" srcOrd="5" destOrd="0" parTransId="{96454DC6-280C-4573-A311-BC32B70F7F48}" sibTransId="{05BA35CA-2C5F-4ABF-BC39-09DBE9137183}"/>
    <dgm:cxn modelId="{EA4DA18D-1635-40F6-B41A-10344A4B3F8E}" type="presOf" srcId="{C4DFC689-50D1-4955-9FBF-6238465126E4}" destId="{C703082B-F430-44CF-B2CC-97390DF183BC}" srcOrd="0" destOrd="0" presId="urn:microsoft.com/office/officeart/2005/8/layout/hProcess11"/>
    <dgm:cxn modelId="{CE4B1591-A901-435F-9372-1E57AE7E9D79}" type="presOf" srcId="{B21AA644-5C79-4661-A808-839819FDD0CC}" destId="{842E3807-BC3F-4A31-AACF-2B4EBECEBE00}" srcOrd="0" destOrd="0" presId="urn:microsoft.com/office/officeart/2005/8/layout/hProcess11"/>
    <dgm:cxn modelId="{E48F4BAB-8478-4BD7-9371-C9C48F5229DF}" srcId="{2D60B8F5-9AAF-42CF-B3F5-89369A76FCBE}" destId="{338D52BB-BB28-424A-B473-927C0DCF6556}" srcOrd="0" destOrd="0" parTransId="{FB5DC1A0-A91F-47B7-A3E2-E68BFBCBF395}" sibTransId="{46F6524E-26AA-4904-BE95-C48D3DF1157F}"/>
    <dgm:cxn modelId="{31683BBD-00AC-461B-9437-28F6EAC550E3}" type="presOf" srcId="{3226B2B4-7FA0-4A7F-B9EB-931D90A35E31}" destId="{1739DDE6-D416-49A7-AA76-F2CE93B9F196}" srcOrd="0" destOrd="0" presId="urn:microsoft.com/office/officeart/2005/8/layout/hProcess11"/>
    <dgm:cxn modelId="{525F0FD1-BBB1-482A-81D9-69722B4F2CB2}" type="presOf" srcId="{1FD7355F-3744-4AE0-BAA0-9E6DE87FDA7A}" destId="{632497C8-60FD-4522-B288-018D1B791303}" srcOrd="0" destOrd="0" presId="urn:microsoft.com/office/officeart/2005/8/layout/hProcess11"/>
    <dgm:cxn modelId="{76979CDC-6CA2-421F-8590-13AB3E055296}" type="presOf" srcId="{4F780E9A-1B4B-4D08-B41D-FFAFA50253CF}" destId="{532B8340-FE19-4B39-86FA-7D4408B2FFE7}" srcOrd="0" destOrd="0" presId="urn:microsoft.com/office/officeart/2005/8/layout/hProcess11"/>
    <dgm:cxn modelId="{2C18F4DC-29B2-4E8D-B695-7ED647E856B3}" type="presOf" srcId="{CA9F6C45-30C1-4C26-A2D0-6BCF8A184EDD}" destId="{075AE257-1876-4D7F-BB68-4C7EAA3E9F2A}" srcOrd="0" destOrd="0" presId="urn:microsoft.com/office/officeart/2005/8/layout/hProcess11"/>
    <dgm:cxn modelId="{205EBBE4-68DD-4B5F-9855-8C89614F88D1}" type="presOf" srcId="{338D52BB-BB28-424A-B473-927C0DCF6556}" destId="{B7A53145-058A-4FE1-8FFC-77E59204FC04}" srcOrd="0" destOrd="0" presId="urn:microsoft.com/office/officeart/2005/8/layout/hProcess11"/>
    <dgm:cxn modelId="{609605EA-B7CC-47A9-A51C-A06943B9F93F}" srcId="{2D60B8F5-9AAF-42CF-B3F5-89369A76FCBE}" destId="{4F780E9A-1B4B-4D08-B41D-FFAFA50253CF}" srcOrd="3" destOrd="0" parTransId="{B9A04CCB-8A57-4FA3-B3EC-87C67A5B314C}" sibTransId="{D76EA9B7-78F6-4161-B7BF-0396D4CA291C}"/>
    <dgm:cxn modelId="{5AEFE0EC-6410-4B78-BE33-AFCF888E4393}" type="presOf" srcId="{2D60B8F5-9AAF-42CF-B3F5-89369A76FCBE}" destId="{D3DE7EE0-39DF-4C25-94A3-A947FF02476B}" srcOrd="0" destOrd="0" presId="urn:microsoft.com/office/officeart/2005/8/layout/hProcess11"/>
    <dgm:cxn modelId="{F389E02D-7877-4990-A780-0ED5D25EED1B}" type="presParOf" srcId="{D3DE7EE0-39DF-4C25-94A3-A947FF02476B}" destId="{A552CED7-9BE4-4344-8D98-DDF0EC9D68FB}" srcOrd="0" destOrd="0" presId="urn:microsoft.com/office/officeart/2005/8/layout/hProcess11"/>
    <dgm:cxn modelId="{AB4B1F11-1331-4DC4-B13F-BBA4BA7ADA80}" type="presParOf" srcId="{D3DE7EE0-39DF-4C25-94A3-A947FF02476B}" destId="{63D8795A-B863-4122-AABF-66B0DD1B0D76}" srcOrd="1" destOrd="0" presId="urn:microsoft.com/office/officeart/2005/8/layout/hProcess11"/>
    <dgm:cxn modelId="{FC23D971-F36A-40F6-A5A9-96ACB5299D05}" type="presParOf" srcId="{63D8795A-B863-4122-AABF-66B0DD1B0D76}" destId="{0FC5684A-5CFF-4B82-9E10-D926899903E6}" srcOrd="0" destOrd="0" presId="urn:microsoft.com/office/officeart/2005/8/layout/hProcess11"/>
    <dgm:cxn modelId="{7EB2D6F5-D789-465C-A559-85FDEB997B87}" type="presParOf" srcId="{0FC5684A-5CFF-4B82-9E10-D926899903E6}" destId="{B7A53145-058A-4FE1-8FFC-77E59204FC04}" srcOrd="0" destOrd="0" presId="urn:microsoft.com/office/officeart/2005/8/layout/hProcess11"/>
    <dgm:cxn modelId="{500483DA-108D-4C6B-887F-F244AB9F7C19}" type="presParOf" srcId="{0FC5684A-5CFF-4B82-9E10-D926899903E6}" destId="{C9CA2A09-38E8-4474-A1AE-4C5848C4C41A}" srcOrd="1" destOrd="0" presId="urn:microsoft.com/office/officeart/2005/8/layout/hProcess11"/>
    <dgm:cxn modelId="{68CC260D-93D2-4CE6-8407-56102C88C631}" type="presParOf" srcId="{0FC5684A-5CFF-4B82-9E10-D926899903E6}" destId="{A73ACBB7-E2E8-4252-816E-C476ABF575ED}" srcOrd="2" destOrd="0" presId="urn:microsoft.com/office/officeart/2005/8/layout/hProcess11"/>
    <dgm:cxn modelId="{B57B5548-F1C3-47F2-9938-77CFE1A264A5}" type="presParOf" srcId="{63D8795A-B863-4122-AABF-66B0DD1B0D76}" destId="{82A5C881-60C7-4742-B985-2D7849C3F1A7}" srcOrd="1" destOrd="0" presId="urn:microsoft.com/office/officeart/2005/8/layout/hProcess11"/>
    <dgm:cxn modelId="{F2B47940-0685-42A1-B59D-E11221A29283}" type="presParOf" srcId="{63D8795A-B863-4122-AABF-66B0DD1B0D76}" destId="{78310449-8E60-48E9-A061-4D5BE577338A}" srcOrd="2" destOrd="0" presId="urn:microsoft.com/office/officeart/2005/8/layout/hProcess11"/>
    <dgm:cxn modelId="{F2D0E716-33E5-48B9-9050-D8290FAA0451}" type="presParOf" srcId="{78310449-8E60-48E9-A061-4D5BE577338A}" destId="{C703082B-F430-44CF-B2CC-97390DF183BC}" srcOrd="0" destOrd="0" presId="urn:microsoft.com/office/officeart/2005/8/layout/hProcess11"/>
    <dgm:cxn modelId="{8B6F8B8C-6ED9-4851-85C3-FDC103943620}" type="presParOf" srcId="{78310449-8E60-48E9-A061-4D5BE577338A}" destId="{3E614D2A-1DB2-48B7-B3E5-8CD44301405D}" srcOrd="1" destOrd="0" presId="urn:microsoft.com/office/officeart/2005/8/layout/hProcess11"/>
    <dgm:cxn modelId="{3DEEF36B-894C-41DD-8EE8-3E6392404E91}" type="presParOf" srcId="{78310449-8E60-48E9-A061-4D5BE577338A}" destId="{32501ADC-6972-4FA7-9695-20259ACD5869}" srcOrd="2" destOrd="0" presId="urn:microsoft.com/office/officeart/2005/8/layout/hProcess11"/>
    <dgm:cxn modelId="{1F7B0117-F88F-4E05-8369-D435F36546EE}" type="presParOf" srcId="{63D8795A-B863-4122-AABF-66B0DD1B0D76}" destId="{55BA415D-6079-4B86-9A23-BA6EC83BE1E7}" srcOrd="3" destOrd="0" presId="urn:microsoft.com/office/officeart/2005/8/layout/hProcess11"/>
    <dgm:cxn modelId="{F76555FA-2B38-44FB-B4A2-D0A5A100590D}" type="presParOf" srcId="{63D8795A-B863-4122-AABF-66B0DD1B0D76}" destId="{D70BEFA3-A635-4639-8AF4-C2E606427CA8}" srcOrd="4" destOrd="0" presId="urn:microsoft.com/office/officeart/2005/8/layout/hProcess11"/>
    <dgm:cxn modelId="{D97DF51D-B1E7-4E0C-BC37-DEA3755707A8}" type="presParOf" srcId="{D70BEFA3-A635-4639-8AF4-C2E606427CA8}" destId="{075AE257-1876-4D7F-BB68-4C7EAA3E9F2A}" srcOrd="0" destOrd="0" presId="urn:microsoft.com/office/officeart/2005/8/layout/hProcess11"/>
    <dgm:cxn modelId="{C929736E-CFA7-4B87-8C53-629B70AD6759}" type="presParOf" srcId="{D70BEFA3-A635-4639-8AF4-C2E606427CA8}" destId="{7AB275C4-444D-470D-8DF7-D6041FE34E97}" srcOrd="1" destOrd="0" presId="urn:microsoft.com/office/officeart/2005/8/layout/hProcess11"/>
    <dgm:cxn modelId="{B48A9F89-6D42-47AA-BA46-45E36A662090}" type="presParOf" srcId="{D70BEFA3-A635-4639-8AF4-C2E606427CA8}" destId="{F52D9109-311C-49A7-9F00-07B573C57503}" srcOrd="2" destOrd="0" presId="urn:microsoft.com/office/officeart/2005/8/layout/hProcess11"/>
    <dgm:cxn modelId="{D29184EF-7CF1-43CC-9C3E-B46B70F9BAF9}" type="presParOf" srcId="{63D8795A-B863-4122-AABF-66B0DD1B0D76}" destId="{206C189F-4AC9-47EB-B561-6552D5A7E48E}" srcOrd="5" destOrd="0" presId="urn:microsoft.com/office/officeart/2005/8/layout/hProcess11"/>
    <dgm:cxn modelId="{D3058BF6-3278-4C51-AA82-EA31BADA57AD}" type="presParOf" srcId="{63D8795A-B863-4122-AABF-66B0DD1B0D76}" destId="{DB569806-2F1F-49D2-8F7D-A40B2774C9B9}" srcOrd="6" destOrd="0" presId="urn:microsoft.com/office/officeart/2005/8/layout/hProcess11"/>
    <dgm:cxn modelId="{07C662BD-5AFE-4476-8D41-E4F8F6979A11}" type="presParOf" srcId="{DB569806-2F1F-49D2-8F7D-A40B2774C9B9}" destId="{532B8340-FE19-4B39-86FA-7D4408B2FFE7}" srcOrd="0" destOrd="0" presId="urn:microsoft.com/office/officeart/2005/8/layout/hProcess11"/>
    <dgm:cxn modelId="{B0348948-E739-48F7-AA27-3323363F039C}" type="presParOf" srcId="{DB569806-2F1F-49D2-8F7D-A40B2774C9B9}" destId="{D2FABFA0-6D03-49AF-8A3E-D7760882966B}" srcOrd="1" destOrd="0" presId="urn:microsoft.com/office/officeart/2005/8/layout/hProcess11"/>
    <dgm:cxn modelId="{95E355B3-C719-4D03-8293-8541BBCAE22B}" type="presParOf" srcId="{DB569806-2F1F-49D2-8F7D-A40B2774C9B9}" destId="{0905C342-E6A2-478B-BCC5-DED2AD0438AC}" srcOrd="2" destOrd="0" presId="urn:microsoft.com/office/officeart/2005/8/layout/hProcess11"/>
    <dgm:cxn modelId="{64160AFC-622B-4506-8ABA-882BBDE08573}" type="presParOf" srcId="{63D8795A-B863-4122-AABF-66B0DD1B0D76}" destId="{5406D2CB-88FE-4D40-B6F8-003AD42CF4E7}" srcOrd="7" destOrd="0" presId="urn:microsoft.com/office/officeart/2005/8/layout/hProcess11"/>
    <dgm:cxn modelId="{003DA52D-8C1C-48AE-858C-2BA3CD87CAEE}" type="presParOf" srcId="{63D8795A-B863-4122-AABF-66B0DD1B0D76}" destId="{8F2C4F97-CCA4-4540-BDBF-49D0794423AE}" srcOrd="8" destOrd="0" presId="urn:microsoft.com/office/officeart/2005/8/layout/hProcess11"/>
    <dgm:cxn modelId="{AABE5A9B-BEFC-4C45-9B78-FC24FE3761A8}" type="presParOf" srcId="{8F2C4F97-CCA4-4540-BDBF-49D0794423AE}" destId="{632497C8-60FD-4522-B288-018D1B791303}" srcOrd="0" destOrd="0" presId="urn:microsoft.com/office/officeart/2005/8/layout/hProcess11"/>
    <dgm:cxn modelId="{651DB3DF-88E8-470F-8907-7AAA10D2B645}" type="presParOf" srcId="{8F2C4F97-CCA4-4540-BDBF-49D0794423AE}" destId="{E023E9D2-F5B6-41AA-8B4B-5D75DD80FDDA}" srcOrd="1" destOrd="0" presId="urn:microsoft.com/office/officeart/2005/8/layout/hProcess11"/>
    <dgm:cxn modelId="{71D18ED1-DDE8-42CE-892F-15B02C73A930}" type="presParOf" srcId="{8F2C4F97-CCA4-4540-BDBF-49D0794423AE}" destId="{BA44A3C8-9370-4963-A29A-2AF64272D309}" srcOrd="2" destOrd="0" presId="urn:microsoft.com/office/officeart/2005/8/layout/hProcess11"/>
    <dgm:cxn modelId="{6A5C594A-986B-49FD-BC96-E4392A0ADF2B}" type="presParOf" srcId="{63D8795A-B863-4122-AABF-66B0DD1B0D76}" destId="{A25C6A8A-5F6C-4CA6-9DDB-ACAEA25C6415}" srcOrd="9" destOrd="0" presId="urn:microsoft.com/office/officeart/2005/8/layout/hProcess11"/>
    <dgm:cxn modelId="{DA0C2BD9-B7E6-4216-BBAC-2AF706ECC090}" type="presParOf" srcId="{63D8795A-B863-4122-AABF-66B0DD1B0D76}" destId="{1757FAF9-95A5-42DA-B396-2E7F1C245630}" srcOrd="10" destOrd="0" presId="urn:microsoft.com/office/officeart/2005/8/layout/hProcess11"/>
    <dgm:cxn modelId="{B6331447-544F-4517-BDD6-8F578349CFFA}" type="presParOf" srcId="{1757FAF9-95A5-42DA-B396-2E7F1C245630}" destId="{1739DDE6-D416-49A7-AA76-F2CE93B9F196}" srcOrd="0" destOrd="0" presId="urn:microsoft.com/office/officeart/2005/8/layout/hProcess11"/>
    <dgm:cxn modelId="{26D190ED-0DE6-4EE8-A4CA-DB34DC950E59}" type="presParOf" srcId="{1757FAF9-95A5-42DA-B396-2E7F1C245630}" destId="{B070A4AB-52EE-427C-93A2-0AFE961E9BC1}" srcOrd="1" destOrd="0" presId="urn:microsoft.com/office/officeart/2005/8/layout/hProcess11"/>
    <dgm:cxn modelId="{72F80B43-BD62-4C04-B39D-91F745138DFC}" type="presParOf" srcId="{1757FAF9-95A5-42DA-B396-2E7F1C245630}" destId="{5B79D084-EE1C-42D7-ABF9-D082000D4CB8}" srcOrd="2" destOrd="0" presId="urn:microsoft.com/office/officeart/2005/8/layout/hProcess11"/>
    <dgm:cxn modelId="{CB2E731B-77E3-4193-9D04-C6359AB03021}" type="presParOf" srcId="{63D8795A-B863-4122-AABF-66B0DD1B0D76}" destId="{B0E67DAA-5232-4235-B4CD-7F38D5E42B99}" srcOrd="11" destOrd="0" presId="urn:microsoft.com/office/officeart/2005/8/layout/hProcess11"/>
    <dgm:cxn modelId="{58C74E89-3B97-4242-A61E-39FCDA54D0E4}" type="presParOf" srcId="{63D8795A-B863-4122-AABF-66B0DD1B0D76}" destId="{A206CE2C-4574-4D44-A3BF-575B9E3F37CA}" srcOrd="12" destOrd="0" presId="urn:microsoft.com/office/officeart/2005/8/layout/hProcess11"/>
    <dgm:cxn modelId="{0069E62B-F7FA-49FA-AFA6-C164F4225AFC}" type="presParOf" srcId="{A206CE2C-4574-4D44-A3BF-575B9E3F37CA}" destId="{842E3807-BC3F-4A31-AACF-2B4EBECEBE00}" srcOrd="0" destOrd="0" presId="urn:microsoft.com/office/officeart/2005/8/layout/hProcess11"/>
    <dgm:cxn modelId="{38B4FAE2-7FAC-4DA1-AE84-33DC5FDB26DD}" type="presParOf" srcId="{A206CE2C-4574-4D44-A3BF-575B9E3F37CA}" destId="{0CD5FA93-5BC7-4A0A-8D0C-F1FC5E868D09}" srcOrd="1" destOrd="0" presId="urn:microsoft.com/office/officeart/2005/8/layout/hProcess11"/>
    <dgm:cxn modelId="{30AA9BA1-BEF7-4363-B641-EF50932A64E3}" type="presParOf" srcId="{A206CE2C-4574-4D44-A3BF-575B9E3F37CA}" destId="{0DD49A15-4DEE-4731-BA02-7B06CC038E1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A3574-DC55-4A8C-AF34-9425D6C13582}">
      <dsp:nvSpPr>
        <dsp:cNvPr id="0" name=""/>
        <dsp:cNvSpPr/>
      </dsp:nvSpPr>
      <dsp:spPr>
        <a:xfrm>
          <a:off x="5505" y="0"/>
          <a:ext cx="11263601" cy="28411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019" tIns="49340" rIns="49340" bIns="4934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This project aims to audit the website's current digital strategy and recommend actionable improvements to strengthen its online impact and conversion potential.</a:t>
          </a:r>
        </a:p>
      </dsp:txBody>
      <dsp:txXfrm>
        <a:off x="1426090" y="0"/>
        <a:ext cx="8422431" cy="28411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52CED7-9BE4-4344-8D98-DDF0EC9D68FB}">
      <dsp:nvSpPr>
        <dsp:cNvPr id="0" name=""/>
        <dsp:cNvSpPr/>
      </dsp:nvSpPr>
      <dsp:spPr>
        <a:xfrm>
          <a:off x="0" y="1346767"/>
          <a:ext cx="11363395" cy="1781556"/>
        </a:xfrm>
        <a:prstGeom prst="notchedRightArrow">
          <a:avLst/>
        </a:prstGeom>
        <a:solidFill>
          <a:schemeClr val="accent1">
            <a:tint val="55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A53145-058A-4FE1-8FFC-77E59204FC04}">
      <dsp:nvSpPr>
        <dsp:cNvPr id="0" name=""/>
        <dsp:cNvSpPr/>
      </dsp:nvSpPr>
      <dsp:spPr>
        <a:xfrm>
          <a:off x="5247" y="21102"/>
          <a:ext cx="1699177" cy="1697146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SEO Optimization-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 </a:t>
          </a:r>
          <a:r>
            <a:rPr lang="en-US" sz="1200" kern="1200" dirty="0"/>
            <a:t>Naturals should try to rectify the mistakes that was pinpointed in audit for SEO ranking since the digital presence is predominant nowadays.</a:t>
          </a:r>
        </a:p>
      </dsp:txBody>
      <dsp:txXfrm>
        <a:off x="5247" y="21102"/>
        <a:ext cx="1699177" cy="1697146"/>
      </dsp:txXfrm>
    </dsp:sp>
    <dsp:sp modelId="{C9CA2A09-38E8-4474-A1AE-4C5848C4C41A}">
      <dsp:nvSpPr>
        <dsp:cNvPr id="0" name=""/>
        <dsp:cNvSpPr/>
      </dsp:nvSpPr>
      <dsp:spPr>
        <a:xfrm>
          <a:off x="632141" y="1983148"/>
          <a:ext cx="445389" cy="445389"/>
        </a:xfrm>
        <a:prstGeom prst="ellips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03082B-F430-44CF-B2CC-97390DF183BC}">
      <dsp:nvSpPr>
        <dsp:cNvPr id="0" name=""/>
        <dsp:cNvSpPr/>
      </dsp:nvSpPr>
      <dsp:spPr>
        <a:xfrm>
          <a:off x="1772023" y="2672334"/>
          <a:ext cx="1351965" cy="1781556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/>
            <a:t>Channel : </a:t>
          </a:r>
          <a:r>
            <a:rPr lang="en-US" sz="1200" b="0" i="0" kern="1200" dirty="0"/>
            <a:t>Start a branded channel with bridal looks, hair care tips, customer stories</a:t>
          </a:r>
          <a:r>
            <a:rPr lang="en-US" sz="1200" kern="1200" dirty="0"/>
            <a:t> </a:t>
          </a:r>
        </a:p>
      </dsp:txBody>
      <dsp:txXfrm>
        <a:off x="1772023" y="2672334"/>
        <a:ext cx="1351965" cy="1781556"/>
      </dsp:txXfrm>
    </dsp:sp>
    <dsp:sp modelId="{3E614D2A-1DB2-48B7-B3E5-8CD44301405D}">
      <dsp:nvSpPr>
        <dsp:cNvPr id="0" name=""/>
        <dsp:cNvSpPr/>
      </dsp:nvSpPr>
      <dsp:spPr>
        <a:xfrm>
          <a:off x="2225311" y="2004250"/>
          <a:ext cx="445389" cy="445389"/>
        </a:xfrm>
        <a:prstGeom prst="ellipse">
          <a:avLst/>
        </a:prstGeom>
        <a:solidFill>
          <a:schemeClr val="accent1">
            <a:shade val="50000"/>
            <a:hueOff val="31349"/>
            <a:satOff val="-1585"/>
            <a:lumOff val="124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5AE257-1876-4D7F-BB68-4C7EAA3E9F2A}">
      <dsp:nvSpPr>
        <dsp:cNvPr id="0" name=""/>
        <dsp:cNvSpPr/>
      </dsp:nvSpPr>
      <dsp:spPr>
        <a:xfrm>
          <a:off x="3191587" y="0"/>
          <a:ext cx="1351965" cy="1781556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Reviews</a:t>
          </a:r>
          <a:r>
            <a:rPr lang="en-US" sz="1400" kern="1200" dirty="0"/>
            <a:t>: Encourage customer reviews with location tags</a:t>
          </a:r>
        </a:p>
      </dsp:txBody>
      <dsp:txXfrm>
        <a:off x="3191587" y="0"/>
        <a:ext cx="1351965" cy="1781556"/>
      </dsp:txXfrm>
    </dsp:sp>
    <dsp:sp modelId="{7AB275C4-444D-470D-8DF7-D6041FE34E97}">
      <dsp:nvSpPr>
        <dsp:cNvPr id="0" name=""/>
        <dsp:cNvSpPr/>
      </dsp:nvSpPr>
      <dsp:spPr>
        <a:xfrm>
          <a:off x="3644875" y="2004250"/>
          <a:ext cx="445389" cy="445389"/>
        </a:xfrm>
        <a:prstGeom prst="ellipse">
          <a:avLst/>
        </a:prstGeom>
        <a:solidFill>
          <a:schemeClr val="accent1">
            <a:shade val="50000"/>
            <a:hueOff val="62698"/>
            <a:satOff val="-3170"/>
            <a:lumOff val="2487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32B8340-FE19-4B39-86FA-7D4408B2FFE7}">
      <dsp:nvSpPr>
        <dsp:cNvPr id="0" name=""/>
        <dsp:cNvSpPr/>
      </dsp:nvSpPr>
      <dsp:spPr>
        <a:xfrm>
          <a:off x="4611150" y="2672334"/>
          <a:ext cx="1351965" cy="1781556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Content Marketing </a:t>
          </a:r>
          <a:r>
            <a:rPr lang="en-US" sz="1200" kern="1200" dirty="0"/>
            <a:t>:Blog post for Content Marketing</a:t>
          </a:r>
        </a:p>
      </dsp:txBody>
      <dsp:txXfrm>
        <a:off x="4611150" y="2672334"/>
        <a:ext cx="1351965" cy="1781556"/>
      </dsp:txXfrm>
    </dsp:sp>
    <dsp:sp modelId="{D2FABFA0-6D03-49AF-8A3E-D7760882966B}">
      <dsp:nvSpPr>
        <dsp:cNvPr id="0" name=""/>
        <dsp:cNvSpPr/>
      </dsp:nvSpPr>
      <dsp:spPr>
        <a:xfrm>
          <a:off x="5064439" y="2004250"/>
          <a:ext cx="445389" cy="445389"/>
        </a:xfrm>
        <a:prstGeom prst="ellipse">
          <a:avLst/>
        </a:prstGeom>
        <a:solidFill>
          <a:schemeClr val="accent1">
            <a:shade val="50000"/>
            <a:hueOff val="94047"/>
            <a:satOff val="-4755"/>
            <a:lumOff val="3730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2497C8-60FD-4522-B288-018D1B791303}">
      <dsp:nvSpPr>
        <dsp:cNvPr id="0" name=""/>
        <dsp:cNvSpPr/>
      </dsp:nvSpPr>
      <dsp:spPr>
        <a:xfrm>
          <a:off x="6030714" y="-88405"/>
          <a:ext cx="1351965" cy="2135177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Churn Retention: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Monitor churn rate and offer loyalty benefits or re-engagement campaigns</a:t>
          </a:r>
          <a:endParaRPr lang="en-US" sz="1200" b="1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6030714" y="-88405"/>
        <a:ext cx="1351965" cy="2135177"/>
      </dsp:txXfrm>
    </dsp:sp>
    <dsp:sp modelId="{E023E9D2-F5B6-41AA-8B4B-5D75DD80FDDA}">
      <dsp:nvSpPr>
        <dsp:cNvPr id="0" name=""/>
        <dsp:cNvSpPr/>
      </dsp:nvSpPr>
      <dsp:spPr>
        <a:xfrm>
          <a:off x="6484002" y="2092656"/>
          <a:ext cx="445389" cy="445389"/>
        </a:xfrm>
        <a:prstGeom prst="ellipse">
          <a:avLst/>
        </a:prstGeom>
        <a:solidFill>
          <a:schemeClr val="accent1">
            <a:shade val="50000"/>
            <a:hueOff val="94047"/>
            <a:satOff val="-4755"/>
            <a:lumOff val="3730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739DDE6-D416-49A7-AA76-F2CE93B9F196}">
      <dsp:nvSpPr>
        <dsp:cNvPr id="0" name=""/>
        <dsp:cNvSpPr/>
      </dsp:nvSpPr>
      <dsp:spPr>
        <a:xfrm>
          <a:off x="7450278" y="2672334"/>
          <a:ext cx="1351965" cy="1781556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FAQ </a:t>
          </a:r>
          <a:r>
            <a:rPr lang="en-US" sz="1200" kern="1200" dirty="0"/>
            <a:t>: FAQs with dropdowns for easy reading</a:t>
          </a:r>
        </a:p>
      </dsp:txBody>
      <dsp:txXfrm>
        <a:off x="7450278" y="2672334"/>
        <a:ext cx="1351965" cy="1781556"/>
      </dsp:txXfrm>
    </dsp:sp>
    <dsp:sp modelId="{B070A4AB-52EE-427C-93A2-0AFE961E9BC1}">
      <dsp:nvSpPr>
        <dsp:cNvPr id="0" name=""/>
        <dsp:cNvSpPr/>
      </dsp:nvSpPr>
      <dsp:spPr>
        <a:xfrm>
          <a:off x="7903566" y="2004250"/>
          <a:ext cx="445389" cy="445389"/>
        </a:xfrm>
        <a:prstGeom prst="ellipse">
          <a:avLst/>
        </a:prstGeom>
        <a:solidFill>
          <a:schemeClr val="accent1">
            <a:shade val="50000"/>
            <a:hueOff val="62698"/>
            <a:satOff val="-3170"/>
            <a:lumOff val="2487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2E3807-BC3F-4A31-AACF-2B4EBECEBE00}">
      <dsp:nvSpPr>
        <dsp:cNvPr id="0" name=""/>
        <dsp:cNvSpPr/>
      </dsp:nvSpPr>
      <dsp:spPr>
        <a:xfrm>
          <a:off x="8869842" y="0"/>
          <a:ext cx="1351965" cy="1781556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Offers : </a:t>
          </a:r>
          <a:r>
            <a:rPr lang="en-US" sz="1200" kern="1200" dirty="0"/>
            <a:t>Limited-Time Online Offers</a:t>
          </a:r>
        </a:p>
      </dsp:txBody>
      <dsp:txXfrm>
        <a:off x="8869842" y="0"/>
        <a:ext cx="1351965" cy="1781556"/>
      </dsp:txXfrm>
    </dsp:sp>
    <dsp:sp modelId="{0CD5FA93-5BC7-4A0A-8D0C-F1FC5E868D09}">
      <dsp:nvSpPr>
        <dsp:cNvPr id="0" name=""/>
        <dsp:cNvSpPr/>
      </dsp:nvSpPr>
      <dsp:spPr>
        <a:xfrm>
          <a:off x="9323130" y="2004250"/>
          <a:ext cx="445389" cy="445389"/>
        </a:xfrm>
        <a:prstGeom prst="ellipse">
          <a:avLst/>
        </a:prstGeom>
        <a:solidFill>
          <a:schemeClr val="accent1">
            <a:shade val="50000"/>
            <a:hueOff val="31349"/>
            <a:satOff val="-1585"/>
            <a:lumOff val="124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61595-59EE-46FE-9AD4-893BD3CF30D8}" type="datetimeFigureOut">
              <a:rPr lang="en-US" smtClean="0"/>
              <a:t>6/3/2025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6E22B-85CA-45C7-86A8-A17C38B96A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007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CF70A2-C0AD-4D28-B3EB-C43D221AD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EE984A-7865-4092-9DD1-FA065CFE1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3B8F172B-7E78-455D-98E3-82DF61843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F50D9895-086D-4E52-B2BB-4B8D7993E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441336E-0F59-4E8E-A2B5-D62EDA718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3457" y="739600"/>
            <a:ext cx="10768226" cy="53909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7B873BD-A26D-4CB5-BED3-D95C908B8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0" y="1066800"/>
            <a:ext cx="5257800" cy="2833528"/>
          </a:xfrm>
        </p:spPr>
        <p:txBody>
          <a:bodyPr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400" spc="120">
                <a:cs typeface="Posterama" panose="020B0504020200020000" pitchFamily="34" charset="0"/>
              </a:rPr>
              <a:t>Click to edit Master title style</a:t>
            </a:r>
            <a:endParaRPr lang="en-US" sz="4400" spc="120" dirty="0">
              <a:cs typeface="Posterama" panose="020B0504020200020000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F5E2EC6-688E-4202-BA23-F29BE1145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3599" y="4074784"/>
            <a:ext cx="5257799" cy="1640216"/>
          </a:xfrm>
        </p:spPr>
        <p:txBody>
          <a:bodyPr anchor="t"/>
          <a:lstStyle>
            <a:lvl1pPr marL="0" indent="0">
              <a:buNone/>
              <a:defRPr/>
            </a:lvl1pPr>
          </a:lstStyle>
          <a:p>
            <a:pPr algn="l"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8709CFE-7328-4CEC-A7C8-D6C8B18D6C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3232" y="740664"/>
            <a:ext cx="4745736" cy="539496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42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A7506A-23D3-4E50-B632-7D75C652F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82A1112-7DAD-487B-84EF-9F2B9F4A6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52E39B3F-C08C-424B-908B-8A3E017C6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80050DD2-3323-4041-91C6-8BFA52F38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FA34E2F-6A4E-4CFF-ACA1-994BA9CED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4276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8B9C0BE-DE84-42B6-9610-684AC81E5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4953000" cy="21305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pc="120">
                <a:cs typeface="Posterama" panose="020B0504020200020000" pitchFamily="34" charset="0"/>
              </a:rPr>
              <a:t>Click to edit Master title style</a:t>
            </a:r>
            <a:endParaRPr lang="en-US" spc="120" dirty="0">
              <a:cs typeface="Posterama" panose="020B0504020200020000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95C06E1-E8B8-4F7A-8EB7-E594AFEE6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3352800"/>
            <a:ext cx="4953000" cy="2514600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340614F-452E-4022-B834-FFDC63466D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4848" y="813816"/>
            <a:ext cx="4617720" cy="25511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C9F0368A-AE83-428C-ABF7-694386AB62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84848" y="3465576"/>
            <a:ext cx="4617720" cy="25511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253A4E8-5A11-4C9C-8FC8-9D78AB5D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7" name="Picture 6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77D633C1-4A46-44EA-B1E7-96EA9C44C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8" name="Picture 7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89667DF8-B73B-497B-95A4-5212EE667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3EA3C8E6-EF45-4F18-A0CB-F0527540D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192"/>
            <a:ext cx="4953000" cy="21305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pc="120">
                <a:cs typeface="Posterama" panose="020B0504020200020000" pitchFamily="34" charset="0"/>
              </a:rPr>
              <a:t>Click to edit Master title style</a:t>
            </a:r>
            <a:endParaRPr lang="en-US" spc="120" dirty="0">
              <a:cs typeface="Posterama" panose="020B0504020200020000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0CA1F7B-7E1E-4745-8E06-38C79906E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4912"/>
            <a:ext cx="4952681" cy="3410712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027CA11-7EE7-4C3B-AF4D-F50756E4EF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86600" y="568324"/>
            <a:ext cx="4727448" cy="5715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26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9FC3DD-D5CF-4D3A-AD62-2D9AD0EA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A543720-E70E-42D7-9835-39FDFE40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77000" y="0"/>
            <a:ext cx="5711952" cy="5071492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7D5BA9D0-B4FD-4CD7-8F18-76506E972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7D2067D9-0848-4BAA-996E-BE1236E04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1B87D7AA-E59B-441F-B5EC-E9828C1ED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3876" y="304801"/>
            <a:ext cx="9601200" cy="2301875"/>
          </a:xfrm>
        </p:spPr>
        <p:txBody>
          <a:bodyPr anchor="b">
            <a:normAutofit/>
          </a:bodyPr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r>
              <a:rPr lang="en-US" sz="4400" spc="120">
                <a:cs typeface="Posterama" panose="020B0504020200020000" pitchFamily="34" charset="0"/>
              </a:rPr>
              <a:t>Click to edit Master title style</a:t>
            </a:r>
            <a:endParaRPr lang="en-US" sz="4400" spc="120" dirty="0">
              <a:cs typeface="Posterama" panose="020B0504020200020000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0806D6C-F8DC-4FFA-9381-5620B7391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976" y="2743201"/>
            <a:ext cx="8763001" cy="9144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pPr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5095252-A020-4AA1-9BB3-013288AE3F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886200"/>
            <a:ext cx="4059936" cy="29718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7FBAD15-0D00-46EC-B530-EF6195F42D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50792" y="3886200"/>
            <a:ext cx="4087368" cy="29718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0F93F034-901D-43B1-89E9-6291A86787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32064" y="3886200"/>
            <a:ext cx="4059936" cy="29718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52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06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62BDFDF-C29B-490D-B7E4-913596711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733B2E6-29D0-4249-A0A5-82013CE16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8" name="Picture 7" descr="A picture containing holding&#10;&#10;Description automatically generated">
              <a:extLst>
                <a:ext uri="{FF2B5EF4-FFF2-40B4-BE49-F238E27FC236}">
                  <a16:creationId xmlns:a16="http://schemas.microsoft.com/office/drawing/2014/main" id="{13AED3CD-2B31-49BC-BC04-850E0AD36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9" name="Picture 8" descr="A picture containing holding, flower&#10;&#10;Description automatically generated">
              <a:extLst>
                <a:ext uri="{FF2B5EF4-FFF2-40B4-BE49-F238E27FC236}">
                  <a16:creationId xmlns:a16="http://schemas.microsoft.com/office/drawing/2014/main" id="{D5FE2C96-BB8F-4A14-88E4-C871D91E2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F2C506E-3A15-4D88-8C7E-AE65D21F1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1228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52D6351-AB6F-490B-97F2-D51C1478A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1223" y="1066800"/>
            <a:ext cx="5367527" cy="2833528"/>
          </a:xfrm>
        </p:spPr>
        <p:txBody>
          <a:bodyPr anchor="b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400" spc="120">
                <a:cs typeface="Posterama" panose="020B0504020200020000" pitchFamily="34" charset="0"/>
              </a:rPr>
              <a:t>Click to edit Master title style</a:t>
            </a:r>
            <a:endParaRPr lang="en-US" sz="4400" spc="120" dirty="0">
              <a:cs typeface="Posterama" panose="020B0504020200020000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F760311-9637-47CC-B0E7-6C8C307C6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1223" y="4074784"/>
            <a:ext cx="5367526" cy="1640216"/>
          </a:xfrm>
        </p:spPr>
        <p:txBody>
          <a:bodyPr anchor="t"/>
          <a:lstStyle>
            <a:lvl1pPr marL="0" indent="0">
              <a:buNone/>
              <a:defRPr/>
            </a:lvl1pPr>
          </a:lstStyle>
          <a:p>
            <a:pPr algn="l"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9734E01-4E64-484E-9728-EF69422CB1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3448" y="1014984"/>
            <a:ext cx="4123944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7CA897AB-A280-4B5A-BEF5-C5D11D6535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13448" y="3511296"/>
            <a:ext cx="4123944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01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541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329184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3291840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361" y="1752600"/>
            <a:ext cx="329184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361" y="2666999"/>
            <a:ext cx="3291840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7999667-FDE9-4EC7-9EF8-E64C5DA4B1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1466" y="1757319"/>
            <a:ext cx="329184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4466FB3-35A6-4045-8C46-5F6399D7B4C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466" y="2671718"/>
            <a:ext cx="3291840" cy="35226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47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E62CE4B-3BFB-4501-B59A-0ED68CF6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F608493-BDCD-43BD-A3CC-24E750276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192"/>
            <a:ext cx="4524956" cy="21305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pc="120">
                <a:cs typeface="Posterama" panose="020B0504020200020000" pitchFamily="34" charset="0"/>
              </a:rPr>
              <a:t>Click to edit Master title style</a:t>
            </a:r>
            <a:endParaRPr lang="en-US" spc="120" dirty="0">
              <a:cs typeface="Posterama" panose="020B0504020200020000" pitchFamily="34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3B9F353-002B-4A4D-A316-70D952EDA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7297"/>
            <a:ext cx="4524664" cy="3412969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890B2B-FFC6-4C7C-A617-67144F1E3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255" y="0"/>
            <a:ext cx="5115697" cy="6858000"/>
          </a:xfrm>
          <a:prstGeom prst="rect">
            <a:avLst/>
          </a:prstGeom>
        </p:spPr>
      </p:pic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CD8768C-8806-4DE0-82CC-275A2EC6D4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79592" y="74066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68CB9DF9-86EB-48CF-B212-F2B290C56F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78824" y="74066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554B2207-3993-41B6-AF63-EBB48DACAB8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79592" y="352958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DE0340D8-BC7E-4431-A7A7-8D634C8A19F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69680" y="3529584"/>
            <a:ext cx="2798762" cy="260604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41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7F5322-A9D1-4D98-A1BC-9178604AB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70C34FA-2551-4FBC-8628-350654823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394623"/>
            <a:ext cx="5996619" cy="2131033"/>
          </a:xfrm>
        </p:spPr>
        <p:txBody>
          <a:bodyPr anchor="ctr">
            <a:normAutofit/>
          </a:bodyPr>
          <a:lstStyle/>
          <a:p>
            <a:pPr algn="l"/>
            <a:r>
              <a:rPr lang="en-US" sz="4400">
                <a:cs typeface="Posterama" panose="020B0504020200020000" pitchFamily="34" charset="0"/>
              </a:rPr>
              <a:t>Click to edit Master title style</a:t>
            </a:r>
            <a:endParaRPr lang="en-US" sz="4400" dirty="0">
              <a:cs typeface="Posterama" panose="020B0504020200020000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58CD79-85EA-4D75-A743-D3DB777D1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8194385" y="20961"/>
            <a:ext cx="3997615" cy="6816079"/>
            <a:chOff x="8059620" y="41922"/>
            <a:chExt cx="3997615" cy="6816077"/>
          </a:xfrm>
        </p:grpSpPr>
        <p:pic>
          <p:nvPicPr>
            <p:cNvPr id="9" name="Picture 8" descr="A picture containing sitting, dark, front, cat&#10;&#10;Description automatically generated">
              <a:extLst>
                <a:ext uri="{FF2B5EF4-FFF2-40B4-BE49-F238E27FC236}">
                  <a16:creationId xmlns:a16="http://schemas.microsoft.com/office/drawing/2014/main" id="{50D423CE-750A-48C7-B236-F510652FED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10" name="Picture 9" descr="A picture containing sitting, dark, front, cat&#10;&#10;Description automatically generated">
              <a:extLst>
                <a:ext uri="{FF2B5EF4-FFF2-40B4-BE49-F238E27FC236}">
                  <a16:creationId xmlns:a16="http://schemas.microsoft.com/office/drawing/2014/main" id="{F198B21E-DBB4-4FAF-85E2-0929E6BFC0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AD9BB445-59C3-4B51-9237-1F7AC9B09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5429" y="381000"/>
            <a:ext cx="3997745" cy="2133600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algn="l"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69566B9-A8AF-4476-A32A-4AEFC46430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3816" y="2670048"/>
            <a:ext cx="5175504" cy="363931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10391AAE-35A8-4BEC-BF35-22153B1436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90488" y="2670048"/>
            <a:ext cx="5175504" cy="363931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65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819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1359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947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212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798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98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08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46" r:id="rId4"/>
    <p:sldLayoutId id="2147483734" r:id="rId5"/>
    <p:sldLayoutId id="2147483752" r:id="rId6"/>
    <p:sldLayoutId id="2147483737" r:id="rId7"/>
    <p:sldLayoutId id="2147483750" r:id="rId8"/>
    <p:sldLayoutId id="2147483745" r:id="rId9"/>
    <p:sldLayoutId id="2147483751" r:id="rId10"/>
    <p:sldLayoutId id="2147483733" r:id="rId11"/>
    <p:sldLayoutId id="2147483744" r:id="rId12"/>
    <p:sldLayoutId id="214748373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https://www.naturals.in/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s/photo/1072486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hyperlink" Target="Audit%20Report.xlsx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woman-getting-a-haircut-3992876/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2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hyperlink" Target="https://senekaravi.wixsite.com/my-site-6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pxhere.com/ko/photo/580317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DDE03-5881-4143-92C0-900FD2200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4939" y="1066800"/>
            <a:ext cx="5476461" cy="3544958"/>
          </a:xfrm>
        </p:spPr>
        <p:txBody>
          <a:bodyPr>
            <a:normAutofit/>
          </a:bodyPr>
          <a:lstStyle/>
          <a:p>
            <a:r>
              <a:rPr lang="en-US" b="1" dirty="0">
                <a:latin typeface="Bahnschrift SemiBold Condensed" panose="020B0502040204020203" pitchFamily="34" charset="0"/>
              </a:rPr>
              <a:t>Comprehensive Audit And Analysis For Effective Digital Presence</a:t>
            </a:r>
            <a:endParaRPr lang="en-US" dirty="0">
              <a:latin typeface="Bahnschrift SemiBold Condensed" panose="020B0502040204020203" pitchFamily="34" charset="0"/>
            </a:endParaRPr>
          </a:p>
        </p:txBody>
      </p:sp>
      <p:pic>
        <p:nvPicPr>
          <p:cNvPr id="6" name="Picture Placeholder 5" descr="A person boxing flowers">
            <a:extLst>
              <a:ext uri="{FF2B5EF4-FFF2-40B4-BE49-F238E27FC236}">
                <a16:creationId xmlns:a16="http://schemas.microsoft.com/office/drawing/2014/main" id="{49C250E6-60C6-4D98-8C94-8D2F836D8F2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3232" y="740664"/>
            <a:ext cx="4745736" cy="5394960"/>
          </a:xfrm>
        </p:spPr>
      </p:pic>
    </p:spTree>
    <p:extLst>
      <p:ext uri="{BB962C8B-B14F-4D97-AF65-F5344CB8AC3E}">
        <p14:creationId xmlns:p14="http://schemas.microsoft.com/office/powerpoint/2010/main" val="73229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BB7C9-365A-47FF-90E1-6016251BB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4953000" cy="2130552"/>
          </a:xfrm>
        </p:spPr>
        <p:txBody>
          <a:bodyPr/>
          <a:lstStyle/>
          <a:p>
            <a:r>
              <a:rPr lang="en-US" sz="3200" b="1" dirty="0"/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DD3DD-072F-4103-B534-27A7CD671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478157"/>
            <a:ext cx="4953000" cy="338924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Problem Statement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Introduction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Website Audit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Digital Marketing strategy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Website creation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000" dirty="0"/>
          </a:p>
          <a:p>
            <a:endParaRPr lang="en-US" dirty="0"/>
          </a:p>
        </p:txBody>
      </p:sp>
      <p:pic>
        <p:nvPicPr>
          <p:cNvPr id="7" name="Picture Placeholder 6" descr="A hand holding a sign">
            <a:extLst>
              <a:ext uri="{FF2B5EF4-FFF2-40B4-BE49-F238E27FC236}">
                <a16:creationId xmlns:a16="http://schemas.microsoft.com/office/drawing/2014/main" id="{FBA8EE09-C66B-4072-B4E9-9DEE8394E20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4848" y="813816"/>
            <a:ext cx="4617720" cy="2551176"/>
          </a:xfrm>
        </p:spPr>
      </p:pic>
      <p:pic>
        <p:nvPicPr>
          <p:cNvPr id="9" name="Picture Placeholder 8" descr="A person smiling for the camera with an apron on">
            <a:extLst>
              <a:ext uri="{FF2B5EF4-FFF2-40B4-BE49-F238E27FC236}">
                <a16:creationId xmlns:a16="http://schemas.microsoft.com/office/drawing/2014/main" id="{0D6D0E59-E139-4D64-A9D8-5CA5C961F9E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4848" y="3465576"/>
            <a:ext cx="4617720" cy="2551176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688BC-7E88-411A-A72F-BA96A981D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0106" y="6416675"/>
            <a:ext cx="27432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158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2E7C-A305-14DD-E172-F05D2670D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a typeface="+mn-ea"/>
                <a:cs typeface="+mn-cs"/>
              </a:rPr>
              <a:t>Problem statement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89AEDB8-7DA2-A9B0-39DA-86813A9DB2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6950207"/>
              </p:ext>
            </p:extLst>
          </p:nvPr>
        </p:nvGraphicFramePr>
        <p:xfrm>
          <a:off x="268941" y="1956118"/>
          <a:ext cx="11274612" cy="2841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DD707-B747-BC5C-A581-D6BAC533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3</a:t>
            </a:fld>
            <a:endParaRPr lang="en-US" dirty="0"/>
          </a:p>
        </p:txBody>
      </p:sp>
      <p:pic>
        <p:nvPicPr>
          <p:cNvPr id="4" name="Graphic 3" descr="Question mark with solid fill">
            <a:extLst>
              <a:ext uri="{FF2B5EF4-FFF2-40B4-BE49-F238E27FC236}">
                <a16:creationId xmlns:a16="http://schemas.microsoft.com/office/drawing/2014/main" id="{F9F3F85A-F582-BF86-9F4B-C991CEE138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57635" y="808383"/>
            <a:ext cx="579337" cy="45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52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71F5DD0-1F4C-45C4-8BEC-33AB4B47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80" y="503583"/>
            <a:ext cx="5072502" cy="980660"/>
          </a:xfrm>
        </p:spPr>
        <p:txBody>
          <a:bodyPr/>
          <a:lstStyle/>
          <a:p>
            <a:r>
              <a:rPr lang="en-US" b="1" dirty="0">
                <a:ea typeface="+mn-ea"/>
                <a:cs typeface="+mn-cs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A5D41-8779-43E7-AC6F-3AFF24624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920" y="1714505"/>
            <a:ext cx="6883010" cy="4214059"/>
          </a:xfrm>
        </p:spPr>
        <p:txBody>
          <a:bodyPr>
            <a:normAutofit/>
          </a:bodyPr>
          <a:lstStyle/>
          <a:p>
            <a:r>
              <a:rPr lang="en-US" sz="2000" b="1" dirty="0"/>
              <a:t>Company Name: </a:t>
            </a:r>
            <a:r>
              <a:rPr lang="en-US" sz="2000" dirty="0"/>
              <a:t>Naturals Salon</a:t>
            </a:r>
          </a:p>
          <a:p>
            <a:r>
              <a:rPr lang="en-US" sz="2000" b="1" dirty="0"/>
              <a:t>Website: </a:t>
            </a:r>
            <a:r>
              <a:rPr lang="en-US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https://www.naturals.in</a:t>
            </a:r>
            <a:endParaRPr lang="en-US" sz="2000" dirty="0"/>
          </a:p>
          <a:p>
            <a:r>
              <a:rPr lang="en-US" sz="2000" b="1" dirty="0"/>
              <a:t>Industry: </a:t>
            </a:r>
            <a:r>
              <a:rPr lang="en-US" sz="2000" dirty="0"/>
              <a:t>Beauty &amp; Personal Care Services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Naturals Salon is a prominent player in India’s beauty and personal care industry, operating over 700 salons across the country.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The brand offer a wide range of beauty services and provides a franchise program that allows individuals to become business owners within the beauty industry.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1BC8-8853-41B4-91F9-DD94F7939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0106" y="6416675"/>
            <a:ext cx="27432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907B36-7756-F925-2D11-62B578F21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930" y="1678062"/>
            <a:ext cx="4762812" cy="3553791"/>
          </a:xfrm>
          <a:prstGeom prst="rect">
            <a:avLst/>
          </a:prstGeom>
        </p:spPr>
      </p:pic>
      <p:pic>
        <p:nvPicPr>
          <p:cNvPr id="6" name="Graphic 5" descr="List with solid fill">
            <a:extLst>
              <a:ext uri="{FF2B5EF4-FFF2-40B4-BE49-F238E27FC236}">
                <a16:creationId xmlns:a16="http://schemas.microsoft.com/office/drawing/2014/main" id="{7A234038-A36A-4D7B-6B99-EC0B75293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920" y="791817"/>
            <a:ext cx="404192" cy="40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68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B3313-3B8D-4C32-85EB-B2B95791D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40" y="410817"/>
            <a:ext cx="11134266" cy="1279871"/>
          </a:xfrm>
        </p:spPr>
        <p:txBody>
          <a:bodyPr/>
          <a:lstStyle/>
          <a:p>
            <a:r>
              <a:rPr lang="en-US" dirty="0"/>
              <a:t>Website Audit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10A77-73FD-4A3B-A8D4-5562D103C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540026"/>
          </a:xfrm>
        </p:spPr>
        <p:txBody>
          <a:bodyPr/>
          <a:lstStyle/>
          <a:p>
            <a:r>
              <a:rPr lang="en-US" b="1" dirty="0"/>
              <a:t>Overview: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092B6D-3B16-4B06-900F-48092EB0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0106" y="6416675"/>
            <a:ext cx="27432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27889B63-8BFE-E608-BF4C-D3BC0CD39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7029356" y="1074625"/>
            <a:ext cx="4777123" cy="3184748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C91F55E-72C3-0C78-8F11-BF24BF00E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8694" y="2354539"/>
            <a:ext cx="6233654" cy="3835124"/>
          </a:xfrm>
        </p:spPr>
        <p:txBody>
          <a:bodyPr>
            <a:normAutofit/>
          </a:bodyPr>
          <a:lstStyle/>
          <a:p>
            <a:r>
              <a:rPr lang="en-US" dirty="0"/>
              <a:t>A detailed digital audit was performed on Naturals to assess its strengths and gaps across core areas of online performance — including SEO, user experience, and competitive positioning.</a:t>
            </a:r>
          </a:p>
          <a:p>
            <a:r>
              <a:rPr lang="en-US" dirty="0"/>
              <a:t>The objective was to uncover actionable insights that can help Naturals improve visibility, drive online engagement, and stay ahead in a digitally evolving beauty industry.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Audit</a:t>
            </a:r>
            <a:r>
              <a:rPr lang="en-US" b="1" u="sng" dirty="0">
                <a:solidFill>
                  <a:schemeClr val="accent5">
                    <a:lumMod val="50000"/>
                  </a:schemeClr>
                </a:solidFill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report</a:t>
            </a:r>
            <a:endParaRPr lang="en-US" b="1" u="sng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" name="Graphic 4" descr="Internet with solid fill">
            <a:extLst>
              <a:ext uri="{FF2B5EF4-FFF2-40B4-BE49-F238E27FC236}">
                <a16:creationId xmlns:a16="http://schemas.microsoft.com/office/drawing/2014/main" id="{B89179FB-B45B-0CA2-4B25-5A513A26F8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775105"/>
            <a:ext cx="599040" cy="59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610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6424-35BF-4DF1-BD71-2A332E958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51792" y="225289"/>
            <a:ext cx="8401879" cy="1285460"/>
          </a:xfrm>
        </p:spPr>
        <p:txBody>
          <a:bodyPr/>
          <a:lstStyle/>
          <a:p>
            <a:r>
              <a:rPr lang="en-US" dirty="0"/>
              <a:t>Digital Marketing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17540A-297E-4B3C-90A4-CC9A4413C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087" y="2027583"/>
            <a:ext cx="6122504" cy="2504660"/>
          </a:xfrm>
        </p:spPr>
        <p:txBody>
          <a:bodyPr>
            <a:normAutofit fontScale="700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The digital marketing strategy is to transition Naturals Salon from primarily traditional marketing methods to digital-first approaches.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 This shift will help enhance online presence, increase customer engagement, and generate measurable leads and bookings through targeted digital channels.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FB0D48-3B29-7DC1-98B0-DF70BCB65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727" r="7727"/>
          <a:stretch/>
        </p:blipFill>
        <p:spPr>
          <a:xfrm>
            <a:off x="7848232" y="1140468"/>
            <a:ext cx="4065114" cy="3205465"/>
          </a:xfrm>
          <a:prstGeom prst="rect">
            <a:avLst/>
          </a:prstGeom>
        </p:spPr>
      </p:pic>
      <p:pic>
        <p:nvPicPr>
          <p:cNvPr id="5" name="Graphic 4" descr="Marketing with solid fill">
            <a:extLst>
              <a:ext uri="{FF2B5EF4-FFF2-40B4-BE49-F238E27FC236}">
                <a16:creationId xmlns:a16="http://schemas.microsoft.com/office/drawing/2014/main" id="{541035D0-BD00-5E47-59FC-F556AB9521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765" y="826118"/>
            <a:ext cx="702725" cy="62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36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207C6-0899-4D6B-8522-FDD63855E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625" y="427037"/>
            <a:ext cx="10866255" cy="1325563"/>
          </a:xfrm>
        </p:spPr>
        <p:txBody>
          <a:bodyPr>
            <a:normAutofit/>
          </a:bodyPr>
          <a:lstStyle/>
          <a:p>
            <a:r>
              <a:rPr lang="en-US" b="1" dirty="0"/>
              <a:t>Traditional vs. Digital marketing goals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0C4185F-E901-C5AF-E7A2-3FA700CC8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57875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j-lt"/>
                <a:ea typeface="+mj-ea"/>
                <a:cs typeface="+mj-cs"/>
              </a:rPr>
              <a:t>Digital marketing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C43D7AC-8AB9-26EC-CC73-1C78B8671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76815"/>
            <a:ext cx="5561106" cy="3812847"/>
          </a:xfrm>
        </p:spPr>
        <p:txBody>
          <a:bodyPr/>
          <a:lstStyle/>
          <a:p>
            <a:r>
              <a:rPr lang="en-US" sz="1800" dirty="0">
                <a:latin typeface="+mj-lt"/>
                <a:ea typeface="+mj-ea"/>
                <a:cs typeface="+mj-cs"/>
              </a:rPr>
              <a:t>Drive online engagement, bookings, and brand discovery</a:t>
            </a:r>
          </a:p>
          <a:p>
            <a:r>
              <a:rPr lang="en-US" sz="1800" dirty="0">
                <a:latin typeface="+mj-lt"/>
                <a:ea typeface="+mj-ea"/>
                <a:cs typeface="+mj-cs"/>
              </a:rPr>
              <a:t>Cost-effective (CPC, retargeting, flexible budgeting)</a:t>
            </a:r>
          </a:p>
          <a:p>
            <a:r>
              <a:rPr lang="en-US" sz="1800" dirty="0">
                <a:latin typeface="+mj-lt"/>
                <a:ea typeface="+mj-ea"/>
                <a:cs typeface="+mj-cs"/>
              </a:rPr>
              <a:t>Two-way engagement (comments, DMs, reviews, shares)</a:t>
            </a:r>
          </a:p>
          <a:p>
            <a:r>
              <a:rPr lang="en-US" sz="1800" dirty="0">
                <a:latin typeface="+mj-lt"/>
                <a:ea typeface="+mj-ea"/>
                <a:cs typeface="+mj-cs"/>
              </a:rPr>
              <a:t>Full funnel tracking (impressions to conversions)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7FCDC-3D84-40C2-9992-32E41951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4F67897-1DE3-766C-695F-3AFAA607E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734" y="1616074"/>
            <a:ext cx="5532319" cy="687386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+mj-lt"/>
                <a:ea typeface="+mj-ea"/>
                <a:cs typeface="+mj-cs"/>
              </a:rPr>
              <a:t>Traditional marketing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877F3E2-3B52-60EF-1912-C67918F81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376815"/>
            <a:ext cx="5532319" cy="3812847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+mj-lt"/>
                <a:ea typeface="+mj-ea"/>
                <a:cs typeface="+mj-cs"/>
              </a:rPr>
              <a:t>Build local awareness through physical visibility</a:t>
            </a:r>
          </a:p>
          <a:p>
            <a:r>
              <a:rPr lang="en-US" sz="1800" dirty="0">
                <a:latin typeface="+mj-lt"/>
                <a:ea typeface="+mj-ea"/>
                <a:cs typeface="+mj-cs"/>
              </a:rPr>
              <a:t>High cost per campaign (printing, distribution)</a:t>
            </a:r>
          </a:p>
          <a:p>
            <a:r>
              <a:rPr lang="en-US" sz="1800" dirty="0">
                <a:latin typeface="+mj-lt"/>
                <a:ea typeface="+mj-ea"/>
                <a:cs typeface="+mj-cs"/>
              </a:rPr>
              <a:t>One-way communication (ads, posters)</a:t>
            </a:r>
          </a:p>
          <a:p>
            <a:r>
              <a:rPr lang="en-US" sz="1800" dirty="0">
                <a:latin typeface="+mj-lt"/>
                <a:ea typeface="+mj-ea"/>
                <a:cs typeface="+mj-cs"/>
              </a:rPr>
              <a:t>No visibility into touchpoints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A90C40-3406-9C25-94EC-6CA37B15E3FD}"/>
              </a:ext>
            </a:extLst>
          </p:cNvPr>
          <p:cNvSpPr txBox="1"/>
          <p:nvPr/>
        </p:nvSpPr>
        <p:spPr>
          <a:xfrm>
            <a:off x="435734" y="4969064"/>
            <a:ext cx="111171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  <a:ea typeface="+mj-ea"/>
                <a:cs typeface="+mj-cs"/>
              </a:rPr>
              <a:t>While traditional marketing builds local visibility, digital marketing offers cost-effective, measurable, and scalable strategies. Adopting digital channels helps Naturals reach a broader and more targeted audience beyond physical boundaries.</a:t>
            </a:r>
          </a:p>
        </p:txBody>
      </p:sp>
      <p:pic>
        <p:nvPicPr>
          <p:cNvPr id="15" name="Graphic 14" descr="Questions with solid fill">
            <a:extLst>
              <a:ext uri="{FF2B5EF4-FFF2-40B4-BE49-F238E27FC236}">
                <a16:creationId xmlns:a16="http://schemas.microsoft.com/office/drawing/2014/main" id="{4604151D-FC29-C93E-807C-C80F3F002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59" y="724337"/>
            <a:ext cx="717550" cy="71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563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D5D2-DF17-48BE-9B8D-D30FA1D9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87" y="365760"/>
            <a:ext cx="10518913" cy="1325563"/>
          </a:xfrm>
        </p:spPr>
        <p:txBody>
          <a:bodyPr>
            <a:normAutofit/>
          </a:bodyPr>
          <a:lstStyle/>
          <a:p>
            <a:r>
              <a:rPr lang="en-US" sz="3600" dirty="0"/>
              <a:t> </a:t>
            </a:r>
            <a:r>
              <a:rPr lang="en-US" sz="3600" b="1" dirty="0"/>
              <a:t>Recommendations</a:t>
            </a:r>
            <a:r>
              <a:rPr lang="en-US" sz="3600" dirty="0"/>
              <a:t>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E9EC0-9538-4165-858A-44363065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0106" y="6416675"/>
            <a:ext cx="27432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B909CEE-1DEB-48AF-1453-9116262CC0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6133816"/>
              </p:ext>
            </p:extLst>
          </p:nvPr>
        </p:nvGraphicFramePr>
        <p:xfrm>
          <a:off x="369911" y="1691323"/>
          <a:ext cx="11363395" cy="4453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1" name="Graphic 20" descr="Business Growth with solid fill">
            <a:extLst>
              <a:ext uri="{FF2B5EF4-FFF2-40B4-BE49-F238E27FC236}">
                <a16:creationId xmlns:a16="http://schemas.microsoft.com/office/drawing/2014/main" id="{D28A8A06-D5AC-105E-EC4A-840B2D611F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9911" y="781170"/>
            <a:ext cx="606769" cy="60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29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B4790-9373-45EB-B7D9-55C91980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74" y="914400"/>
            <a:ext cx="6157652" cy="1099930"/>
          </a:xfrm>
        </p:spPr>
        <p:txBody>
          <a:bodyPr/>
          <a:lstStyle/>
          <a:p>
            <a:r>
              <a:rPr lang="en-US" dirty="0"/>
              <a:t>Website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0CE80-526E-48B1-B2DA-C85E67C0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4" y="2199861"/>
            <a:ext cx="6370152" cy="3922643"/>
          </a:xfrm>
        </p:spPr>
        <p:txBody>
          <a:bodyPr anchor="t" anchorCtr="0">
            <a:noAutofit/>
          </a:bodyPr>
          <a:lstStyle/>
          <a:p>
            <a:r>
              <a:rPr lang="en-US" dirty="0"/>
              <a:t>The website has been created via Wix using the skills and knowledge I’ve gained so far. </a:t>
            </a:r>
          </a:p>
          <a:p>
            <a:r>
              <a:rPr lang="en-US" dirty="0"/>
              <a:t> While it is a learner-level site, it demonstrates practical application of web development tools and aligns with the digital strategy recommendations outlined in the audit.</a:t>
            </a:r>
          </a:p>
          <a:p>
            <a:r>
              <a:rPr lang="en-US" dirty="0"/>
              <a:t>It reflects my understanding of key web elements such as layout, navigation, and content placement. </a:t>
            </a:r>
          </a:p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 link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87F6-DDB9-4203-B293-91A0DBC6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0106" y="6416675"/>
            <a:ext cx="27432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982B22B-D7E7-1731-16AB-E5C31DAD2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7014377" y="1574800"/>
            <a:ext cx="496098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47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381D8-DFFF-4518-A87C-2FF7F02CC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394623"/>
            <a:ext cx="5996619" cy="213103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6" descr="A person boxing flowers">
            <a:extLst>
              <a:ext uri="{FF2B5EF4-FFF2-40B4-BE49-F238E27FC236}">
                <a16:creationId xmlns:a16="http://schemas.microsoft.com/office/drawing/2014/main" id="{5BF31D2B-C056-4DF4-B56D-B79671C937B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3816" y="2670048"/>
            <a:ext cx="5175504" cy="3639312"/>
          </a:xfrm>
        </p:spPr>
      </p:pic>
      <p:pic>
        <p:nvPicPr>
          <p:cNvPr id="9" name="Picture Placeholder 8" descr="A basket of flowers">
            <a:extLst>
              <a:ext uri="{FF2B5EF4-FFF2-40B4-BE49-F238E27FC236}">
                <a16:creationId xmlns:a16="http://schemas.microsoft.com/office/drawing/2014/main" id="{18FA2AC7-49CD-49AE-8CF7-9D33C8C4E73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0488" y="2670048"/>
            <a:ext cx="5175504" cy="3639312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F0E49-62B5-488C-B988-BDE7F7F3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0106" y="6416675"/>
            <a:ext cx="27432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536130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_win32_JB_SL_v2.potx" id="{ADBA094C-A0EC-4C0A-B446-BFAC587CD452}" vid="{5D925AC9-0F62-4DD1-AF7D-A39A21A96B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1377AF-B80E-4F93-8088-50DE225F34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8EF3A0-5A01-4576-8764-452FD3A2CB7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841D0F8-A96E-436B-B6A7-2AFF6F30F9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Dappled design</Template>
  <TotalTime>1325</TotalTime>
  <Words>499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Avenir Next LT Pro</vt:lpstr>
      <vt:lpstr>AvenirNext LT Pro Medium</vt:lpstr>
      <vt:lpstr>Bahnschrift SemiBold Condensed</vt:lpstr>
      <vt:lpstr>Calibri</vt:lpstr>
      <vt:lpstr>Sabon Next LT</vt:lpstr>
      <vt:lpstr>Wingdings</vt:lpstr>
      <vt:lpstr>DappledVTI</vt:lpstr>
      <vt:lpstr>Comprehensive Audit And Analysis For Effective Digital Presence</vt:lpstr>
      <vt:lpstr>Table of Content</vt:lpstr>
      <vt:lpstr>Problem statement</vt:lpstr>
      <vt:lpstr>Introduction</vt:lpstr>
      <vt:lpstr>Website Audit Report</vt:lpstr>
      <vt:lpstr>Digital Marketing Strategy</vt:lpstr>
      <vt:lpstr>Traditional vs. Digital marketing goals</vt:lpstr>
      <vt:lpstr> Recommendations:</vt:lpstr>
      <vt:lpstr>Website Development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Comprehensive Audit And Analysis For Effective Digital Presence</dc:title>
  <dc:creator>Seneka Ravi</dc:creator>
  <cp:lastModifiedBy>Seneka Ravi</cp:lastModifiedBy>
  <cp:revision>10</cp:revision>
  <dcterms:created xsi:type="dcterms:W3CDTF">2025-05-23T15:29:17Z</dcterms:created>
  <dcterms:modified xsi:type="dcterms:W3CDTF">2025-06-03T04:38:08Z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